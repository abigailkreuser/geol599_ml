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446" r:id="rId3"/>
    <p:sldId id="431" r:id="rId4"/>
    <p:sldId id="433" r:id="rId5"/>
    <p:sldId id="445" r:id="rId6"/>
    <p:sldId id="452" r:id="rId7"/>
    <p:sldId id="453" r:id="rId8"/>
    <p:sldId id="449" r:id="rId9"/>
    <p:sldId id="466" r:id="rId10"/>
    <p:sldId id="467" r:id="rId11"/>
    <p:sldId id="468" r:id="rId12"/>
    <p:sldId id="437" r:id="rId13"/>
    <p:sldId id="461" r:id="rId14"/>
    <p:sldId id="462" r:id="rId15"/>
    <p:sldId id="463" r:id="rId16"/>
    <p:sldId id="464" r:id="rId17"/>
    <p:sldId id="465" r:id="rId18"/>
    <p:sldId id="486" r:id="rId19"/>
    <p:sldId id="438" r:id="rId20"/>
    <p:sldId id="439" r:id="rId21"/>
    <p:sldId id="471" r:id="rId22"/>
    <p:sldId id="472" r:id="rId23"/>
    <p:sldId id="473" r:id="rId24"/>
    <p:sldId id="441" r:id="rId25"/>
    <p:sldId id="451" r:id="rId26"/>
    <p:sldId id="456" r:id="rId27"/>
    <p:sldId id="457" r:id="rId28"/>
    <p:sldId id="458" r:id="rId29"/>
    <p:sldId id="459" r:id="rId30"/>
    <p:sldId id="460" r:id="rId31"/>
    <p:sldId id="487" r:id="rId32"/>
    <p:sldId id="474" r:id="rId33"/>
    <p:sldId id="475" r:id="rId34"/>
    <p:sldId id="476" r:id="rId35"/>
    <p:sldId id="477" r:id="rId36"/>
    <p:sldId id="479" r:id="rId37"/>
    <p:sldId id="480" r:id="rId38"/>
    <p:sldId id="442" r:id="rId39"/>
    <p:sldId id="469" r:id="rId40"/>
    <p:sldId id="47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300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16"/>
    <p:restoredTop sz="89481"/>
  </p:normalViewPr>
  <p:slideViewPr>
    <p:cSldViewPr snapToGrid="0">
      <p:cViewPr varScale="1">
        <p:scale>
          <a:sx n="103" d="100"/>
          <a:sy n="103" d="100"/>
        </p:scale>
        <p:origin x="15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A49FDC-47A8-F54E-9812-4874F92A1A9F}" type="datetimeFigureOut">
              <a:rPr lang="en-US" smtClean="0"/>
              <a:t>9/28/26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FF3C1A-D9C4-F241-9E29-49D7A16F9780}" type="slidenum">
              <a:rPr lang="en-US" smtClean="0"/>
              <a:t>‹#›</a:t>
            </a:fld>
            <a:endParaRPr lang="en-US"/>
          </a:p>
        </p:txBody>
      </p:sp>
    </p:spTree>
    <p:extLst>
      <p:ext uri="{BB962C8B-B14F-4D97-AF65-F5344CB8AC3E}">
        <p14:creationId xmlns:p14="http://schemas.microsoft.com/office/powerpoint/2010/main" val="259033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a:t>
            </a:fld>
            <a:endParaRPr lang="en-US"/>
          </a:p>
        </p:txBody>
      </p:sp>
    </p:spTree>
    <p:extLst>
      <p:ext uri="{BB962C8B-B14F-4D97-AF65-F5344CB8AC3E}">
        <p14:creationId xmlns:p14="http://schemas.microsoft.com/office/powerpoint/2010/main" val="565088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2</a:t>
            </a:fld>
            <a:endParaRPr lang="en-US"/>
          </a:p>
        </p:txBody>
      </p:sp>
    </p:spTree>
    <p:extLst>
      <p:ext uri="{BB962C8B-B14F-4D97-AF65-F5344CB8AC3E}">
        <p14:creationId xmlns:p14="http://schemas.microsoft.com/office/powerpoint/2010/main" val="1336592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3</a:t>
            </a:fld>
            <a:endParaRPr lang="en-US"/>
          </a:p>
        </p:txBody>
      </p:sp>
    </p:spTree>
    <p:extLst>
      <p:ext uri="{BB962C8B-B14F-4D97-AF65-F5344CB8AC3E}">
        <p14:creationId xmlns:p14="http://schemas.microsoft.com/office/powerpoint/2010/main" val="2466252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4</a:t>
            </a:fld>
            <a:endParaRPr lang="en-US"/>
          </a:p>
        </p:txBody>
      </p:sp>
    </p:spTree>
    <p:extLst>
      <p:ext uri="{BB962C8B-B14F-4D97-AF65-F5344CB8AC3E}">
        <p14:creationId xmlns:p14="http://schemas.microsoft.com/office/powerpoint/2010/main" val="1504232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9</a:t>
            </a:fld>
            <a:endParaRPr lang="en-US"/>
          </a:p>
        </p:txBody>
      </p:sp>
    </p:spTree>
    <p:extLst>
      <p:ext uri="{BB962C8B-B14F-4D97-AF65-F5344CB8AC3E}">
        <p14:creationId xmlns:p14="http://schemas.microsoft.com/office/powerpoint/2010/main" val="3390857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12</a:t>
            </a:fld>
            <a:endParaRPr lang="en-US"/>
          </a:p>
        </p:txBody>
      </p:sp>
    </p:spTree>
    <p:extLst>
      <p:ext uri="{BB962C8B-B14F-4D97-AF65-F5344CB8AC3E}">
        <p14:creationId xmlns:p14="http://schemas.microsoft.com/office/powerpoint/2010/main" val="858329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16</a:t>
            </a:fld>
            <a:endParaRPr lang="en-US"/>
          </a:p>
        </p:txBody>
      </p:sp>
    </p:spTree>
    <p:extLst>
      <p:ext uri="{BB962C8B-B14F-4D97-AF65-F5344CB8AC3E}">
        <p14:creationId xmlns:p14="http://schemas.microsoft.com/office/powerpoint/2010/main" val="4078248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19</a:t>
            </a:fld>
            <a:endParaRPr lang="en-US"/>
          </a:p>
        </p:txBody>
      </p:sp>
    </p:spTree>
    <p:extLst>
      <p:ext uri="{BB962C8B-B14F-4D97-AF65-F5344CB8AC3E}">
        <p14:creationId xmlns:p14="http://schemas.microsoft.com/office/powerpoint/2010/main" val="3649206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p:txBody>
      </p:sp>
      <p:sp>
        <p:nvSpPr>
          <p:cNvPr id="4" name="Slide Number Placeholder 3"/>
          <p:cNvSpPr>
            <a:spLocks noGrp="1"/>
          </p:cNvSpPr>
          <p:nvPr>
            <p:ph type="sldNum" sz="quarter" idx="5"/>
          </p:nvPr>
        </p:nvSpPr>
        <p:spPr/>
        <p:txBody>
          <a:bodyPr/>
          <a:lstStyle/>
          <a:p>
            <a:fld id="{FBFF3C1A-D9C4-F241-9E29-49D7A16F9780}" type="slidenum">
              <a:rPr lang="en-US" smtClean="0"/>
              <a:t>37</a:t>
            </a:fld>
            <a:endParaRPr lang="en-US"/>
          </a:p>
        </p:txBody>
      </p:sp>
    </p:spTree>
    <p:extLst>
      <p:ext uri="{BB962C8B-B14F-4D97-AF65-F5344CB8AC3E}">
        <p14:creationId xmlns:p14="http://schemas.microsoft.com/office/powerpoint/2010/main" val="1010428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8B01AE6-E8E1-85B2-DE89-19A7E3AB6DE1}"/>
              </a:ext>
            </a:extLst>
          </p:cNvPr>
          <p:cNvSpPr>
            <a:spLocks noGrp="1"/>
          </p:cNvSpPr>
          <p:nvPr>
            <p:ph type="subTitle" idx="1" hasCustomPrompt="1"/>
          </p:nvPr>
        </p:nvSpPr>
        <p:spPr>
          <a:xfrm>
            <a:off x="1524000" y="2252209"/>
            <a:ext cx="9144000" cy="588963"/>
          </a:xfrm>
        </p:spPr>
        <p:txBody>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Lecture</a:t>
            </a:r>
          </a:p>
          <a:p>
            <a:r>
              <a:rPr lang="en-US" dirty="0"/>
              <a:t> </a:t>
            </a:r>
          </a:p>
        </p:txBody>
      </p:sp>
      <p:sp>
        <p:nvSpPr>
          <p:cNvPr id="8" name="Footer Placeholder 7">
            <a:extLst>
              <a:ext uri="{FF2B5EF4-FFF2-40B4-BE49-F238E27FC236}">
                <a16:creationId xmlns:a16="http://schemas.microsoft.com/office/drawing/2014/main" id="{FEA3DDF7-4F23-7FC1-A6F1-B9ACB64996C4}"/>
              </a:ext>
            </a:extLst>
          </p:cNvPr>
          <p:cNvSpPr>
            <a:spLocks noGrp="1"/>
          </p:cNvSpPr>
          <p:nvPr>
            <p:ph type="ftr" sz="quarter" idx="11"/>
          </p:nvPr>
        </p:nvSpPr>
        <p:spPr/>
        <p:txBody>
          <a:bodyPr/>
          <a:lstStyle>
            <a:lvl1pPr>
              <a:defRPr>
                <a:solidFill>
                  <a:schemeClr val="tx1"/>
                </a:solidFill>
              </a:defRPr>
            </a:lvl1pPr>
          </a:lstStyle>
          <a:p>
            <a:r>
              <a:rPr lang="en-US" dirty="0">
                <a:solidFill>
                  <a:schemeClr val="tx1"/>
                </a:solidFill>
              </a:rPr>
              <a:t>GEOL 599</a:t>
            </a:r>
          </a:p>
        </p:txBody>
      </p:sp>
      <p:sp>
        <p:nvSpPr>
          <p:cNvPr id="9" name="Slide Number Placeholder 8">
            <a:extLst>
              <a:ext uri="{FF2B5EF4-FFF2-40B4-BE49-F238E27FC236}">
                <a16:creationId xmlns:a16="http://schemas.microsoft.com/office/drawing/2014/main" id="{0C1EBF45-1E3C-5639-6B06-6CF54D95E03F}"/>
              </a:ext>
            </a:extLst>
          </p:cNvPr>
          <p:cNvSpPr>
            <a:spLocks noGrp="1"/>
          </p:cNvSpPr>
          <p:nvPr>
            <p:ph type="sldNum" sz="quarter" idx="12"/>
          </p:nvPr>
        </p:nvSpPr>
        <p:spPr/>
        <p:txBody>
          <a:bodyPr/>
          <a:lstStyle>
            <a:lvl1pPr>
              <a:defRPr>
                <a:solidFill>
                  <a:schemeClr val="tx1"/>
                </a:solidFill>
              </a:defRPr>
            </a:lvl1pPr>
          </a:lstStyle>
          <a:p>
            <a:fld id="{10A4AB6E-1AC4-C44F-A0CC-883A0306AF8B}" type="slidenum">
              <a:rPr lang="en-US" smtClean="0"/>
              <a:pPr/>
              <a:t>‹#›</a:t>
            </a:fld>
            <a:endParaRPr lang="en-US" dirty="0"/>
          </a:p>
        </p:txBody>
      </p:sp>
      <p:cxnSp>
        <p:nvCxnSpPr>
          <p:cNvPr id="11" name="Straight Connector 10">
            <a:extLst>
              <a:ext uri="{FF2B5EF4-FFF2-40B4-BE49-F238E27FC236}">
                <a16:creationId xmlns:a16="http://schemas.microsoft.com/office/drawing/2014/main" id="{00DB6341-93E9-1E69-609E-73BBFB4BA579}"/>
              </a:ext>
            </a:extLst>
          </p:cNvPr>
          <p:cNvCxnSpPr>
            <a:cxnSpLocks/>
          </p:cNvCxnSpPr>
          <p:nvPr userDrawn="1"/>
        </p:nvCxnSpPr>
        <p:spPr>
          <a:xfrm>
            <a:off x="990600" y="3058886"/>
            <a:ext cx="10156371" cy="0"/>
          </a:xfrm>
          <a:prstGeom prst="line">
            <a:avLst/>
          </a:prstGeom>
          <a:ln>
            <a:solidFill>
              <a:srgbClr val="73000A"/>
            </a:solidFill>
          </a:ln>
        </p:spPr>
        <p:style>
          <a:lnRef idx="2">
            <a:schemeClr val="accent1"/>
          </a:lnRef>
          <a:fillRef idx="0">
            <a:schemeClr val="accent1"/>
          </a:fillRef>
          <a:effectRef idx="1">
            <a:schemeClr val="accent1"/>
          </a:effectRef>
          <a:fontRef idx="minor">
            <a:schemeClr val="tx1"/>
          </a:fontRef>
        </p:style>
      </p:cxnSp>
      <p:sp>
        <p:nvSpPr>
          <p:cNvPr id="12" name="Subtitle 2">
            <a:extLst>
              <a:ext uri="{FF2B5EF4-FFF2-40B4-BE49-F238E27FC236}">
                <a16:creationId xmlns:a16="http://schemas.microsoft.com/office/drawing/2014/main" id="{522C522C-189E-E345-55A5-F92D4350F77D}"/>
              </a:ext>
            </a:extLst>
          </p:cNvPr>
          <p:cNvSpPr txBox="1">
            <a:spLocks/>
          </p:cNvSpPr>
          <p:nvPr userDrawn="1"/>
        </p:nvSpPr>
        <p:spPr>
          <a:xfrm>
            <a:off x="1518557" y="3276601"/>
            <a:ext cx="9144000" cy="286202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solidFill>
                  <a:schemeClr val="tx1"/>
                </a:solidFill>
              </a:rPr>
              <a:t>Today’s Objectives</a:t>
            </a: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2400" dirty="0">
              <a:solidFill>
                <a:schemeClr val="tx1"/>
              </a:solidFill>
            </a:endParaRPr>
          </a:p>
          <a:p>
            <a:endParaRPr lang="en-US" sz="3800" dirty="0">
              <a:solidFill>
                <a:schemeClr val="tx1"/>
              </a:solidFill>
            </a:endParaRPr>
          </a:p>
        </p:txBody>
      </p:sp>
      <p:sp>
        <p:nvSpPr>
          <p:cNvPr id="13" name="Rectangle 12">
            <a:extLst>
              <a:ext uri="{FF2B5EF4-FFF2-40B4-BE49-F238E27FC236}">
                <a16:creationId xmlns:a16="http://schemas.microsoft.com/office/drawing/2014/main" id="{BFBD97F3-4925-C570-5514-2E8A7F901638}"/>
              </a:ext>
            </a:extLst>
          </p:cNvPr>
          <p:cNvSpPr/>
          <p:nvPr userDrawn="1"/>
        </p:nvSpPr>
        <p:spPr>
          <a:xfrm>
            <a:off x="0" y="0"/>
            <a:ext cx="12192000" cy="1034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E6434-D3C5-35B8-2A5B-12571E53B479}"/>
              </a:ext>
            </a:extLst>
          </p:cNvPr>
          <p:cNvSpPr>
            <a:spLocks noGrp="1"/>
          </p:cNvSpPr>
          <p:nvPr>
            <p:ph type="ctrTitle" hasCustomPrompt="1"/>
          </p:nvPr>
        </p:nvSpPr>
        <p:spPr>
          <a:xfrm>
            <a:off x="-5443" y="-244251"/>
            <a:ext cx="12192000" cy="2387600"/>
          </a:xfrm>
        </p:spPr>
        <p:txBody>
          <a:bodyPr anchor="b"/>
          <a:lstStyle>
            <a:lvl1pPr algn="ctr">
              <a:defRPr sz="4800">
                <a:solidFill>
                  <a:schemeClr val="tx1"/>
                </a:solidFill>
              </a:defRPr>
            </a:lvl1pPr>
          </a:lstStyle>
          <a:p>
            <a:r>
              <a:rPr lang="en-US" dirty="0"/>
              <a:t>GEOL 599</a:t>
            </a:r>
            <a:br>
              <a:rPr lang="en-US" dirty="0"/>
            </a:br>
            <a:r>
              <a:rPr lang="en-US" dirty="0"/>
              <a:t>Applied Machine Learning for Geoscience Data</a:t>
            </a:r>
          </a:p>
        </p:txBody>
      </p:sp>
    </p:spTree>
    <p:extLst>
      <p:ext uri="{BB962C8B-B14F-4D97-AF65-F5344CB8AC3E}">
        <p14:creationId xmlns:p14="http://schemas.microsoft.com/office/powerpoint/2010/main" val="2969113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05B7-09A3-CD35-0F48-F6AC4FE002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8CA42-DE5B-A0F5-7D42-23509A2DDD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CDB7EA-5BEF-6A60-8C8C-EE99F86D730B}"/>
              </a:ext>
            </a:extLst>
          </p:cNvPr>
          <p:cNvSpPr>
            <a:spLocks noGrp="1"/>
          </p:cNvSpPr>
          <p:nvPr>
            <p:ph type="dt" sz="half" idx="10"/>
          </p:nvPr>
        </p:nvSpPr>
        <p:spPr>
          <a:xfrm>
            <a:off x="838200" y="6356350"/>
            <a:ext cx="2743200" cy="365125"/>
          </a:xfrm>
          <a:prstGeom prst="rect">
            <a:avLst/>
          </a:prstGeom>
        </p:spPr>
        <p:txBody>
          <a:bodyPr/>
          <a:lstStyle/>
          <a:p>
            <a:fld id="{09418D03-48AA-CB49-A132-AF8A2DA0E64B}" type="datetime1">
              <a:rPr lang="en-US" smtClean="0"/>
              <a:t>9/28/26</a:t>
            </a:fld>
            <a:endParaRPr lang="en-US"/>
          </a:p>
        </p:txBody>
      </p:sp>
      <p:sp>
        <p:nvSpPr>
          <p:cNvPr id="5" name="Footer Placeholder 4">
            <a:extLst>
              <a:ext uri="{FF2B5EF4-FFF2-40B4-BE49-F238E27FC236}">
                <a16:creationId xmlns:a16="http://schemas.microsoft.com/office/drawing/2014/main" id="{DAEF1026-75B7-EFCA-1EB7-A6D8B3B464D5}"/>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FCE2B28F-DC4B-2CAA-D736-7042BDD156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204787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5A5D-6083-49E0-EB07-46E46705DB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94158-D0ED-B328-7FB6-8508C50E72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EA2D35-2853-8EB1-AFAE-2A9E5C2B43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AF664778-0B2B-73D7-BD5C-AE37BF503074}"/>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77B6A1EE-6D0F-02A2-34F3-06FAF29A1888}"/>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3066510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FD206-18F2-9CE1-11FE-5F7FD5C753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1E4094-9CD9-970B-A183-C9901E31D423}"/>
              </a:ext>
            </a:extLst>
          </p:cNvPr>
          <p:cNvSpPr>
            <a:spLocks noGrp="1"/>
          </p:cNvSpPr>
          <p:nvPr>
            <p:ph type="dt" sz="half" idx="10"/>
          </p:nvPr>
        </p:nvSpPr>
        <p:spPr>
          <a:xfrm>
            <a:off x="838200" y="6356350"/>
            <a:ext cx="2743200" cy="365125"/>
          </a:xfrm>
          <a:prstGeom prst="rect">
            <a:avLst/>
          </a:prstGeom>
        </p:spPr>
        <p:txBody>
          <a:bodyPr/>
          <a:lstStyle/>
          <a:p>
            <a:fld id="{22FBD965-6108-7945-883E-024EB22FF9F9}" type="datetime1">
              <a:rPr lang="en-US" smtClean="0"/>
              <a:t>9/28/26</a:t>
            </a:fld>
            <a:endParaRPr lang="en-US"/>
          </a:p>
        </p:txBody>
      </p:sp>
      <p:sp>
        <p:nvSpPr>
          <p:cNvPr id="4" name="Footer Placeholder 3">
            <a:extLst>
              <a:ext uri="{FF2B5EF4-FFF2-40B4-BE49-F238E27FC236}">
                <a16:creationId xmlns:a16="http://schemas.microsoft.com/office/drawing/2014/main" id="{78655C67-D7DD-F09A-B00B-A801CAB65AC7}"/>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84401E41-A874-FA58-18A5-EA60211D0E7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50219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F5D95-40F0-0635-C904-7E748079148B}"/>
              </a:ext>
            </a:extLst>
          </p:cNvPr>
          <p:cNvSpPr>
            <a:spLocks noGrp="1"/>
          </p:cNvSpPr>
          <p:nvPr>
            <p:ph type="dt" sz="half" idx="10"/>
          </p:nvPr>
        </p:nvSpPr>
        <p:spPr>
          <a:xfrm>
            <a:off x="838200" y="6356350"/>
            <a:ext cx="2743200" cy="365125"/>
          </a:xfrm>
          <a:prstGeom prst="rect">
            <a:avLst/>
          </a:prstGeom>
        </p:spPr>
        <p:txBody>
          <a:bodyPr/>
          <a:lstStyle/>
          <a:p>
            <a:fld id="{0275880B-0B4C-2E4A-B266-E0FE9A68D62F}" type="datetime1">
              <a:rPr lang="en-US" smtClean="0"/>
              <a:t>9/28/26</a:t>
            </a:fld>
            <a:endParaRPr lang="en-US"/>
          </a:p>
        </p:txBody>
      </p:sp>
      <p:sp>
        <p:nvSpPr>
          <p:cNvPr id="3" name="Footer Placeholder 2">
            <a:extLst>
              <a:ext uri="{FF2B5EF4-FFF2-40B4-BE49-F238E27FC236}">
                <a16:creationId xmlns:a16="http://schemas.microsoft.com/office/drawing/2014/main" id="{74DB12B9-C9F2-BACD-A839-913B604B56CD}"/>
              </a:ext>
            </a:extLst>
          </p:cNvPr>
          <p:cNvSpPr>
            <a:spLocks noGrp="1"/>
          </p:cNvSpPr>
          <p:nvPr>
            <p:ph type="ftr" sz="quarter" idx="11"/>
          </p:nvPr>
        </p:nvSpPr>
        <p:spPr/>
        <p:txBody>
          <a:bodyPr/>
          <a:lstStyle/>
          <a:p>
            <a:r>
              <a:rPr lang="en-US"/>
              <a:t>GEOL 599</a:t>
            </a:r>
          </a:p>
        </p:txBody>
      </p:sp>
      <p:sp>
        <p:nvSpPr>
          <p:cNvPr id="4" name="Slide Number Placeholder 3">
            <a:extLst>
              <a:ext uri="{FF2B5EF4-FFF2-40B4-BE49-F238E27FC236}">
                <a16:creationId xmlns:a16="http://schemas.microsoft.com/office/drawing/2014/main" id="{84A29665-3410-49BB-1D7A-41AF6002487A}"/>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924849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3C0E-7FC5-B6FD-1C83-A481576B9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A655D9-2AF1-203E-B440-CA1770A50A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0E54E5-7F53-5749-117E-C893269717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A3D668-5A6A-2815-6A54-44B974F023FF}"/>
              </a:ext>
            </a:extLst>
          </p:cNvPr>
          <p:cNvSpPr>
            <a:spLocks noGrp="1"/>
          </p:cNvSpPr>
          <p:nvPr>
            <p:ph type="dt" sz="half" idx="10"/>
          </p:nvPr>
        </p:nvSpPr>
        <p:spPr>
          <a:xfrm>
            <a:off x="838200" y="6356350"/>
            <a:ext cx="2743200" cy="365125"/>
          </a:xfrm>
          <a:prstGeom prst="rect">
            <a:avLst/>
          </a:prstGeom>
        </p:spPr>
        <p:txBody>
          <a:bodyPr/>
          <a:lstStyle/>
          <a:p>
            <a:fld id="{12EC2D56-32BF-9F41-918E-49D0AA578943}" type="datetime1">
              <a:rPr lang="en-US" smtClean="0"/>
              <a:t>9/28/26</a:t>
            </a:fld>
            <a:endParaRPr lang="en-US"/>
          </a:p>
        </p:txBody>
      </p:sp>
      <p:sp>
        <p:nvSpPr>
          <p:cNvPr id="6" name="Footer Placeholder 5">
            <a:extLst>
              <a:ext uri="{FF2B5EF4-FFF2-40B4-BE49-F238E27FC236}">
                <a16:creationId xmlns:a16="http://schemas.microsoft.com/office/drawing/2014/main" id="{8053E52E-D8F4-5313-1B36-986748552080}"/>
              </a:ext>
            </a:extLst>
          </p:cNvPr>
          <p:cNvSpPr>
            <a:spLocks noGrp="1"/>
          </p:cNvSpPr>
          <p:nvPr>
            <p:ph type="ftr" sz="quarter" idx="11"/>
          </p:nvPr>
        </p:nvSpPr>
        <p:spPr/>
        <p:txBody>
          <a:bodyPr/>
          <a:lstStyle/>
          <a:p>
            <a:r>
              <a:rPr lang="en-US"/>
              <a:t>GEOL 599</a:t>
            </a:r>
          </a:p>
        </p:txBody>
      </p:sp>
      <p:sp>
        <p:nvSpPr>
          <p:cNvPr id="7" name="Slide Number Placeholder 6">
            <a:extLst>
              <a:ext uri="{FF2B5EF4-FFF2-40B4-BE49-F238E27FC236}">
                <a16:creationId xmlns:a16="http://schemas.microsoft.com/office/drawing/2014/main" id="{2BC80849-1A56-0383-E5C4-97DDE0488723}"/>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857416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B588-3C09-D5CF-2676-6FC7737E3C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AD266BE-5A12-67D9-057B-1BBF237367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161E22-66C9-B589-0129-498B002A0EC5}"/>
              </a:ext>
            </a:extLst>
          </p:cNvPr>
          <p:cNvSpPr>
            <a:spLocks noGrp="1"/>
          </p:cNvSpPr>
          <p:nvPr>
            <p:ph type="dt" sz="half" idx="10"/>
          </p:nvPr>
        </p:nvSpPr>
        <p:spPr>
          <a:xfrm>
            <a:off x="838200" y="6356350"/>
            <a:ext cx="2743200" cy="365125"/>
          </a:xfrm>
          <a:prstGeom prst="rect">
            <a:avLst/>
          </a:prstGeom>
        </p:spPr>
        <p:txBody>
          <a:bodyPr/>
          <a:lstStyle/>
          <a:p>
            <a:fld id="{59722F35-E892-0345-AB79-C0946392D699}" type="datetime1">
              <a:rPr lang="en-US" smtClean="0"/>
              <a:t>9/28/26</a:t>
            </a:fld>
            <a:endParaRPr lang="en-US"/>
          </a:p>
        </p:txBody>
      </p:sp>
      <p:sp>
        <p:nvSpPr>
          <p:cNvPr id="5" name="Footer Placeholder 4">
            <a:extLst>
              <a:ext uri="{FF2B5EF4-FFF2-40B4-BE49-F238E27FC236}">
                <a16:creationId xmlns:a16="http://schemas.microsoft.com/office/drawing/2014/main" id="{67AE1508-762A-D53F-C7EC-9D9BF416BA06}"/>
              </a:ext>
            </a:extLst>
          </p:cNvPr>
          <p:cNvSpPr>
            <a:spLocks noGrp="1"/>
          </p:cNvSpPr>
          <p:nvPr>
            <p:ph type="ftr" sz="quarter" idx="11"/>
          </p:nvPr>
        </p:nvSpPr>
        <p:spPr/>
        <p:txBody>
          <a:bodyPr/>
          <a:lstStyle/>
          <a:p>
            <a:r>
              <a:rPr lang="en-US"/>
              <a:t>GEOL 599</a:t>
            </a:r>
          </a:p>
        </p:txBody>
      </p:sp>
      <p:sp>
        <p:nvSpPr>
          <p:cNvPr id="6" name="Slide Number Placeholder 5">
            <a:extLst>
              <a:ext uri="{FF2B5EF4-FFF2-40B4-BE49-F238E27FC236}">
                <a16:creationId xmlns:a16="http://schemas.microsoft.com/office/drawing/2014/main" id="{3410CDCB-37FC-4C2D-A3D2-0DD3FFECEA4F}"/>
              </a:ext>
            </a:extLst>
          </p:cNvPr>
          <p:cNvSpPr>
            <a:spLocks noGrp="1"/>
          </p:cNvSpPr>
          <p:nvPr>
            <p:ph type="sldNum" sz="quarter" idx="12"/>
          </p:nvPr>
        </p:nvSpPr>
        <p:spPr/>
        <p:txBody>
          <a:bodyPr/>
          <a:lstStyle/>
          <a:p>
            <a:fld id="{10A4AB6E-1AC4-C44F-A0CC-883A0306AF8B}" type="slidenum">
              <a:rPr lang="en-US" smtClean="0"/>
              <a:t>‹#›</a:t>
            </a:fld>
            <a:endParaRPr lang="en-US"/>
          </a:p>
        </p:txBody>
      </p:sp>
    </p:spTree>
    <p:extLst>
      <p:ext uri="{BB962C8B-B14F-4D97-AF65-F5344CB8AC3E}">
        <p14:creationId xmlns:p14="http://schemas.microsoft.com/office/powerpoint/2010/main" val="132305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F802EE-C334-A1A8-98B8-350093E9A97B}"/>
              </a:ext>
            </a:extLst>
          </p:cNvPr>
          <p:cNvSpPr/>
          <p:nvPr userDrawn="1"/>
        </p:nvSpPr>
        <p:spPr>
          <a:xfrm>
            <a:off x="0" y="0"/>
            <a:ext cx="12192000" cy="1001486"/>
          </a:xfrm>
          <a:prstGeom prst="rect">
            <a:avLst/>
          </a:prstGeom>
          <a:solidFill>
            <a:srgbClr val="7300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DE59E362-3E7B-106E-C26F-017E025D026C}"/>
              </a:ext>
            </a:extLst>
          </p:cNvPr>
          <p:cNvSpPr>
            <a:spLocks noGrp="1"/>
          </p:cNvSpPr>
          <p:nvPr>
            <p:ph type="title"/>
          </p:nvPr>
        </p:nvSpPr>
        <p:spPr>
          <a:xfrm>
            <a:off x="838200" y="223611"/>
            <a:ext cx="10515600" cy="68787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DB616FF-4C58-32D3-4174-A5F9887DA9DC}"/>
              </a:ext>
            </a:extLst>
          </p:cNvPr>
          <p:cNvSpPr>
            <a:spLocks noGrp="1"/>
          </p:cNvSpPr>
          <p:nvPr>
            <p:ph type="body" idx="1"/>
          </p:nvPr>
        </p:nvSpPr>
        <p:spPr>
          <a:xfrm>
            <a:off x="838200" y="1135094"/>
            <a:ext cx="10515600" cy="50114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A32BC8C-1205-6412-7DF1-F9370BF637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US" dirty="0">
                <a:solidFill>
                  <a:schemeClr val="tx1"/>
                </a:solidFill>
              </a:rPr>
              <a:t>GEOL 599</a:t>
            </a:r>
          </a:p>
        </p:txBody>
      </p:sp>
      <p:sp>
        <p:nvSpPr>
          <p:cNvPr id="6" name="Slide Number Placeholder 5">
            <a:extLst>
              <a:ext uri="{FF2B5EF4-FFF2-40B4-BE49-F238E27FC236}">
                <a16:creationId xmlns:a16="http://schemas.microsoft.com/office/drawing/2014/main" id="{DADF6326-AC4E-DA41-3F99-70C0F11188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10A4AB6E-1AC4-C44F-A0CC-883A0306AF8B}" type="slidenum">
              <a:rPr lang="en-US" smtClean="0"/>
              <a:pPr/>
              <a:t>‹#›</a:t>
            </a:fld>
            <a:endParaRPr lang="en-US" dirty="0">
              <a:solidFill>
                <a:schemeClr val="tx1"/>
              </a:solidFill>
            </a:endParaRPr>
          </a:p>
        </p:txBody>
      </p:sp>
      <p:pic>
        <p:nvPicPr>
          <p:cNvPr id="8" name="Graphic 7">
            <a:extLst>
              <a:ext uri="{FF2B5EF4-FFF2-40B4-BE49-F238E27FC236}">
                <a16:creationId xmlns:a16="http://schemas.microsoft.com/office/drawing/2014/main" id="{896C53DE-F0FB-6345-E263-C4CF733709A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78922" y="6036159"/>
            <a:ext cx="3159579" cy="913432"/>
          </a:xfrm>
          <a:prstGeom prst="rect">
            <a:avLst/>
          </a:prstGeom>
        </p:spPr>
      </p:pic>
    </p:spTree>
    <p:extLst>
      <p:ext uri="{BB962C8B-B14F-4D97-AF65-F5344CB8AC3E}">
        <p14:creationId xmlns:p14="http://schemas.microsoft.com/office/powerpoint/2010/main" val="404149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7" r:id="rId6"/>
    <p:sldLayoutId id="2147483658" r:id="rId7"/>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D74B-1267-62B5-F4B9-8B9EE90CEDDD}"/>
              </a:ext>
            </a:extLst>
          </p:cNvPr>
          <p:cNvSpPr>
            <a:spLocks noGrp="1"/>
          </p:cNvSpPr>
          <p:nvPr>
            <p:ph type="ctrTitle"/>
          </p:nvPr>
        </p:nvSpPr>
        <p:spPr/>
        <p:txBody>
          <a:bodyPr/>
          <a:lstStyle/>
          <a:p>
            <a:r>
              <a:rPr lang="en-US" dirty="0"/>
              <a:t>GEOL 599</a:t>
            </a:r>
            <a:br>
              <a:rPr lang="en-US" dirty="0"/>
            </a:br>
            <a:r>
              <a:rPr lang="en-US" dirty="0"/>
              <a:t>Applied Machine Learning for Geoscience Data</a:t>
            </a:r>
          </a:p>
        </p:txBody>
      </p:sp>
      <p:sp>
        <p:nvSpPr>
          <p:cNvPr id="3" name="Subtitle 2">
            <a:extLst>
              <a:ext uri="{FF2B5EF4-FFF2-40B4-BE49-F238E27FC236}">
                <a16:creationId xmlns:a16="http://schemas.microsoft.com/office/drawing/2014/main" id="{D9FB06DC-E070-314E-1C1A-F8B257144CDD}"/>
              </a:ext>
            </a:extLst>
          </p:cNvPr>
          <p:cNvSpPr>
            <a:spLocks noGrp="1"/>
          </p:cNvSpPr>
          <p:nvPr>
            <p:ph type="subTitle" idx="1"/>
          </p:nvPr>
        </p:nvSpPr>
        <p:spPr/>
        <p:txBody>
          <a:bodyPr/>
          <a:lstStyle/>
          <a:p>
            <a:r>
              <a:rPr lang="en-US" dirty="0"/>
              <a:t>Lecture 11</a:t>
            </a:r>
          </a:p>
        </p:txBody>
      </p:sp>
      <p:sp>
        <p:nvSpPr>
          <p:cNvPr id="10" name="TextBox 9">
            <a:extLst>
              <a:ext uri="{FF2B5EF4-FFF2-40B4-BE49-F238E27FC236}">
                <a16:creationId xmlns:a16="http://schemas.microsoft.com/office/drawing/2014/main" id="{F1FCA0F4-200B-9DEE-1D44-C6B1B4432703}"/>
              </a:ext>
              <a:ext uri="{C183D7F6-B498-43B3-948B-1728B52AA6E4}">
                <adec:decorative xmlns:adec="http://schemas.microsoft.com/office/drawing/2017/decorative" val="0"/>
              </a:ext>
            </a:extLst>
          </p:cNvPr>
          <p:cNvSpPr txBox="1"/>
          <p:nvPr/>
        </p:nvSpPr>
        <p:spPr>
          <a:xfrm>
            <a:off x="949124" y="3703898"/>
            <a:ext cx="10232020" cy="1569660"/>
          </a:xfrm>
          <a:prstGeom prst="rect">
            <a:avLst/>
          </a:prstGeom>
          <a:noFill/>
        </p:spPr>
        <p:txBody>
          <a:bodyPr wrap="square" rtlCol="0">
            <a:spAutoFit/>
          </a:bodyPr>
          <a:lstStyle/>
          <a:p>
            <a:pPr marL="342900" indent="-342900">
              <a:buFont typeface="+mj-lt"/>
              <a:buAutoNum type="arabicPeriod"/>
            </a:pPr>
            <a:r>
              <a:rPr lang="en-US" sz="2400" dirty="0"/>
              <a:t>Parts of a neural network </a:t>
            </a:r>
          </a:p>
          <a:p>
            <a:pPr marL="342900" indent="-342900">
              <a:buFont typeface="+mj-lt"/>
              <a:buAutoNum type="arabicPeriod"/>
            </a:pPr>
            <a:r>
              <a:rPr lang="en-US" sz="2400" dirty="0"/>
              <a:t> Forward and back propagation</a:t>
            </a:r>
          </a:p>
          <a:p>
            <a:pPr marL="342900" indent="-342900">
              <a:buFont typeface="+mj-lt"/>
              <a:buAutoNum type="arabicPeriod"/>
            </a:pPr>
            <a:r>
              <a:rPr lang="en-US" sz="2400" dirty="0"/>
              <a:t> Activation functions</a:t>
            </a:r>
          </a:p>
          <a:p>
            <a:pPr marL="342900" indent="-342900">
              <a:buFont typeface="+mj-lt"/>
              <a:buAutoNum type="arabicPeriod"/>
            </a:pPr>
            <a:r>
              <a:rPr lang="en-US" sz="2400" dirty="0"/>
              <a:t>Dropout</a:t>
            </a:r>
          </a:p>
        </p:txBody>
      </p:sp>
      <p:sp>
        <p:nvSpPr>
          <p:cNvPr id="4" name="Footer Placeholder 3">
            <a:extLst>
              <a:ext uri="{FF2B5EF4-FFF2-40B4-BE49-F238E27FC236}">
                <a16:creationId xmlns:a16="http://schemas.microsoft.com/office/drawing/2014/main" id="{496939D3-C906-D27A-E627-E49703BA5AE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solidFill>
                  <a:schemeClr val="tx1"/>
                </a:solidFill>
              </a:rPr>
              <a:t>GEOL 599</a:t>
            </a:r>
            <a:endParaRPr lang="en-US" dirty="0">
              <a:solidFill>
                <a:schemeClr val="tx1"/>
              </a:solidFill>
            </a:endParaRPr>
          </a:p>
        </p:txBody>
      </p:sp>
      <p:sp>
        <p:nvSpPr>
          <p:cNvPr id="5" name="Slide Number Placeholder 4">
            <a:extLst>
              <a:ext uri="{FF2B5EF4-FFF2-40B4-BE49-F238E27FC236}">
                <a16:creationId xmlns:a16="http://schemas.microsoft.com/office/drawing/2014/main" id="{BE1ED953-1DCE-B252-D7D6-5DDFEE91540D}"/>
              </a:ext>
              <a:ext uri="{C183D7F6-B498-43B3-948B-1728B52AA6E4}">
                <adec:decorative xmlns:adec="http://schemas.microsoft.com/office/drawing/2017/decorative" val="1"/>
              </a:ext>
            </a:extLst>
          </p:cNvPr>
          <p:cNvSpPr>
            <a:spLocks noGrp="1"/>
          </p:cNvSpPr>
          <p:nvPr>
            <p:ph type="sldNum" sz="quarter" idx="12"/>
          </p:nvPr>
        </p:nvSpPr>
        <p:spPr/>
        <p:txBody>
          <a:bodyPr/>
          <a:lstStyle/>
          <a:p>
            <a:fld id="{10A4AB6E-1AC4-C44F-A0CC-883A0306AF8B}" type="slidenum">
              <a:rPr lang="en-US" smtClean="0"/>
              <a:pPr/>
              <a:t>1</a:t>
            </a:fld>
            <a:endParaRPr lang="en-US" dirty="0"/>
          </a:p>
        </p:txBody>
      </p:sp>
    </p:spTree>
    <p:extLst>
      <p:ext uri="{BB962C8B-B14F-4D97-AF65-F5344CB8AC3E}">
        <p14:creationId xmlns:p14="http://schemas.microsoft.com/office/powerpoint/2010/main" val="3198711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00F8F-CCFD-7B59-C856-64C3D1009DA9}"/>
              </a:ext>
            </a:extLst>
          </p:cNvPr>
          <p:cNvSpPr>
            <a:spLocks noGrp="1"/>
          </p:cNvSpPr>
          <p:nvPr>
            <p:ph type="title"/>
          </p:nvPr>
        </p:nvSpPr>
        <p:spPr/>
        <p:txBody>
          <a:bodyPr>
            <a:normAutofit fontScale="90000"/>
          </a:bodyPr>
          <a:lstStyle/>
          <a:p>
            <a:r>
              <a:rPr lang="en-US" dirty="0"/>
              <a:t>Traditional ML vs Deep Learning</a:t>
            </a:r>
          </a:p>
        </p:txBody>
      </p:sp>
      <p:pic>
        <p:nvPicPr>
          <p:cNvPr id="7" name="Content Placeholder 6" descr="Educational neural-network diagram contrasts machine learning and deep learning workflows. Upper section shows inputs, turquoise feature-extraction icons, yellow learning nodes, and two green outputs, while lower section shows multiple interconnected turquoise and yellow layers labeled inputs, feature extraction + learning, and outputs.&#10;&#10;">
            <a:extLst>
              <a:ext uri="{FF2B5EF4-FFF2-40B4-BE49-F238E27FC236}">
                <a16:creationId xmlns:a16="http://schemas.microsoft.com/office/drawing/2014/main" id="{823310A3-2E0D-5E7A-7E55-A714FAECFDD8}"/>
              </a:ext>
            </a:extLst>
          </p:cNvPr>
          <p:cNvPicPr>
            <a:picLocks noGrp="1" noChangeAspect="1"/>
          </p:cNvPicPr>
          <p:nvPr>
            <p:ph idx="1"/>
          </p:nvPr>
        </p:nvPicPr>
        <p:blipFill>
          <a:blip r:embed="rId3"/>
          <a:stretch>
            <a:fillRect/>
          </a:stretch>
        </p:blipFill>
        <p:spPr>
          <a:xfrm>
            <a:off x="3345093" y="1135063"/>
            <a:ext cx="5501814" cy="5011737"/>
          </a:xfrm>
          <a:prstGeom prst="rect">
            <a:avLst/>
          </a:prstGeom>
        </p:spPr>
      </p:pic>
      <p:sp>
        <p:nvSpPr>
          <p:cNvPr id="4" name="Footer Placeholder 3">
            <a:extLst>
              <a:ext uri="{FF2B5EF4-FFF2-40B4-BE49-F238E27FC236}">
                <a16:creationId xmlns:a16="http://schemas.microsoft.com/office/drawing/2014/main" id="{6E7CF5AE-9EF8-ACC1-B455-0B2CBA0B1BA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836BB53-35A2-B7B2-E1A4-27E3A3B199D8}"/>
              </a:ext>
            </a:extLst>
          </p:cNvPr>
          <p:cNvSpPr>
            <a:spLocks noGrp="1"/>
          </p:cNvSpPr>
          <p:nvPr>
            <p:ph type="sldNum" sz="quarter" idx="12"/>
          </p:nvPr>
        </p:nvSpPr>
        <p:spPr/>
        <p:txBody>
          <a:bodyPr/>
          <a:lstStyle/>
          <a:p>
            <a:fld id="{10A4AB6E-1AC4-C44F-A0CC-883A0306AF8B}" type="slidenum">
              <a:rPr lang="en-US" smtClean="0"/>
              <a:t>2</a:t>
            </a:fld>
            <a:endParaRPr lang="en-US"/>
          </a:p>
        </p:txBody>
      </p:sp>
    </p:spTree>
    <p:extLst>
      <p:ext uri="{BB962C8B-B14F-4D97-AF65-F5344CB8AC3E}">
        <p14:creationId xmlns:p14="http://schemas.microsoft.com/office/powerpoint/2010/main" val="1820190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1D3B-2277-1D98-FF37-6A3B5DBDB631}"/>
              </a:ext>
            </a:extLst>
          </p:cNvPr>
          <p:cNvSpPr>
            <a:spLocks noGrp="1"/>
          </p:cNvSpPr>
          <p:nvPr>
            <p:ph type="title"/>
          </p:nvPr>
        </p:nvSpPr>
        <p:spPr/>
        <p:txBody>
          <a:bodyPr>
            <a:normAutofit fontScale="90000"/>
          </a:bodyPr>
          <a:lstStyle/>
          <a:p>
            <a:r>
              <a:rPr lang="en-US" dirty="0"/>
              <a:t>What is deep learning</a:t>
            </a:r>
          </a:p>
        </p:txBody>
      </p:sp>
      <p:sp>
        <p:nvSpPr>
          <p:cNvPr id="3" name="Content Placeholder 2">
            <a:extLst>
              <a:ext uri="{FF2B5EF4-FFF2-40B4-BE49-F238E27FC236}">
                <a16:creationId xmlns:a16="http://schemas.microsoft.com/office/drawing/2014/main" id="{6BE88EF9-3BDC-675F-C4C2-0F252CD9926F}"/>
              </a:ext>
            </a:extLst>
          </p:cNvPr>
          <p:cNvSpPr>
            <a:spLocks noGrp="1"/>
          </p:cNvSpPr>
          <p:nvPr>
            <p:ph idx="1"/>
          </p:nvPr>
        </p:nvSpPr>
        <p:spPr/>
        <p:txBody>
          <a:bodyPr>
            <a:normAutofit/>
          </a:bodyPr>
          <a:lstStyle/>
          <a:p>
            <a:r>
              <a:rPr lang="en-US" dirty="0"/>
              <a:t>A machine learning subfield of learning representations of data.</a:t>
            </a:r>
          </a:p>
          <a:p>
            <a:r>
              <a:rPr lang="en-US" dirty="0"/>
              <a:t>Exceptional effective at learning patterns.</a:t>
            </a:r>
          </a:p>
          <a:p>
            <a:r>
              <a:rPr lang="en-US" dirty="0"/>
              <a:t>Deep learning algorithms attempt to learn (multiple levels of) representation by using a hierarchy of multiple layers</a:t>
            </a:r>
          </a:p>
          <a:p>
            <a:r>
              <a:rPr lang="en-US" dirty="0"/>
              <a:t>Does feature identification and processing in a series of stages, just as our brains seem to.</a:t>
            </a:r>
          </a:p>
          <a:p>
            <a:r>
              <a:rPr lang="en-US" dirty="0"/>
              <a:t>New algorithms for training many-layer networks </a:t>
            </a:r>
          </a:p>
          <a:p>
            <a:r>
              <a:rPr lang="en-US" dirty="0"/>
              <a:t>If you provide the system tons of information, it begins to understand it and respond in useful ways.</a:t>
            </a:r>
          </a:p>
          <a:p>
            <a:endParaRPr lang="en-US" dirty="0"/>
          </a:p>
          <a:p>
            <a:pPr marL="0" indent="0">
              <a:buNone/>
            </a:pPr>
            <a:endParaRPr lang="en-US" dirty="0"/>
          </a:p>
        </p:txBody>
      </p:sp>
      <p:sp>
        <p:nvSpPr>
          <p:cNvPr id="4" name="Footer Placeholder 3">
            <a:extLst>
              <a:ext uri="{FF2B5EF4-FFF2-40B4-BE49-F238E27FC236}">
                <a16:creationId xmlns:a16="http://schemas.microsoft.com/office/drawing/2014/main" id="{2A7D381A-A232-66F9-8317-EDB47A28713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7F011E8-95C1-499C-2A3E-DA038CA8B226}"/>
              </a:ext>
            </a:extLst>
          </p:cNvPr>
          <p:cNvSpPr>
            <a:spLocks noGrp="1"/>
          </p:cNvSpPr>
          <p:nvPr>
            <p:ph type="sldNum" sz="quarter" idx="12"/>
          </p:nvPr>
        </p:nvSpPr>
        <p:spPr/>
        <p:txBody>
          <a:bodyPr/>
          <a:lstStyle/>
          <a:p>
            <a:fld id="{10A4AB6E-1AC4-C44F-A0CC-883A0306AF8B}" type="slidenum">
              <a:rPr lang="en-US" smtClean="0"/>
              <a:t>3</a:t>
            </a:fld>
            <a:endParaRPr lang="en-US"/>
          </a:p>
        </p:txBody>
      </p:sp>
    </p:spTree>
    <p:extLst>
      <p:ext uri="{BB962C8B-B14F-4D97-AF65-F5344CB8AC3E}">
        <p14:creationId xmlns:p14="http://schemas.microsoft.com/office/powerpoint/2010/main" val="1158846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E68F-82A4-227D-1523-EA9DC03C4030}"/>
              </a:ext>
            </a:extLst>
          </p:cNvPr>
          <p:cNvSpPr>
            <a:spLocks noGrp="1"/>
          </p:cNvSpPr>
          <p:nvPr>
            <p:ph type="title"/>
          </p:nvPr>
        </p:nvSpPr>
        <p:spPr/>
        <p:txBody>
          <a:bodyPr>
            <a:normAutofit fontScale="90000"/>
          </a:bodyPr>
          <a:lstStyle/>
          <a:p>
            <a:r>
              <a:rPr lang="en-US" dirty="0"/>
              <a:t>Why deep learning</a:t>
            </a:r>
          </a:p>
        </p:txBody>
      </p:sp>
      <p:sp>
        <p:nvSpPr>
          <p:cNvPr id="3" name="Content Placeholder 2">
            <a:extLst>
              <a:ext uri="{FF2B5EF4-FFF2-40B4-BE49-F238E27FC236}">
                <a16:creationId xmlns:a16="http://schemas.microsoft.com/office/drawing/2014/main" id="{224CDC7A-7BA6-E637-FA93-B1F3A050CCB2}"/>
              </a:ext>
            </a:extLst>
          </p:cNvPr>
          <p:cNvSpPr>
            <a:spLocks noGrp="1"/>
          </p:cNvSpPr>
          <p:nvPr>
            <p:ph idx="1"/>
          </p:nvPr>
        </p:nvSpPr>
        <p:spPr/>
        <p:txBody>
          <a:bodyPr>
            <a:normAutofit fontScale="92500" lnSpcReduction="10000"/>
          </a:bodyPr>
          <a:lstStyle/>
          <a:p>
            <a:r>
              <a:rPr lang="en-US" dirty="0"/>
              <a:t>Deep learning is useful when relationships are complex, nonlinear, and difficult to specify manually.</a:t>
            </a:r>
          </a:p>
          <a:p>
            <a:r>
              <a:rPr lang="en-US" dirty="0"/>
              <a:t>Good fits:</a:t>
            </a:r>
          </a:p>
          <a:p>
            <a:pPr lvl="1"/>
            <a:r>
              <a:rPr lang="en-US" dirty="0"/>
              <a:t>Images, maps, rasters, satellite data</a:t>
            </a:r>
          </a:p>
          <a:p>
            <a:pPr lvl="1"/>
            <a:r>
              <a:rPr lang="en-US" dirty="0"/>
              <a:t>Time series and sequences</a:t>
            </a:r>
          </a:p>
          <a:p>
            <a:pPr lvl="1"/>
            <a:r>
              <a:rPr lang="en-US" dirty="0"/>
              <a:t>Text and language</a:t>
            </a:r>
          </a:p>
          <a:p>
            <a:pPr lvl="1"/>
            <a:r>
              <a:rPr lang="en-US" dirty="0"/>
              <a:t>High-dimensional environmental data</a:t>
            </a:r>
          </a:p>
          <a:p>
            <a:pPr lvl="1"/>
            <a:r>
              <a:rPr lang="en-US" dirty="0"/>
              <a:t>Problems where feature engineering is difficult</a:t>
            </a:r>
          </a:p>
          <a:p>
            <a:r>
              <a:rPr lang="en-US" dirty="0"/>
              <a:t>Less ideal fits:</a:t>
            </a:r>
          </a:p>
          <a:p>
            <a:pPr lvl="1"/>
            <a:r>
              <a:rPr lang="en-US" dirty="0"/>
              <a:t>Small tabular datasets</a:t>
            </a:r>
          </a:p>
          <a:p>
            <a:pPr lvl="1"/>
            <a:r>
              <a:rPr lang="en-US" dirty="0"/>
              <a:t>Problems where interpretability is the main goal</a:t>
            </a:r>
          </a:p>
          <a:p>
            <a:pPr lvl="1"/>
            <a:r>
              <a:rPr lang="en-US" dirty="0"/>
              <a:t>Problems with limited training data</a:t>
            </a:r>
          </a:p>
          <a:p>
            <a:pPr lvl="1"/>
            <a:r>
              <a:rPr lang="en-US" dirty="0"/>
              <a:t>Problems where simpler models already work well</a:t>
            </a:r>
          </a:p>
        </p:txBody>
      </p:sp>
      <p:sp>
        <p:nvSpPr>
          <p:cNvPr id="4" name="Footer Placeholder 3">
            <a:extLst>
              <a:ext uri="{FF2B5EF4-FFF2-40B4-BE49-F238E27FC236}">
                <a16:creationId xmlns:a16="http://schemas.microsoft.com/office/drawing/2014/main" id="{008DFDDF-EB52-DE2C-7632-B7E72A6CAE6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3BF7554-1486-9AD7-5071-59AC35FEEDC6}"/>
              </a:ext>
            </a:extLst>
          </p:cNvPr>
          <p:cNvSpPr>
            <a:spLocks noGrp="1"/>
          </p:cNvSpPr>
          <p:nvPr>
            <p:ph type="sldNum" sz="quarter" idx="12"/>
          </p:nvPr>
        </p:nvSpPr>
        <p:spPr/>
        <p:txBody>
          <a:bodyPr/>
          <a:lstStyle/>
          <a:p>
            <a:fld id="{10A4AB6E-1AC4-C44F-A0CC-883A0306AF8B}" type="slidenum">
              <a:rPr lang="en-US" smtClean="0"/>
              <a:t>4</a:t>
            </a:fld>
            <a:endParaRPr lang="en-US"/>
          </a:p>
        </p:txBody>
      </p:sp>
    </p:spTree>
    <p:extLst>
      <p:ext uri="{BB962C8B-B14F-4D97-AF65-F5344CB8AC3E}">
        <p14:creationId xmlns:p14="http://schemas.microsoft.com/office/powerpoint/2010/main" val="259542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557FE-E8DE-224D-8BF3-395DD6880FEB}"/>
              </a:ext>
            </a:extLst>
          </p:cNvPr>
          <p:cNvSpPr>
            <a:spLocks noGrp="1"/>
          </p:cNvSpPr>
          <p:nvPr>
            <p:ph type="title"/>
          </p:nvPr>
        </p:nvSpPr>
        <p:spPr/>
        <p:txBody>
          <a:bodyPr>
            <a:normAutofit fontScale="90000"/>
          </a:bodyPr>
          <a:lstStyle/>
          <a:p>
            <a:r>
              <a:rPr lang="en-US" dirty="0"/>
              <a:t>What deep learning needs</a:t>
            </a:r>
          </a:p>
        </p:txBody>
      </p:sp>
      <p:sp>
        <p:nvSpPr>
          <p:cNvPr id="3" name="Content Placeholder 2">
            <a:extLst>
              <a:ext uri="{FF2B5EF4-FFF2-40B4-BE49-F238E27FC236}">
                <a16:creationId xmlns:a16="http://schemas.microsoft.com/office/drawing/2014/main" id="{2E13EE30-FB41-328C-C28D-AC9E1644B0BE}"/>
              </a:ext>
            </a:extLst>
          </p:cNvPr>
          <p:cNvSpPr>
            <a:spLocks noGrp="1"/>
          </p:cNvSpPr>
          <p:nvPr>
            <p:ph idx="1"/>
          </p:nvPr>
        </p:nvSpPr>
        <p:spPr/>
        <p:txBody>
          <a:bodyPr>
            <a:normAutofit lnSpcReduction="10000"/>
          </a:bodyPr>
          <a:lstStyle/>
          <a:p>
            <a:r>
              <a:rPr lang="en-US" dirty="0"/>
              <a:t>Deep learning works best when you have:</a:t>
            </a:r>
          </a:p>
          <a:p>
            <a:pPr lvl="1"/>
            <a:r>
              <a:rPr lang="en-US" dirty="0"/>
              <a:t>Enough training data</a:t>
            </a:r>
          </a:p>
          <a:p>
            <a:pPr lvl="1"/>
            <a:r>
              <a:rPr lang="en-US" dirty="0"/>
              <a:t>A clear prediction target</a:t>
            </a:r>
          </a:p>
          <a:p>
            <a:pPr lvl="1"/>
            <a:r>
              <a:rPr lang="en-US" dirty="0"/>
              <a:t>A useful validation strategy</a:t>
            </a:r>
          </a:p>
          <a:p>
            <a:pPr lvl="1"/>
            <a:r>
              <a:rPr lang="en-US" dirty="0"/>
              <a:t>Scaled or normalized inputs</a:t>
            </a:r>
          </a:p>
          <a:p>
            <a:pPr lvl="1"/>
            <a:r>
              <a:rPr lang="en-US" dirty="0"/>
              <a:t>Enough computation</a:t>
            </a:r>
          </a:p>
          <a:p>
            <a:pPr lvl="1"/>
            <a:r>
              <a:rPr lang="en-US" dirty="0"/>
              <a:t>Careful monitoring of overfitting</a:t>
            </a:r>
          </a:p>
          <a:p>
            <a:r>
              <a:rPr lang="en-US" dirty="0"/>
              <a:t>Deep learning struggles when:</a:t>
            </a:r>
          </a:p>
          <a:p>
            <a:pPr lvl="1"/>
            <a:r>
              <a:rPr lang="en-US" dirty="0"/>
              <a:t>Data are limited</a:t>
            </a:r>
          </a:p>
          <a:p>
            <a:pPr lvl="1"/>
            <a:r>
              <a:rPr lang="en-US" dirty="0"/>
              <a:t>Labels are noisy</a:t>
            </a:r>
          </a:p>
          <a:p>
            <a:pPr lvl="1"/>
            <a:r>
              <a:rPr lang="en-US" dirty="0"/>
              <a:t>Validation is poorly designed</a:t>
            </a:r>
          </a:p>
          <a:p>
            <a:pPr lvl="1"/>
            <a:r>
              <a:rPr lang="en-US" dirty="0"/>
              <a:t>The model learns sampling artifacts</a:t>
            </a:r>
          </a:p>
          <a:p>
            <a:pPr lvl="1"/>
            <a:r>
              <a:rPr lang="en-US" dirty="0"/>
              <a:t>The prediction task differs from the training data</a:t>
            </a:r>
          </a:p>
          <a:p>
            <a:pPr marL="0" indent="0">
              <a:buNone/>
            </a:pPr>
            <a:endParaRPr lang="en-US" dirty="0"/>
          </a:p>
        </p:txBody>
      </p:sp>
      <p:sp>
        <p:nvSpPr>
          <p:cNvPr id="4" name="Footer Placeholder 3">
            <a:extLst>
              <a:ext uri="{FF2B5EF4-FFF2-40B4-BE49-F238E27FC236}">
                <a16:creationId xmlns:a16="http://schemas.microsoft.com/office/drawing/2014/main" id="{EE58BF16-51E4-C3D6-EA08-C2CD24BBCFD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F646C43-BACD-3413-1AB0-1BD1332EA41D}"/>
              </a:ext>
            </a:extLst>
          </p:cNvPr>
          <p:cNvSpPr>
            <a:spLocks noGrp="1"/>
          </p:cNvSpPr>
          <p:nvPr>
            <p:ph type="sldNum" sz="quarter" idx="12"/>
          </p:nvPr>
        </p:nvSpPr>
        <p:spPr/>
        <p:txBody>
          <a:bodyPr/>
          <a:lstStyle/>
          <a:p>
            <a:fld id="{10A4AB6E-1AC4-C44F-A0CC-883A0306AF8B}" type="slidenum">
              <a:rPr lang="en-US" smtClean="0"/>
              <a:t>5</a:t>
            </a:fld>
            <a:endParaRPr lang="en-US"/>
          </a:p>
        </p:txBody>
      </p:sp>
    </p:spTree>
    <p:extLst>
      <p:ext uri="{BB962C8B-B14F-4D97-AF65-F5344CB8AC3E}">
        <p14:creationId xmlns:p14="http://schemas.microsoft.com/office/powerpoint/2010/main" val="1788119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A424-5B65-9B2B-2544-B705A41C25E6}"/>
              </a:ext>
            </a:extLst>
          </p:cNvPr>
          <p:cNvSpPr>
            <a:spLocks noGrp="1"/>
          </p:cNvSpPr>
          <p:nvPr>
            <p:ph type="title"/>
          </p:nvPr>
        </p:nvSpPr>
        <p:spPr/>
        <p:txBody>
          <a:bodyPr>
            <a:normAutofit fontScale="90000"/>
          </a:bodyPr>
          <a:lstStyle/>
          <a:p>
            <a:r>
              <a:rPr lang="en-US" dirty="0"/>
              <a:t>Parts of a deep learning model</a:t>
            </a:r>
          </a:p>
        </p:txBody>
      </p:sp>
      <p:sp>
        <p:nvSpPr>
          <p:cNvPr id="3" name="Content Placeholder 2">
            <a:extLst>
              <a:ext uri="{FF2B5EF4-FFF2-40B4-BE49-F238E27FC236}">
                <a16:creationId xmlns:a16="http://schemas.microsoft.com/office/drawing/2014/main" id="{4BAB4B2A-5660-693C-01B6-C09037D65B79}"/>
              </a:ext>
            </a:extLst>
          </p:cNvPr>
          <p:cNvSpPr>
            <a:spLocks noGrp="1"/>
          </p:cNvSpPr>
          <p:nvPr>
            <p:ph idx="1"/>
          </p:nvPr>
        </p:nvSpPr>
        <p:spPr/>
        <p:txBody>
          <a:bodyPr/>
          <a:lstStyle/>
          <a:p>
            <a:pPr lvl="0"/>
            <a:r>
              <a:rPr lang="en-US" b="1" dirty="0"/>
              <a:t>Input Layer:</a:t>
            </a:r>
            <a:r>
              <a:rPr lang="en-US" dirty="0"/>
              <a:t> This is where the network receives its input data. Each input neuron in the layer corresponds to a feature in the input data.</a:t>
            </a:r>
          </a:p>
          <a:p>
            <a:pPr lvl="0"/>
            <a:r>
              <a:rPr lang="en-US" b="1" dirty="0"/>
              <a:t>Hidden Layers:</a:t>
            </a:r>
            <a:r>
              <a:rPr lang="en-US" dirty="0"/>
              <a:t> These layers perform most of the computational heavy lifting. A neural network can have one or multiple hidden layers. Each layer consists of units (neurons) that transform the inputs into something that the output layer can use.</a:t>
            </a:r>
          </a:p>
          <a:p>
            <a:pPr lvl="0"/>
            <a:r>
              <a:rPr lang="en-US" b="1" dirty="0"/>
              <a:t>Output Layer:</a:t>
            </a:r>
            <a:r>
              <a:rPr lang="en-US" dirty="0"/>
              <a:t> The final layer produces the output of the model. The format of these outputs varies depending on the specific task like classification, regression.</a:t>
            </a:r>
          </a:p>
          <a:p>
            <a:endParaRPr lang="en-US" dirty="0"/>
          </a:p>
        </p:txBody>
      </p:sp>
      <p:sp>
        <p:nvSpPr>
          <p:cNvPr id="4" name="Footer Placeholder 3">
            <a:extLst>
              <a:ext uri="{FF2B5EF4-FFF2-40B4-BE49-F238E27FC236}">
                <a16:creationId xmlns:a16="http://schemas.microsoft.com/office/drawing/2014/main" id="{D61D69DE-3515-8400-5CBD-AC3E185A3005}"/>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EA4427F-B02F-EF2F-10EB-C9BCFA9478AD}"/>
              </a:ext>
            </a:extLst>
          </p:cNvPr>
          <p:cNvSpPr>
            <a:spLocks noGrp="1"/>
          </p:cNvSpPr>
          <p:nvPr>
            <p:ph type="sldNum" sz="quarter" idx="12"/>
          </p:nvPr>
        </p:nvSpPr>
        <p:spPr/>
        <p:txBody>
          <a:bodyPr/>
          <a:lstStyle/>
          <a:p>
            <a:fld id="{10A4AB6E-1AC4-C44F-A0CC-883A0306AF8B}" type="slidenum">
              <a:rPr lang="en-US" smtClean="0"/>
              <a:t>6</a:t>
            </a:fld>
            <a:endParaRPr lang="en-US"/>
          </a:p>
        </p:txBody>
      </p:sp>
    </p:spTree>
    <p:extLst>
      <p:ext uri="{BB962C8B-B14F-4D97-AF65-F5344CB8AC3E}">
        <p14:creationId xmlns:p14="http://schemas.microsoft.com/office/powerpoint/2010/main" val="1777907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41FB7-0F43-413F-E016-C48AD2A57E42}"/>
              </a:ext>
            </a:extLst>
          </p:cNvPr>
          <p:cNvSpPr>
            <a:spLocks noGrp="1"/>
          </p:cNvSpPr>
          <p:nvPr>
            <p:ph type="title"/>
          </p:nvPr>
        </p:nvSpPr>
        <p:spPr/>
        <p:txBody>
          <a:bodyPr>
            <a:normAutofit fontScale="90000"/>
          </a:bodyPr>
          <a:lstStyle/>
          <a:p>
            <a:r>
              <a:rPr lang="en-US" dirty="0"/>
              <a:t>Terminology</a:t>
            </a:r>
          </a:p>
        </p:txBody>
      </p:sp>
      <p:sp>
        <p:nvSpPr>
          <p:cNvPr id="3" name="Content Placeholder 2">
            <a:extLst>
              <a:ext uri="{FF2B5EF4-FFF2-40B4-BE49-F238E27FC236}">
                <a16:creationId xmlns:a16="http://schemas.microsoft.com/office/drawing/2014/main" id="{CF8ACE67-9EF5-0921-8DBE-07E4A09A3DEC}"/>
              </a:ext>
            </a:extLst>
          </p:cNvPr>
          <p:cNvSpPr>
            <a:spLocks noGrp="1"/>
          </p:cNvSpPr>
          <p:nvPr>
            <p:ph idx="1"/>
          </p:nvPr>
        </p:nvSpPr>
        <p:spPr/>
        <p:txBody>
          <a:bodyPr/>
          <a:lstStyle/>
          <a:p>
            <a:pPr lvl="0"/>
            <a:r>
              <a:rPr lang="en-US" b="1" dirty="0"/>
              <a:t>Neurons</a:t>
            </a:r>
            <a:r>
              <a:rPr lang="en-US" dirty="0"/>
              <a:t>: The basic units that receive inputs, each neuron is governed by a threshold and an activation function.</a:t>
            </a:r>
          </a:p>
          <a:p>
            <a:pPr lvl="0"/>
            <a:r>
              <a:rPr lang="en-US" b="1" dirty="0"/>
              <a:t>Connections</a:t>
            </a:r>
            <a:r>
              <a:rPr lang="en-US" dirty="0"/>
              <a:t>: Links between neurons that carry information, regulated by weights and biases.</a:t>
            </a:r>
          </a:p>
          <a:p>
            <a:pPr lvl="0"/>
            <a:r>
              <a:rPr lang="en-US" b="1" dirty="0"/>
              <a:t>Weights and Biases</a:t>
            </a:r>
            <a:r>
              <a:rPr lang="en-US" dirty="0"/>
              <a:t>: These parameters determine the strength and influence of connections.</a:t>
            </a:r>
          </a:p>
          <a:p>
            <a:pPr lvl="0"/>
            <a:r>
              <a:rPr lang="en-US" b="1" dirty="0"/>
              <a:t>Propagation Functions</a:t>
            </a:r>
            <a:r>
              <a:rPr lang="en-US" dirty="0"/>
              <a:t>: Mechanisms that help process and transfer data across layers of neurons.</a:t>
            </a:r>
          </a:p>
          <a:p>
            <a:pPr lvl="0"/>
            <a:r>
              <a:rPr lang="en-US" b="1" dirty="0"/>
              <a:t>Learning Rule</a:t>
            </a:r>
            <a:r>
              <a:rPr lang="en-US" dirty="0"/>
              <a:t>: The method that adjusts weights and biases over time to improve accuracy.</a:t>
            </a:r>
          </a:p>
          <a:p>
            <a:endParaRPr lang="en-US" dirty="0"/>
          </a:p>
        </p:txBody>
      </p:sp>
      <p:sp>
        <p:nvSpPr>
          <p:cNvPr id="4" name="Footer Placeholder 3">
            <a:extLst>
              <a:ext uri="{FF2B5EF4-FFF2-40B4-BE49-F238E27FC236}">
                <a16:creationId xmlns:a16="http://schemas.microsoft.com/office/drawing/2014/main" id="{9F80FDA7-5BFC-7F06-603D-48E8E2CBC86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046C00DB-0DBD-F468-A310-79AE829515C5}"/>
              </a:ext>
            </a:extLst>
          </p:cNvPr>
          <p:cNvSpPr>
            <a:spLocks noGrp="1"/>
          </p:cNvSpPr>
          <p:nvPr>
            <p:ph type="sldNum" sz="quarter" idx="12"/>
          </p:nvPr>
        </p:nvSpPr>
        <p:spPr/>
        <p:txBody>
          <a:bodyPr/>
          <a:lstStyle/>
          <a:p>
            <a:fld id="{10A4AB6E-1AC4-C44F-A0CC-883A0306AF8B}" type="slidenum">
              <a:rPr lang="en-US" smtClean="0"/>
              <a:t>7</a:t>
            </a:fld>
            <a:endParaRPr lang="en-US"/>
          </a:p>
        </p:txBody>
      </p:sp>
    </p:spTree>
    <p:extLst>
      <p:ext uri="{BB962C8B-B14F-4D97-AF65-F5344CB8AC3E}">
        <p14:creationId xmlns:p14="http://schemas.microsoft.com/office/powerpoint/2010/main" val="3313663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EDA1A-D841-4FAF-E7DD-5F024969E496}"/>
              </a:ext>
            </a:extLst>
          </p:cNvPr>
          <p:cNvSpPr>
            <a:spLocks noGrp="1"/>
          </p:cNvSpPr>
          <p:nvPr>
            <p:ph type="title"/>
          </p:nvPr>
        </p:nvSpPr>
        <p:spPr/>
        <p:txBody>
          <a:bodyPr>
            <a:normAutofit fontScale="90000"/>
          </a:bodyPr>
          <a:lstStyle/>
          <a:p>
            <a:r>
              <a:rPr lang="en-US" dirty="0"/>
              <a:t>Neural Network Overview</a:t>
            </a:r>
          </a:p>
        </p:txBody>
      </p:sp>
      <p:pic>
        <p:nvPicPr>
          <p:cNvPr id="7"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wo outputs.&#10;">
            <a:extLst>
              <a:ext uri="{FF2B5EF4-FFF2-40B4-BE49-F238E27FC236}">
                <a16:creationId xmlns:a16="http://schemas.microsoft.com/office/drawing/2014/main" id="{9DA626DD-2BF4-1E5E-FF01-75FE247897FC}"/>
              </a:ext>
            </a:extLst>
          </p:cNvPr>
          <p:cNvPicPr>
            <a:picLocks noGrp="1" noChangeAspect="1"/>
          </p:cNvPicPr>
          <p:nvPr>
            <p:ph idx="1"/>
          </p:nvPr>
        </p:nvPicPr>
        <p:blipFill>
          <a:blip r:embed="rId2"/>
          <a:stretch>
            <a:fillRect/>
          </a:stretch>
        </p:blipFill>
        <p:spPr>
          <a:xfrm>
            <a:off x="1339850" y="1266031"/>
            <a:ext cx="9512300" cy="4749800"/>
          </a:xfrm>
          <a:prstGeom prst="rect">
            <a:avLst/>
          </a:prstGeom>
        </p:spPr>
      </p:pic>
      <p:sp>
        <p:nvSpPr>
          <p:cNvPr id="4" name="Footer Placeholder 3">
            <a:extLst>
              <a:ext uri="{FF2B5EF4-FFF2-40B4-BE49-F238E27FC236}">
                <a16:creationId xmlns:a16="http://schemas.microsoft.com/office/drawing/2014/main" id="{B80BBFF2-5412-D2B1-6DE1-906962C514EA}"/>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E910FF1-10E9-8F17-9D5B-9911B5D8E41E}"/>
              </a:ext>
            </a:extLst>
          </p:cNvPr>
          <p:cNvSpPr>
            <a:spLocks noGrp="1"/>
          </p:cNvSpPr>
          <p:nvPr>
            <p:ph type="sldNum" sz="quarter" idx="12"/>
          </p:nvPr>
        </p:nvSpPr>
        <p:spPr/>
        <p:txBody>
          <a:bodyPr/>
          <a:lstStyle/>
          <a:p>
            <a:fld id="{10A4AB6E-1AC4-C44F-A0CC-883A0306AF8B}" type="slidenum">
              <a:rPr lang="en-US" smtClean="0"/>
              <a:t>8</a:t>
            </a:fld>
            <a:endParaRPr lang="en-US"/>
          </a:p>
        </p:txBody>
      </p:sp>
    </p:spTree>
    <p:extLst>
      <p:ext uri="{BB962C8B-B14F-4D97-AF65-F5344CB8AC3E}">
        <p14:creationId xmlns:p14="http://schemas.microsoft.com/office/powerpoint/2010/main" val="847660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9338-09FA-66FF-0B30-111211EBA684}"/>
              </a:ext>
            </a:extLst>
          </p:cNvPr>
          <p:cNvSpPr>
            <a:spLocks noGrp="1"/>
          </p:cNvSpPr>
          <p:nvPr>
            <p:ph type="title"/>
          </p:nvPr>
        </p:nvSpPr>
        <p:spPr/>
        <p:txBody>
          <a:bodyPr>
            <a:normAutofit fontScale="90000"/>
          </a:bodyPr>
          <a:lstStyle/>
          <a:p>
            <a:r>
              <a:rPr lang="en-US" dirty="0"/>
              <a:t>Input Layer</a:t>
            </a:r>
          </a:p>
        </p:txBody>
      </p:sp>
      <p:sp>
        <p:nvSpPr>
          <p:cNvPr id="3" name="Content Placeholder 2">
            <a:extLst>
              <a:ext uri="{FF2B5EF4-FFF2-40B4-BE49-F238E27FC236}">
                <a16:creationId xmlns:a16="http://schemas.microsoft.com/office/drawing/2014/main" id="{48420A30-5D76-943F-36CA-1393A7214E13}"/>
              </a:ext>
            </a:extLst>
          </p:cNvPr>
          <p:cNvSpPr>
            <a:spLocks noGrp="1"/>
          </p:cNvSpPr>
          <p:nvPr>
            <p:ph idx="1"/>
          </p:nvPr>
        </p:nvSpPr>
        <p:spPr/>
        <p:txBody>
          <a:bodyPr/>
          <a:lstStyle/>
          <a:p>
            <a:r>
              <a:rPr lang="en-US" dirty="0"/>
              <a:t>The input layer is the first layer </a:t>
            </a:r>
          </a:p>
          <a:p>
            <a:r>
              <a:rPr lang="en-US" dirty="0"/>
              <a:t>Receives raw input data. </a:t>
            </a:r>
          </a:p>
          <a:p>
            <a:pPr lvl="0"/>
            <a:r>
              <a:rPr lang="en-US" dirty="0"/>
              <a:t>Each neuron corresponds to a feature in the dataset</a:t>
            </a:r>
          </a:p>
          <a:p>
            <a:pPr lvl="0"/>
            <a:r>
              <a:rPr lang="en-US" dirty="0"/>
              <a:t>Does not perform calculations, only forwards data</a:t>
            </a:r>
          </a:p>
          <a:p>
            <a:endParaRPr lang="en-US" dirty="0"/>
          </a:p>
        </p:txBody>
      </p:sp>
      <p:sp>
        <p:nvSpPr>
          <p:cNvPr id="4" name="Footer Placeholder 3">
            <a:extLst>
              <a:ext uri="{FF2B5EF4-FFF2-40B4-BE49-F238E27FC236}">
                <a16:creationId xmlns:a16="http://schemas.microsoft.com/office/drawing/2014/main" id="{2D1A8061-4E2A-0164-533F-1AC825ABB0B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67D9FA2-8C95-BF15-94D2-B9FF842BB54C}"/>
              </a:ext>
            </a:extLst>
          </p:cNvPr>
          <p:cNvSpPr>
            <a:spLocks noGrp="1"/>
          </p:cNvSpPr>
          <p:nvPr>
            <p:ph type="sldNum" sz="quarter" idx="12"/>
          </p:nvPr>
        </p:nvSpPr>
        <p:spPr/>
        <p:txBody>
          <a:bodyPr/>
          <a:lstStyle/>
          <a:p>
            <a:fld id="{10A4AB6E-1AC4-C44F-A0CC-883A0306AF8B}" type="slidenum">
              <a:rPr lang="en-US" smtClean="0"/>
              <a:t>9</a:t>
            </a:fld>
            <a:endParaRPr lang="en-US"/>
          </a:p>
        </p:txBody>
      </p:sp>
      <p:pic>
        <p:nvPicPr>
          <p:cNvPr id="8"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wo outputs.">
            <a:extLst>
              <a:ext uri="{FF2B5EF4-FFF2-40B4-BE49-F238E27FC236}">
                <a16:creationId xmlns:a16="http://schemas.microsoft.com/office/drawing/2014/main" id="{2BC15524-7329-1B7E-D97B-6B7670C54129}"/>
              </a:ext>
            </a:extLst>
          </p:cNvPr>
          <p:cNvPicPr>
            <a:picLocks noChangeAspect="1"/>
          </p:cNvPicPr>
          <p:nvPr/>
        </p:nvPicPr>
        <p:blipFill>
          <a:blip r:embed="rId3"/>
          <a:stretch>
            <a:fillRect/>
          </a:stretch>
        </p:blipFill>
        <p:spPr>
          <a:xfrm>
            <a:off x="2489029" y="3056474"/>
            <a:ext cx="6974188" cy="3482438"/>
          </a:xfrm>
          <a:prstGeom prst="rect">
            <a:avLst/>
          </a:prstGeom>
        </p:spPr>
      </p:pic>
    </p:spTree>
    <p:extLst>
      <p:ext uri="{BB962C8B-B14F-4D97-AF65-F5344CB8AC3E}">
        <p14:creationId xmlns:p14="http://schemas.microsoft.com/office/powerpoint/2010/main" val="2180784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13626-1294-F6A1-E6AC-0C475DCA046C}"/>
              </a:ext>
            </a:extLst>
          </p:cNvPr>
          <p:cNvSpPr>
            <a:spLocks noGrp="1"/>
          </p:cNvSpPr>
          <p:nvPr>
            <p:ph type="title"/>
          </p:nvPr>
        </p:nvSpPr>
        <p:spPr/>
        <p:txBody>
          <a:bodyPr>
            <a:normAutofit fontScale="90000"/>
          </a:bodyPr>
          <a:lstStyle/>
          <a:p>
            <a:r>
              <a:rPr lang="en-US" dirty="0"/>
              <a:t>Hidden Layers</a:t>
            </a:r>
          </a:p>
        </p:txBody>
      </p:sp>
      <p:sp>
        <p:nvSpPr>
          <p:cNvPr id="3" name="Content Placeholder 2">
            <a:extLst>
              <a:ext uri="{FF2B5EF4-FFF2-40B4-BE49-F238E27FC236}">
                <a16:creationId xmlns:a16="http://schemas.microsoft.com/office/drawing/2014/main" id="{4BB2AAF3-7467-44A6-78B9-9F642E650B84}"/>
              </a:ext>
            </a:extLst>
          </p:cNvPr>
          <p:cNvSpPr>
            <a:spLocks noGrp="1"/>
          </p:cNvSpPr>
          <p:nvPr>
            <p:ph idx="1"/>
          </p:nvPr>
        </p:nvSpPr>
        <p:spPr>
          <a:xfrm>
            <a:off x="838200" y="1135094"/>
            <a:ext cx="10715368" cy="5011428"/>
          </a:xfrm>
        </p:spPr>
        <p:txBody>
          <a:bodyPr>
            <a:normAutofit/>
          </a:bodyPr>
          <a:lstStyle/>
          <a:p>
            <a:r>
              <a:rPr lang="en-US" dirty="0"/>
              <a:t>Located between input and output layers</a:t>
            </a:r>
          </a:p>
          <a:p>
            <a:pPr lvl="0"/>
            <a:r>
              <a:rPr lang="en-US" dirty="0"/>
              <a:t>Perform the main computations in the network</a:t>
            </a:r>
          </a:p>
          <a:p>
            <a:r>
              <a:rPr lang="en-US" dirty="0"/>
              <a:t>Transform input data into more meaningful representations to help the network learn complex patterns.</a:t>
            </a:r>
          </a:p>
          <a:p>
            <a:pPr lvl="0"/>
            <a:r>
              <a:rPr lang="en-US" dirty="0"/>
              <a:t>Apply weights and biases to input data</a:t>
            </a:r>
          </a:p>
          <a:p>
            <a:pPr lvl="0"/>
            <a:r>
              <a:rPr lang="en-US" dirty="0"/>
              <a:t>Use activation functions to introduce non-linearity</a:t>
            </a:r>
          </a:p>
          <a:p>
            <a:pPr lvl="0"/>
            <a:r>
              <a:rPr lang="en-US" dirty="0"/>
              <a:t>Number and size depend on the complexity of the task</a:t>
            </a:r>
          </a:p>
          <a:p>
            <a:endParaRPr lang="en-US" dirty="0"/>
          </a:p>
        </p:txBody>
      </p:sp>
      <p:sp>
        <p:nvSpPr>
          <p:cNvPr id="4" name="Footer Placeholder 3">
            <a:extLst>
              <a:ext uri="{FF2B5EF4-FFF2-40B4-BE49-F238E27FC236}">
                <a16:creationId xmlns:a16="http://schemas.microsoft.com/office/drawing/2014/main" id="{89E15CB8-F9C6-E01F-6B96-23143A9304B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CF8C2D1-CE14-72DE-E0D3-DE40C700DB89}"/>
              </a:ext>
            </a:extLst>
          </p:cNvPr>
          <p:cNvSpPr>
            <a:spLocks noGrp="1"/>
          </p:cNvSpPr>
          <p:nvPr>
            <p:ph type="sldNum" sz="quarter" idx="12"/>
          </p:nvPr>
        </p:nvSpPr>
        <p:spPr/>
        <p:txBody>
          <a:bodyPr/>
          <a:lstStyle/>
          <a:p>
            <a:fld id="{10A4AB6E-1AC4-C44F-A0CC-883A0306AF8B}" type="slidenum">
              <a:rPr lang="en-US" smtClean="0"/>
              <a:t>10</a:t>
            </a:fld>
            <a:endParaRPr lang="en-US"/>
          </a:p>
        </p:txBody>
      </p:sp>
      <p:pic>
        <p:nvPicPr>
          <p:cNvPr id="7"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wo outputs.">
            <a:extLst>
              <a:ext uri="{FF2B5EF4-FFF2-40B4-BE49-F238E27FC236}">
                <a16:creationId xmlns:a16="http://schemas.microsoft.com/office/drawing/2014/main" id="{5113CADD-E8C8-46F2-F2B3-93CC59057B61}"/>
              </a:ext>
            </a:extLst>
          </p:cNvPr>
          <p:cNvPicPr>
            <a:picLocks noChangeAspect="1"/>
          </p:cNvPicPr>
          <p:nvPr/>
        </p:nvPicPr>
        <p:blipFill>
          <a:blip r:embed="rId2"/>
          <a:stretch>
            <a:fillRect/>
          </a:stretch>
        </p:blipFill>
        <p:spPr>
          <a:xfrm>
            <a:off x="3969780" y="4449895"/>
            <a:ext cx="4183620" cy="2089017"/>
          </a:xfrm>
          <a:prstGeom prst="rect">
            <a:avLst/>
          </a:prstGeom>
        </p:spPr>
      </p:pic>
    </p:spTree>
    <p:extLst>
      <p:ext uri="{BB962C8B-B14F-4D97-AF65-F5344CB8AC3E}">
        <p14:creationId xmlns:p14="http://schemas.microsoft.com/office/powerpoint/2010/main" val="224094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95DCF-B77A-9314-4222-FC9FDE799C3B}"/>
              </a:ext>
            </a:extLst>
          </p:cNvPr>
          <p:cNvSpPr>
            <a:spLocks noGrp="1"/>
          </p:cNvSpPr>
          <p:nvPr>
            <p:ph type="title"/>
          </p:nvPr>
        </p:nvSpPr>
        <p:spPr/>
        <p:txBody>
          <a:bodyPr>
            <a:normAutofit fontScale="90000"/>
          </a:bodyPr>
          <a:lstStyle/>
          <a:p>
            <a:r>
              <a:rPr lang="en-US" dirty="0"/>
              <a:t>Output Layer</a:t>
            </a:r>
          </a:p>
        </p:txBody>
      </p:sp>
      <p:sp>
        <p:nvSpPr>
          <p:cNvPr id="3" name="Content Placeholder 2">
            <a:extLst>
              <a:ext uri="{FF2B5EF4-FFF2-40B4-BE49-F238E27FC236}">
                <a16:creationId xmlns:a16="http://schemas.microsoft.com/office/drawing/2014/main" id="{0920F7F0-2FC5-EE73-8B88-283190D14AAB}"/>
              </a:ext>
            </a:extLst>
          </p:cNvPr>
          <p:cNvSpPr>
            <a:spLocks noGrp="1"/>
          </p:cNvSpPr>
          <p:nvPr>
            <p:ph idx="1"/>
          </p:nvPr>
        </p:nvSpPr>
        <p:spPr/>
        <p:txBody>
          <a:bodyPr>
            <a:normAutofit/>
          </a:bodyPr>
          <a:lstStyle/>
          <a:p>
            <a:pPr lvl="0"/>
            <a:r>
              <a:rPr lang="en-US" dirty="0"/>
              <a:t>Produces the final output or prediction</a:t>
            </a:r>
          </a:p>
          <a:p>
            <a:pPr lvl="0"/>
            <a:r>
              <a:rPr lang="en-US" dirty="0"/>
              <a:t>Number of neurons depends on classes (classification) or outputs (regression)</a:t>
            </a:r>
          </a:p>
          <a:p>
            <a:pPr lvl="0"/>
            <a:r>
              <a:rPr lang="en-US" dirty="0"/>
              <a:t>Uses different activation functions based on the task</a:t>
            </a:r>
          </a:p>
          <a:p>
            <a:pPr lvl="1"/>
            <a:r>
              <a:rPr lang="en-US" dirty="0" err="1"/>
              <a:t>Softmax</a:t>
            </a:r>
            <a:r>
              <a:rPr lang="en-US" dirty="0"/>
              <a:t> for multi-class classification</a:t>
            </a:r>
          </a:p>
          <a:p>
            <a:pPr lvl="1"/>
            <a:r>
              <a:rPr lang="en-US" dirty="0"/>
              <a:t>Sigmoid for binary classification</a:t>
            </a:r>
          </a:p>
          <a:p>
            <a:pPr lvl="1"/>
            <a:r>
              <a:rPr lang="en-US" dirty="0"/>
              <a:t>Linear for regression</a:t>
            </a:r>
          </a:p>
          <a:p>
            <a:endParaRPr lang="en-US" dirty="0"/>
          </a:p>
        </p:txBody>
      </p:sp>
      <p:sp>
        <p:nvSpPr>
          <p:cNvPr id="4" name="Footer Placeholder 3">
            <a:extLst>
              <a:ext uri="{FF2B5EF4-FFF2-40B4-BE49-F238E27FC236}">
                <a16:creationId xmlns:a16="http://schemas.microsoft.com/office/drawing/2014/main" id="{7BF3483C-7937-628B-D157-D9F5AB5C0E20}"/>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B25B3A0A-35F4-59E2-5145-88AD7795B369}"/>
              </a:ext>
            </a:extLst>
          </p:cNvPr>
          <p:cNvSpPr>
            <a:spLocks noGrp="1"/>
          </p:cNvSpPr>
          <p:nvPr>
            <p:ph type="sldNum" sz="quarter" idx="12"/>
          </p:nvPr>
        </p:nvSpPr>
        <p:spPr/>
        <p:txBody>
          <a:bodyPr/>
          <a:lstStyle/>
          <a:p>
            <a:fld id="{10A4AB6E-1AC4-C44F-A0CC-883A0306AF8B}" type="slidenum">
              <a:rPr lang="en-US" smtClean="0"/>
              <a:t>11</a:t>
            </a:fld>
            <a:endParaRPr lang="en-US"/>
          </a:p>
        </p:txBody>
      </p:sp>
      <p:pic>
        <p:nvPicPr>
          <p:cNvPr id="7"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wo outputs.">
            <a:extLst>
              <a:ext uri="{FF2B5EF4-FFF2-40B4-BE49-F238E27FC236}">
                <a16:creationId xmlns:a16="http://schemas.microsoft.com/office/drawing/2014/main" id="{165B7D07-9FC8-54DF-F8FE-B2382824458A}"/>
              </a:ext>
            </a:extLst>
          </p:cNvPr>
          <p:cNvPicPr>
            <a:picLocks noChangeAspect="1"/>
          </p:cNvPicPr>
          <p:nvPr/>
        </p:nvPicPr>
        <p:blipFill>
          <a:blip r:embed="rId2"/>
          <a:stretch>
            <a:fillRect/>
          </a:stretch>
        </p:blipFill>
        <p:spPr>
          <a:xfrm>
            <a:off x="3581401" y="3904738"/>
            <a:ext cx="4937382" cy="2465395"/>
          </a:xfrm>
          <a:prstGeom prst="rect">
            <a:avLst/>
          </a:prstGeom>
        </p:spPr>
      </p:pic>
    </p:spTree>
    <p:extLst>
      <p:ext uri="{BB962C8B-B14F-4D97-AF65-F5344CB8AC3E}">
        <p14:creationId xmlns:p14="http://schemas.microsoft.com/office/powerpoint/2010/main" val="2366590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7148-2F1A-A10D-DF82-3EDCF2E98BB5}"/>
              </a:ext>
            </a:extLst>
          </p:cNvPr>
          <p:cNvSpPr>
            <a:spLocks noGrp="1"/>
          </p:cNvSpPr>
          <p:nvPr>
            <p:ph type="title"/>
          </p:nvPr>
        </p:nvSpPr>
        <p:spPr/>
        <p:txBody>
          <a:bodyPr>
            <a:normAutofit fontScale="90000"/>
          </a:bodyPr>
          <a:lstStyle/>
          <a:p>
            <a:r>
              <a:rPr lang="en-US" dirty="0"/>
              <a:t>Activation Function</a:t>
            </a:r>
          </a:p>
        </p:txBody>
      </p:sp>
      <p:sp>
        <p:nvSpPr>
          <p:cNvPr id="3" name="Content Placeholder 2">
            <a:extLst>
              <a:ext uri="{FF2B5EF4-FFF2-40B4-BE49-F238E27FC236}">
                <a16:creationId xmlns:a16="http://schemas.microsoft.com/office/drawing/2014/main" id="{1C6B59C1-6B32-CBD9-FB90-774B5379CE89}"/>
              </a:ext>
            </a:extLst>
          </p:cNvPr>
          <p:cNvSpPr>
            <a:spLocks noGrp="1"/>
          </p:cNvSpPr>
          <p:nvPr>
            <p:ph idx="1"/>
          </p:nvPr>
        </p:nvSpPr>
        <p:spPr/>
        <p:txBody>
          <a:bodyPr>
            <a:normAutofit/>
          </a:bodyPr>
          <a:lstStyle/>
          <a:p>
            <a:r>
              <a:rPr lang="en-US" dirty="0"/>
              <a:t>Activation functions decide how much signal passes forward.</a:t>
            </a:r>
          </a:p>
        </p:txBody>
      </p:sp>
      <p:sp>
        <p:nvSpPr>
          <p:cNvPr id="4" name="Footer Placeholder 3">
            <a:extLst>
              <a:ext uri="{FF2B5EF4-FFF2-40B4-BE49-F238E27FC236}">
                <a16:creationId xmlns:a16="http://schemas.microsoft.com/office/drawing/2014/main" id="{7D6DC601-0AD2-A9A2-CFB8-46660830283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FC3429A-E093-A0CE-F837-5DC5AD02BEFB}"/>
              </a:ext>
            </a:extLst>
          </p:cNvPr>
          <p:cNvSpPr>
            <a:spLocks noGrp="1"/>
          </p:cNvSpPr>
          <p:nvPr>
            <p:ph type="sldNum" sz="quarter" idx="12"/>
          </p:nvPr>
        </p:nvSpPr>
        <p:spPr/>
        <p:txBody>
          <a:bodyPr/>
          <a:lstStyle/>
          <a:p>
            <a:fld id="{10A4AB6E-1AC4-C44F-A0CC-883A0306AF8B}" type="slidenum">
              <a:rPr lang="en-US" smtClean="0"/>
              <a:t>12</a:t>
            </a:fld>
            <a:endParaRPr lang="en-US"/>
          </a:p>
        </p:txBody>
      </p:sp>
      <p:pic>
        <p:nvPicPr>
          <p:cNvPr id="8" name="Picture 7" descr="Line chart titled “Common activation functions” compares output versus x for ReLU, sigmoid, and tanh across x = −5 to 5. Red ReLU stays at 0 for negative x then rises linearly to 5, while green sigmoid and blue tanh transition smoothly and saturate near 1; tanh starts near −1 and crosses 0 at x = 0.">
            <a:extLst>
              <a:ext uri="{FF2B5EF4-FFF2-40B4-BE49-F238E27FC236}">
                <a16:creationId xmlns:a16="http://schemas.microsoft.com/office/drawing/2014/main" id="{19CE9B0C-1B06-7A70-0062-3F7FF8E61192}"/>
              </a:ext>
            </a:extLst>
          </p:cNvPr>
          <p:cNvPicPr>
            <a:picLocks noChangeAspect="1"/>
          </p:cNvPicPr>
          <p:nvPr/>
        </p:nvPicPr>
        <p:blipFill>
          <a:blip r:embed="rId3"/>
          <a:stretch>
            <a:fillRect/>
          </a:stretch>
        </p:blipFill>
        <p:spPr>
          <a:xfrm>
            <a:off x="2732559" y="1995076"/>
            <a:ext cx="6726881" cy="4151446"/>
          </a:xfrm>
          <a:prstGeom prst="rect">
            <a:avLst/>
          </a:prstGeom>
        </p:spPr>
      </p:pic>
    </p:spTree>
    <p:extLst>
      <p:ext uri="{BB962C8B-B14F-4D97-AF65-F5344CB8AC3E}">
        <p14:creationId xmlns:p14="http://schemas.microsoft.com/office/powerpoint/2010/main" val="69830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84CA-F98D-B740-DD36-7A8B3055BC96}"/>
              </a:ext>
            </a:extLst>
          </p:cNvPr>
          <p:cNvSpPr>
            <a:spLocks noGrp="1"/>
          </p:cNvSpPr>
          <p:nvPr>
            <p:ph type="title"/>
          </p:nvPr>
        </p:nvSpPr>
        <p:spPr/>
        <p:txBody>
          <a:bodyPr>
            <a:normAutofit fontScale="90000"/>
          </a:bodyPr>
          <a:lstStyle/>
          <a:p>
            <a:r>
              <a:rPr lang="en-US" dirty="0"/>
              <a:t>Sigmoid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B6E616-1951-026A-5173-815CDE3CD121}"/>
                  </a:ext>
                </a:extLst>
              </p:cNvPr>
              <p:cNvSpPr>
                <a:spLocks noGrp="1"/>
              </p:cNvSpPr>
              <p:nvPr>
                <p:ph idx="1"/>
              </p:nvPr>
            </p:nvSpPr>
            <p:spPr/>
            <p:txBody>
              <a:bodyPr>
                <a:normAutofit lnSpcReduction="10000"/>
              </a:bodyPr>
              <a:lstStyle/>
              <a:p>
                <a:pPr marL="0" indent="0">
                  <a:buNone/>
                </a:pPr>
                <a:r>
                  <a:rPr lang="en-US" dirty="0"/>
                  <a:t>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a:latin typeface="Cambria Math" panose="02040503050406030204" pitchFamily="18" charset="0"/>
                              </a:rPr>
                              <m:t>−</m:t>
                            </m:r>
                            <m:r>
                              <a:rPr lang="en-US" i="1">
                                <a:latin typeface="Cambria Math" panose="02040503050406030204" pitchFamily="18" charset="0"/>
                              </a:rPr>
                              <m:t>𝑥</m:t>
                            </m:r>
                          </m:sup>
                        </m:sSup>
                      </m:den>
                    </m:f>
                  </m:oMath>
                </a14:m>
                <a:r>
                  <a:rPr lang="en-US" dirty="0">
                    <a:effectLst/>
                  </a:rPr>
                  <a:t>​</a:t>
                </a:r>
                <a:endParaRPr lang="en-US" dirty="0"/>
              </a:p>
              <a:p>
                <a:r>
                  <a:rPr lang="en-US" dirty="0"/>
                  <a:t>Characterized by 'S' shape. </a:t>
                </a:r>
              </a:p>
              <a:p>
                <a:r>
                  <a:rPr lang="en-US" dirty="0">
                    <a:effectLst/>
                  </a:rPr>
                  <a:t>This formula ensures a smooth and continuous output that is essential for gradient-based optimization methods.</a:t>
                </a:r>
              </a:p>
              <a:p>
                <a:pPr lvl="0"/>
                <a:r>
                  <a:rPr lang="en-US" dirty="0"/>
                  <a:t>It allows neural networks to handle and model complex patterns that linear equations cannot. </a:t>
                </a:r>
              </a:p>
              <a:p>
                <a:pPr lvl="0"/>
                <a:r>
                  <a:rPr lang="en-US" dirty="0"/>
                  <a:t>The output ranges between 0 and 1, hence useful for binary classification. </a:t>
                </a:r>
              </a:p>
              <a:p>
                <a:pPr lvl="0"/>
                <a:r>
                  <a:rPr lang="en-US" dirty="0"/>
                  <a:t>The function exhibits a steep gradient when x values are between -2 and 2. This sensitivity means that small changes in input x can cause significant changes in output y which is critical during the training process.</a:t>
                </a:r>
              </a:p>
              <a:p>
                <a:endParaRPr lang="en-US" dirty="0"/>
              </a:p>
            </p:txBody>
          </p:sp>
        </mc:Choice>
        <mc:Fallback xmlns="">
          <p:sp>
            <p:nvSpPr>
              <p:cNvPr id="3" name="Content Placeholder 2">
                <a:extLst>
                  <a:ext uri="{FF2B5EF4-FFF2-40B4-BE49-F238E27FC236}">
                    <a16:creationId xmlns:a16="http://schemas.microsoft.com/office/drawing/2014/main" id="{93B6E616-1951-026A-5173-815CDE3CD121}"/>
                  </a:ext>
                </a:extLst>
              </p:cNvPr>
              <p:cNvSpPr>
                <a:spLocks noGrp="1" noRot="1" noChangeAspect="1" noMove="1" noResize="1" noEditPoints="1" noAdjustHandles="1" noChangeArrowheads="1" noChangeShapeType="1" noTextEdit="1"/>
              </p:cNvSpPr>
              <p:nvPr>
                <p:ph idx="1"/>
              </p:nvPr>
            </p:nvSpPr>
            <p:spPr>
              <a:blipFill>
                <a:blip r:embed="rId2"/>
                <a:stretch>
                  <a:fillRect l="-1086" t="-1266" r="-603" b="-3291"/>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62012B0-0C0C-E365-E17D-0FBE92E3B06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CC08D98-4C8C-21C9-3A98-DF6C4CECF54B}"/>
              </a:ext>
            </a:extLst>
          </p:cNvPr>
          <p:cNvSpPr>
            <a:spLocks noGrp="1"/>
          </p:cNvSpPr>
          <p:nvPr>
            <p:ph type="sldNum" sz="quarter" idx="12"/>
          </p:nvPr>
        </p:nvSpPr>
        <p:spPr/>
        <p:txBody>
          <a:bodyPr/>
          <a:lstStyle/>
          <a:p>
            <a:fld id="{10A4AB6E-1AC4-C44F-A0CC-883A0306AF8B}" type="slidenum">
              <a:rPr lang="en-US" smtClean="0"/>
              <a:t>13</a:t>
            </a:fld>
            <a:endParaRPr lang="en-US"/>
          </a:p>
        </p:txBody>
      </p:sp>
    </p:spTree>
    <p:extLst>
      <p:ext uri="{BB962C8B-B14F-4D97-AF65-F5344CB8AC3E}">
        <p14:creationId xmlns:p14="http://schemas.microsoft.com/office/powerpoint/2010/main" val="3654188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F062-9C62-D621-2F50-1F8B3DCDA366}"/>
              </a:ext>
            </a:extLst>
          </p:cNvPr>
          <p:cNvSpPr>
            <a:spLocks noGrp="1"/>
          </p:cNvSpPr>
          <p:nvPr>
            <p:ph type="title"/>
          </p:nvPr>
        </p:nvSpPr>
        <p:spPr/>
        <p:txBody>
          <a:bodyPr>
            <a:normAutofit fontScale="90000"/>
          </a:bodyPr>
          <a:lstStyle/>
          <a:p>
            <a:r>
              <a:rPr lang="en-US" dirty="0"/>
              <a:t>Tanh Activation Function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EAAF68A-D2E6-90D9-76E8-3383D685CC41}"/>
                  </a:ext>
                </a:extLst>
              </p:cNvPr>
              <p:cNvSpPr>
                <a:spLocks noGrp="1"/>
              </p:cNvSpPr>
              <p:nvPr>
                <p:ph idx="1"/>
              </p:nvPr>
            </p:nvSpPr>
            <p:spPr/>
            <p:txBody>
              <a:bodyPr/>
              <a:lstStyle/>
              <a:p>
                <a:r>
                  <a:rPr lang="en-US" dirty="0"/>
                  <a:t>A</a:t>
                </a:r>
                <a:r>
                  <a:rPr lang="en-US" dirty="0">
                    <a:effectLst/>
                  </a:rPr>
                  <a:t> shifted version of the sigmoid, allowing it to stretch across the y-axis. It is defined as: </a:t>
                </a:r>
              </a:p>
              <a:p>
                <a:pPr marL="0" indent="0">
                  <a:buNone/>
                </a:pPr>
                <a14:m>
                  <m:oMathPara xmlns:m="http://schemas.openxmlformats.org/officeDocument/2006/math">
                    <m:o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r>
                        <m:rPr>
                          <m:sty m:val="p"/>
                        </m:rPr>
                        <a:rPr lang="en-US">
                          <a:latin typeface="Cambria Math" panose="02040503050406030204" pitchFamily="18" charset="0"/>
                        </a:rPr>
                        <m:t>tanh</m:t>
                      </m:r>
                      <m:r>
                        <a:rPr lang="en-US">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a:latin typeface="Cambria Math" panose="02040503050406030204" pitchFamily="18" charset="0"/>
                                </a:rPr>
                                <m:t>−2</m:t>
                              </m:r>
                              <m:r>
                                <a:rPr lang="en-US" i="1">
                                  <a:latin typeface="Cambria Math" panose="02040503050406030204" pitchFamily="18" charset="0"/>
                                </a:rPr>
                                <m:t>𝑥</m:t>
                              </m:r>
                            </m:sup>
                          </m:sSup>
                        </m:den>
                      </m:f>
                      <m:r>
                        <a:rPr lang="en-US">
                          <a:latin typeface="Cambria Math" panose="02040503050406030204" pitchFamily="18" charset="0"/>
                        </a:rPr>
                        <m:t>−1.</m:t>
                      </m:r>
                    </m:oMath>
                  </m:oMathPara>
                </a14:m>
                <a:endParaRPr lang="en-US" dirty="0">
                  <a:effectLst/>
                </a:endParaRPr>
              </a:p>
              <a:p>
                <a:pPr lvl="0"/>
                <a:r>
                  <a:rPr lang="en-US" dirty="0"/>
                  <a:t>Outputs values from -1 to +1.</a:t>
                </a:r>
              </a:p>
              <a:p>
                <a:pPr lvl="0"/>
                <a:r>
                  <a:rPr lang="en-US" dirty="0"/>
                  <a:t>Enables modeling of complex data patterns.</a:t>
                </a:r>
              </a:p>
              <a:p>
                <a:pPr lvl="0"/>
                <a:r>
                  <a:rPr lang="en-US" dirty="0"/>
                  <a:t>Commonly used in hidden layers due to its zero-centered output, facilitating easier learning for subsequent layers.</a:t>
                </a:r>
              </a:p>
              <a:p>
                <a:endParaRPr lang="en-US" dirty="0"/>
              </a:p>
            </p:txBody>
          </p:sp>
        </mc:Choice>
        <mc:Fallback xmlns="">
          <p:sp>
            <p:nvSpPr>
              <p:cNvPr id="3" name="Content Placeholder 2">
                <a:extLst>
                  <a:ext uri="{FF2B5EF4-FFF2-40B4-BE49-F238E27FC236}">
                    <a16:creationId xmlns:a16="http://schemas.microsoft.com/office/drawing/2014/main" id="{FEAAF68A-D2E6-90D9-76E8-3383D685CC41}"/>
                  </a:ext>
                </a:extLst>
              </p:cNvPr>
              <p:cNvSpPr>
                <a:spLocks noGrp="1" noRot="1" noChangeAspect="1" noMove="1" noResize="1" noEditPoints="1" noAdjustHandles="1" noChangeArrowheads="1" noChangeShapeType="1" noTextEdit="1"/>
              </p:cNvSpPr>
              <p:nvPr>
                <p:ph idx="1"/>
              </p:nvPr>
            </p:nvSpPr>
            <p:spPr>
              <a:blipFill>
                <a:blip r:embed="rId2"/>
                <a:stretch>
                  <a:fillRect l="-1086" t="-2025" r="-60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559B4A9-FC0E-82BB-21AA-7A1B04D02A7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2C9EAAE-B97A-4260-0E71-FC4611922448}"/>
              </a:ext>
            </a:extLst>
          </p:cNvPr>
          <p:cNvSpPr>
            <a:spLocks noGrp="1"/>
          </p:cNvSpPr>
          <p:nvPr>
            <p:ph type="sldNum" sz="quarter" idx="12"/>
          </p:nvPr>
        </p:nvSpPr>
        <p:spPr/>
        <p:txBody>
          <a:bodyPr/>
          <a:lstStyle/>
          <a:p>
            <a:fld id="{10A4AB6E-1AC4-C44F-A0CC-883A0306AF8B}" type="slidenum">
              <a:rPr lang="en-US" smtClean="0"/>
              <a:t>14</a:t>
            </a:fld>
            <a:endParaRPr lang="en-US"/>
          </a:p>
        </p:txBody>
      </p:sp>
    </p:spTree>
    <p:extLst>
      <p:ext uri="{BB962C8B-B14F-4D97-AF65-F5344CB8AC3E}">
        <p14:creationId xmlns:p14="http://schemas.microsoft.com/office/powerpoint/2010/main" val="2055765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C98B5-E126-DA00-1FC7-D1DCF862358B}"/>
              </a:ext>
            </a:extLst>
          </p:cNvPr>
          <p:cNvSpPr>
            <a:spLocks noGrp="1"/>
          </p:cNvSpPr>
          <p:nvPr>
            <p:ph type="title"/>
          </p:nvPr>
        </p:nvSpPr>
        <p:spPr/>
        <p:txBody>
          <a:bodyPr>
            <a:normAutofit fontScale="90000"/>
          </a:bodyPr>
          <a:lstStyle/>
          <a:p>
            <a:r>
              <a:rPr lang="en-US" dirty="0" err="1"/>
              <a:t>ReLU</a:t>
            </a:r>
            <a:r>
              <a:rPr lang="en-US" dirty="0"/>
              <a:t> (Rectified Linear Unit) Function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7EB278-EEEF-174E-1C18-7DFC96F93293}"/>
                  </a:ext>
                </a:extLst>
              </p:cNvPr>
              <p:cNvSpPr>
                <a:spLocks noGrp="1"/>
              </p:cNvSpPr>
              <p:nvPr>
                <p:ph idx="1"/>
              </p:nvPr>
            </p:nvSpPr>
            <p:spPr/>
            <p:txBody>
              <a:bodyPr>
                <a:normAutofit lnSpcReduction="10000"/>
              </a:bodyPr>
              <a:lstStyle/>
              <a:p>
                <a:pPr marL="0" indent="0">
                  <a:buNone/>
                </a:pPr>
                <a14:m>
                  <m:oMathPara xmlns:m="http://schemas.openxmlformats.org/officeDocument/2006/math">
                    <m:oMath>
                      <m:r>
                        <a:rPr lang="en-US" i="1" smtClean="0">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max</m:t>
                          </m:r>
                        </m:fName>
                        <m:e>
                          <m:d>
                            <m:dPr>
                              <m:sepChr m:val=","/>
                              <m:ctrlPr>
                                <a:rPr lang="en-US">
                                  <a:latin typeface="Cambria Math" panose="02040503050406030204" pitchFamily="18" charset="0"/>
                                </a:rPr>
                              </m:ctrlPr>
                            </m:dPr>
                            <m:e>
                              <m:r>
                                <a:rPr lang="en-US">
                                  <a:latin typeface="Cambria Math" panose="02040503050406030204" pitchFamily="18" charset="0"/>
                                </a:rPr>
                                <m:t>0</m:t>
                              </m:r>
                            </m:e>
                            <m:e>
                              <m:r>
                                <a:rPr lang="en-US" i="1">
                                  <a:latin typeface="Cambria Math" panose="02040503050406030204" pitchFamily="18" charset="0"/>
                                </a:rPr>
                                <m:t>𝑥</m:t>
                              </m:r>
                            </m:e>
                          </m:d>
                        </m:e>
                      </m:func>
                    </m:oMath>
                  </m:oMathPara>
                </a14:m>
                <a:endParaRPr lang="en-US" dirty="0"/>
              </a:p>
              <a:p>
                <a:r>
                  <a:rPr lang="en-US" dirty="0"/>
                  <a:t>I</a:t>
                </a:r>
                <a:r>
                  <a:rPr lang="en-US" dirty="0">
                    <a:effectLst/>
                  </a:rPr>
                  <a:t>f the input x is positive, </a:t>
                </a:r>
                <a:r>
                  <a:rPr lang="en-US" dirty="0" err="1">
                    <a:effectLst/>
                  </a:rPr>
                  <a:t>ReLU</a:t>
                </a:r>
                <a:r>
                  <a:rPr lang="en-US" dirty="0">
                    <a:effectLst/>
                  </a:rPr>
                  <a:t> returns x</a:t>
                </a:r>
                <a:endParaRPr lang="en-US" dirty="0"/>
              </a:p>
              <a:p>
                <a:r>
                  <a:rPr lang="en-US" dirty="0"/>
                  <a:t>I</a:t>
                </a:r>
                <a:r>
                  <a:rPr lang="en-US" dirty="0">
                    <a:effectLst/>
                  </a:rPr>
                  <a:t>f the input is negative, it returns 0. </a:t>
                </a:r>
              </a:p>
              <a:p>
                <a:pPr lvl="0"/>
                <a:r>
                  <a:rPr lang="en-US" dirty="0"/>
                  <a:t>Value Range is</a:t>
                </a:r>
                <a14:m>
                  <m:oMath xmlns:m="http://schemas.openxmlformats.org/officeDocument/2006/math">
                    <m:d>
                      <m:dPr>
                        <m:begChr m:val="["/>
                        <m:sepChr m:val=","/>
                        <m:ctrlPr>
                          <a:rPr lang="en-US">
                            <a:latin typeface="Cambria Math" panose="02040503050406030204" pitchFamily="18" charset="0"/>
                          </a:rPr>
                        </m:ctrlPr>
                      </m:dPr>
                      <m:e>
                        <m:r>
                          <a:rPr lang="en-US">
                            <a:latin typeface="Cambria Math" panose="02040503050406030204" pitchFamily="18" charset="0"/>
                          </a:rPr>
                          <m:t>0</m:t>
                        </m:r>
                      </m:e>
                      <m:e>
                        <m:r>
                          <a:rPr lang="en-US">
                            <a:latin typeface="Cambria Math" panose="02040503050406030204" pitchFamily="18" charset="0"/>
                          </a:rPr>
                          <m:t>∞</m:t>
                        </m:r>
                      </m:e>
                    </m:d>
                  </m:oMath>
                </a14:m>
                <a:r>
                  <a:rPr lang="en-US" dirty="0"/>
                  <a:t>, meaning the function only outputs non-negative values.</a:t>
                </a:r>
              </a:p>
              <a:p>
                <a:pPr lvl="0"/>
                <a:r>
                  <a:rPr lang="en-US" dirty="0"/>
                  <a:t>Introduces non-linearity, enabling learning of complex patterns</a:t>
                </a:r>
              </a:p>
              <a:p>
                <a:pPr lvl="0"/>
                <a:r>
                  <a:rPr lang="en-US" dirty="0"/>
                  <a:t>Computationally efficient due to simple operations</a:t>
                </a:r>
              </a:p>
              <a:p>
                <a:pPr lvl="0"/>
                <a:r>
                  <a:rPr lang="en-US" dirty="0"/>
                  <a:t>Activates only positive neurons, making the network sparse and efficient</a:t>
                </a:r>
              </a:p>
              <a:p>
                <a:pPr lvl="0"/>
                <a:r>
                  <a:rPr lang="en-US" dirty="0"/>
                  <a:t>Commonly used in hidden layers for faster training and better performance</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FD7EB278-EEEF-174E-1C18-7DFC96F93293}"/>
                  </a:ext>
                </a:extLst>
              </p:cNvPr>
              <p:cNvSpPr>
                <a:spLocks noGrp="1" noRot="1" noChangeAspect="1" noMove="1" noResize="1" noEditPoints="1" noAdjustHandles="1" noChangeArrowheads="1" noChangeShapeType="1" noTextEdit="1"/>
              </p:cNvSpPr>
              <p:nvPr>
                <p:ph idx="1"/>
              </p:nvPr>
            </p:nvSpPr>
            <p:spPr>
              <a:blipFill>
                <a:blip r:embed="rId2"/>
                <a:stretch>
                  <a:fillRect l="-108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EB650F16-6E77-DE1D-5B38-8CFD4071A0EE}"/>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1E96D48-E4CE-FDEA-4EB0-310765D11474}"/>
              </a:ext>
            </a:extLst>
          </p:cNvPr>
          <p:cNvSpPr>
            <a:spLocks noGrp="1"/>
          </p:cNvSpPr>
          <p:nvPr>
            <p:ph type="sldNum" sz="quarter" idx="12"/>
          </p:nvPr>
        </p:nvSpPr>
        <p:spPr/>
        <p:txBody>
          <a:bodyPr/>
          <a:lstStyle/>
          <a:p>
            <a:fld id="{10A4AB6E-1AC4-C44F-A0CC-883A0306AF8B}" type="slidenum">
              <a:rPr lang="en-US" smtClean="0"/>
              <a:t>15</a:t>
            </a:fld>
            <a:endParaRPr lang="en-US"/>
          </a:p>
        </p:txBody>
      </p:sp>
    </p:spTree>
    <p:extLst>
      <p:ext uri="{BB962C8B-B14F-4D97-AF65-F5344CB8AC3E}">
        <p14:creationId xmlns:p14="http://schemas.microsoft.com/office/powerpoint/2010/main" val="3194569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05AD2-68D4-D31E-9EE6-9F2D2FE2782A}"/>
              </a:ext>
            </a:extLst>
          </p:cNvPr>
          <p:cNvSpPr>
            <a:spLocks noGrp="1"/>
          </p:cNvSpPr>
          <p:nvPr>
            <p:ph type="title"/>
          </p:nvPr>
        </p:nvSpPr>
        <p:spPr/>
        <p:txBody>
          <a:bodyPr>
            <a:normAutofit fontScale="90000"/>
          </a:bodyPr>
          <a:lstStyle/>
          <a:p>
            <a:r>
              <a:rPr lang="en-US" dirty="0" err="1"/>
              <a:t>SoftPlus</a:t>
            </a:r>
            <a:r>
              <a:rPr lang="en-US" dirty="0"/>
              <a:t> Function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A6B3ED-9639-52BC-55EB-2FB7A697435F}"/>
                  </a:ext>
                </a:extLst>
              </p:cNvPr>
              <p:cNvSpPr>
                <a:spLocks noGrp="1"/>
              </p:cNvSpPr>
              <p:nvPr>
                <p:ph idx="1"/>
              </p:nvPr>
            </p:nvSpPr>
            <p:spPr/>
            <p:txBody>
              <a:bodyPr/>
              <a:lstStyle/>
              <a:p>
                <a:pPr marL="0" indent="0">
                  <a:buNone/>
                </a:pPr>
                <a14:m>
                  <m:oMathPara xmlns:m="http://schemas.openxmlformats.org/officeDocument/2006/math">
                    <m:oMath>
                      <m:r>
                        <a:rPr lang="en-US" i="1" smtClean="0">
                          <a:latin typeface="Cambria Math" panose="02040503050406030204" pitchFamily="18" charset="0"/>
                        </a:rPr>
                        <m:t>𝐴</m:t>
                      </m:r>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func>
                        <m:funcPr>
                          <m:ctrlPr>
                            <a:rPr lang="en-US">
                              <a:latin typeface="Cambria Math" panose="02040503050406030204" pitchFamily="18" charset="0"/>
                            </a:rPr>
                          </m:ctrlPr>
                        </m:funcPr>
                        <m:fName>
                          <m:r>
                            <m:rPr>
                              <m:sty m:val="p"/>
                            </m:rPr>
                            <a:rPr lang="en-US">
                              <a:latin typeface="Cambria Math" panose="02040503050406030204" pitchFamily="18" charset="0"/>
                            </a:rPr>
                            <m:t>log</m:t>
                          </m:r>
                        </m:fName>
                        <m:e>
                          <m:d>
                            <m:dPr>
                              <m:ctrlPr>
                                <a:rPr lang="en-US">
                                  <a:latin typeface="Cambria Math" panose="02040503050406030204" pitchFamily="18" charset="0"/>
                                </a:rPr>
                              </m:ctrlPr>
                            </m:dPr>
                            <m:e>
                              <m:r>
                                <a:rPr lang="en-US">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𝑥</m:t>
                                  </m:r>
                                </m:sup>
                              </m:sSup>
                            </m:e>
                          </m:d>
                        </m:e>
                      </m:func>
                    </m:oMath>
                  </m:oMathPara>
                </a14:m>
                <a:endParaRPr lang="en-US" dirty="0"/>
              </a:p>
              <a:p>
                <a:r>
                  <a:rPr lang="en-US" dirty="0">
                    <a:effectLst/>
                  </a:rPr>
                  <a:t>Fully differentiable</a:t>
                </a:r>
              </a:p>
              <a:p>
                <a:pPr lvl="0"/>
                <a:r>
                  <a:rPr lang="en-US" dirty="0"/>
                  <a:t>non-linear</a:t>
                </a:r>
              </a:p>
              <a:p>
                <a:pPr lvl="0"/>
                <a:r>
                  <a:rPr lang="en-US" dirty="0"/>
                  <a:t>Range </a:t>
                </a:r>
                <a14:m>
                  <m:oMath xmlns:m="http://schemas.openxmlformats.org/officeDocument/2006/math">
                    <m:d>
                      <m:dPr>
                        <m:sepChr m:val=","/>
                        <m:ctrlPr>
                          <a:rPr lang="en-US">
                            <a:latin typeface="Cambria Math" panose="02040503050406030204" pitchFamily="18" charset="0"/>
                          </a:rPr>
                        </m:ctrlPr>
                      </m:dPr>
                      <m:e>
                        <m:r>
                          <a:rPr lang="en-US">
                            <a:latin typeface="Cambria Math" panose="02040503050406030204" pitchFamily="18" charset="0"/>
                          </a:rPr>
                          <m:t>0</m:t>
                        </m:r>
                      </m:e>
                      <m:e>
                        <m:r>
                          <a:rPr lang="en-US">
                            <a:latin typeface="Cambria Math" panose="02040503050406030204" pitchFamily="18" charset="0"/>
                          </a:rPr>
                          <m:t>∞</m:t>
                        </m:r>
                      </m:e>
                    </m:d>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12A6B3ED-9639-52BC-55EB-2FB7A697435F}"/>
                  </a:ext>
                </a:extLst>
              </p:cNvPr>
              <p:cNvSpPr>
                <a:spLocks noGrp="1" noRot="1" noChangeAspect="1" noMove="1" noResize="1" noEditPoints="1" noAdjustHandles="1" noChangeArrowheads="1" noChangeShapeType="1" noTextEdit="1"/>
              </p:cNvSpPr>
              <p:nvPr>
                <p:ph idx="1"/>
              </p:nvPr>
            </p:nvSpPr>
            <p:spPr>
              <a:blipFill>
                <a:blip r:embed="rId3"/>
                <a:stretch>
                  <a:fillRect l="-1086"/>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CB0F652-6C7D-BEFD-9E92-0B0F97FEE9D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4BD050E4-D214-49D0-2CCD-3A7FAB8FC1CA}"/>
              </a:ext>
            </a:extLst>
          </p:cNvPr>
          <p:cNvSpPr>
            <a:spLocks noGrp="1"/>
          </p:cNvSpPr>
          <p:nvPr>
            <p:ph type="sldNum" sz="quarter" idx="12"/>
          </p:nvPr>
        </p:nvSpPr>
        <p:spPr/>
        <p:txBody>
          <a:bodyPr/>
          <a:lstStyle/>
          <a:p>
            <a:fld id="{10A4AB6E-1AC4-C44F-A0CC-883A0306AF8B}" type="slidenum">
              <a:rPr lang="en-US" smtClean="0"/>
              <a:t>16</a:t>
            </a:fld>
            <a:endParaRPr lang="en-US"/>
          </a:p>
        </p:txBody>
      </p:sp>
      <p:pic>
        <p:nvPicPr>
          <p:cNvPr id="7" name="Picture 6" descr="Line graph titled “Softplus Activation Function,” showing neural-network input-output behavior across inputs from −10 to 10. Blue curve stays near zero for negative inputs, rises smoothly around zero, and reaches output 10 at input 10; axes label Input and Output, with gridlines and numeric ticks.&#10;&#10;">
            <a:extLst>
              <a:ext uri="{FF2B5EF4-FFF2-40B4-BE49-F238E27FC236}">
                <a16:creationId xmlns:a16="http://schemas.microsoft.com/office/drawing/2014/main" id="{1C949CA3-2878-F074-0821-4253073A3932}"/>
              </a:ext>
            </a:extLst>
          </p:cNvPr>
          <p:cNvPicPr>
            <a:picLocks noChangeAspect="1"/>
          </p:cNvPicPr>
          <p:nvPr/>
        </p:nvPicPr>
        <p:blipFill>
          <a:blip r:embed="rId4"/>
          <a:stretch>
            <a:fillRect/>
          </a:stretch>
        </p:blipFill>
        <p:spPr>
          <a:xfrm>
            <a:off x="3798132" y="2996777"/>
            <a:ext cx="4355268" cy="3254659"/>
          </a:xfrm>
          <a:prstGeom prst="rect">
            <a:avLst/>
          </a:prstGeom>
        </p:spPr>
      </p:pic>
    </p:spTree>
    <p:extLst>
      <p:ext uri="{BB962C8B-B14F-4D97-AF65-F5344CB8AC3E}">
        <p14:creationId xmlns:p14="http://schemas.microsoft.com/office/powerpoint/2010/main" val="1759346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28771-9D7D-7D08-73AC-118DFDEB7DF0}"/>
              </a:ext>
            </a:extLst>
          </p:cNvPr>
          <p:cNvSpPr>
            <a:spLocks noGrp="1"/>
          </p:cNvSpPr>
          <p:nvPr>
            <p:ph type="title"/>
          </p:nvPr>
        </p:nvSpPr>
        <p:spPr/>
        <p:txBody>
          <a:bodyPr>
            <a:normAutofit fontScale="90000"/>
          </a:bodyPr>
          <a:lstStyle/>
          <a:p>
            <a:r>
              <a:rPr lang="en-US" dirty="0"/>
              <a:t>Leaky </a:t>
            </a:r>
            <a:r>
              <a:rPr lang="en-US" dirty="0" err="1"/>
              <a:t>ReLU</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9B0B09-91C7-533C-BC11-8FC6DFB2C801}"/>
                  </a:ext>
                </a:extLst>
              </p:cNvPr>
              <p:cNvSpPr>
                <a:spLocks noGrp="1"/>
              </p:cNvSpPr>
              <p:nvPr>
                <p:ph idx="1"/>
              </p:nvPr>
            </p:nvSpPr>
            <p:spPr>
              <a:xfrm>
                <a:off x="838200" y="1135094"/>
                <a:ext cx="6501714" cy="5011428"/>
              </a:xfrm>
            </p:spPr>
            <p:txBody>
              <a:bodyPr/>
              <a:lstStyle/>
              <a:p>
                <a:pPr marL="0" indent="0">
                  <a:buNone/>
                </a:pPr>
                <a14:m>
                  <m:oMathPara xmlns:m="http://schemas.openxmlformats.org/officeDocument/2006/math">
                    <m:o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a:latin typeface="Cambria Math" panose="02040503050406030204" pitchFamily="18" charset="0"/>
                        </a:rPr>
                        <m:t>=</m:t>
                      </m:r>
                      <m:d>
                        <m:dPr>
                          <m:begChr m:val="{"/>
                          <m:endChr m:val=""/>
                          <m:ctrlPr>
                            <a:rPr lang="en-US" i="1">
                              <a:latin typeface="Cambria Math" panose="02040503050406030204" pitchFamily="18" charset="0"/>
                            </a:rPr>
                          </m:ctrlPr>
                        </m:dPr>
                        <m:e>
                          <m:m>
                            <m:mPr>
                              <m:plcHide m:val="on"/>
                              <m:mcs>
                                <m:mc>
                                  <m:mcPr>
                                    <m:count m:val="2"/>
                                    <m:mcJc m:val="center"/>
                                  </m:mcPr>
                                </m:mc>
                              </m:mcs>
                              <m:ctrlPr>
                                <a:rPr lang="en-US" i="1">
                                  <a:latin typeface="Cambria Math" panose="02040503050406030204" pitchFamily="18" charset="0"/>
                                </a:rPr>
                              </m:ctrlPr>
                            </m:mPr>
                            <m:mr>
                              <m:e>
                                <m:r>
                                  <a:rPr lang="en-US" i="1">
                                    <a:latin typeface="Cambria Math" panose="02040503050406030204" pitchFamily="18" charset="0"/>
                                  </a:rPr>
                                  <m:t>𝑥</m:t>
                                </m:r>
                                <m:r>
                                  <a:rPr lang="en-US">
                                    <a:latin typeface="Cambria Math" panose="02040503050406030204" pitchFamily="18" charset="0"/>
                                  </a:rPr>
                                  <m:t>,</m:t>
                                </m:r>
                              </m:e>
                              <m:e>
                                <m:r>
                                  <a:rPr lang="en-US" i="1">
                                    <a:latin typeface="Cambria Math" panose="02040503050406030204" pitchFamily="18" charset="0"/>
                                  </a:rPr>
                                  <m:t>𝑥</m:t>
                                </m:r>
                                <m:r>
                                  <a:rPr lang="en-US">
                                    <a:latin typeface="Cambria Math" panose="02040503050406030204" pitchFamily="18" charset="0"/>
                                  </a:rPr>
                                  <m:t>&gt;0</m:t>
                                </m:r>
                              </m:e>
                            </m:mr>
                            <m:mr>
                              <m:e>
                                <m:r>
                                  <a:rPr lang="en-US" i="1">
                                    <a:latin typeface="Cambria Math" panose="02040503050406030204" pitchFamily="18" charset="0"/>
                                  </a:rPr>
                                  <m:t>𝛼</m:t>
                                </m:r>
                                <m:r>
                                  <a:rPr lang="en-US" i="1">
                                    <a:latin typeface="Cambria Math" panose="02040503050406030204" pitchFamily="18" charset="0"/>
                                  </a:rPr>
                                  <m:t>𝑥</m:t>
                                </m:r>
                                <m:r>
                                  <a:rPr lang="en-US">
                                    <a:latin typeface="Cambria Math" panose="02040503050406030204" pitchFamily="18" charset="0"/>
                                  </a:rPr>
                                  <m:t>,</m:t>
                                </m:r>
                              </m:e>
                              <m:e>
                                <m:r>
                                  <a:rPr lang="en-US" i="1">
                                    <a:latin typeface="Cambria Math" panose="02040503050406030204" pitchFamily="18" charset="0"/>
                                  </a:rPr>
                                  <m:t>𝑥</m:t>
                                </m:r>
                                <m:r>
                                  <a:rPr lang="en-US">
                                    <a:latin typeface="Cambria Math" panose="02040503050406030204" pitchFamily="18" charset="0"/>
                                  </a:rPr>
                                  <m:t>≤0</m:t>
                                </m:r>
                              </m:e>
                            </m:mr>
                          </m:m>
                        </m:e>
                      </m:d>
                    </m:oMath>
                  </m:oMathPara>
                </a14:m>
                <a:endParaRPr lang="en-US" dirty="0">
                  <a:effectLst/>
                </a:endParaRPr>
              </a:p>
              <a:p>
                <a:pPr lvl="0"/>
                <a:r>
                  <a:rPr lang="en-US" dirty="0"/>
                  <a:t>Allows a small negative slope (</a:t>
                </a:r>
                <a14:m>
                  <m:oMath xmlns:m="http://schemas.openxmlformats.org/officeDocument/2006/math">
                    <m:r>
                      <a:rPr lang="en-US" i="1">
                        <a:latin typeface="Cambria Math" panose="02040503050406030204" pitchFamily="18" charset="0"/>
                      </a:rPr>
                      <m:t>𝛼</m:t>
                    </m:r>
                  </m:oMath>
                </a14:m>
                <a:r>
                  <a:rPr lang="en-US" dirty="0"/>
                  <a:t>, e.g., 0.01) instead of zero.</a:t>
                </a:r>
              </a:p>
              <a:p>
                <a:pPr lvl="0"/>
                <a:r>
                  <a:rPr lang="en-US" dirty="0"/>
                  <a:t>Solves the “dying </a:t>
                </a:r>
                <a:r>
                  <a:rPr lang="en-US" dirty="0" err="1"/>
                  <a:t>ReLU</a:t>
                </a:r>
                <a:r>
                  <a:rPr lang="en-US" dirty="0"/>
                  <a:t>” problem, where neurons get stuck with zero outputs.</a:t>
                </a:r>
              </a:p>
              <a:p>
                <a:r>
                  <a:rPr lang="en-US" dirty="0"/>
                  <a:t>Range: </a:t>
                </a:r>
                <a14:m>
                  <m:oMath xmlns:m="http://schemas.openxmlformats.org/officeDocument/2006/math">
                    <m:d>
                      <m:dPr>
                        <m:sepChr m:val=","/>
                        <m:ctrlPr>
                          <a:rPr lang="en-US">
                            <a:latin typeface="Cambria Math" panose="02040503050406030204" pitchFamily="18" charset="0"/>
                          </a:rPr>
                        </m:ctrlPr>
                      </m:dPr>
                      <m:e>
                        <m:r>
                          <a:rPr lang="en-US">
                            <a:latin typeface="Cambria Math" panose="02040503050406030204" pitchFamily="18" charset="0"/>
                          </a:rPr>
                          <m:t>−∞</m:t>
                        </m:r>
                      </m:e>
                      <m:e>
                        <m:r>
                          <a:rPr lang="en-US">
                            <a:latin typeface="Cambria Math" panose="02040503050406030204" pitchFamily="18" charset="0"/>
                          </a:rPr>
                          <m:t>∞</m:t>
                        </m:r>
                      </m:e>
                    </m:d>
                  </m:oMath>
                </a14:m>
                <a:r>
                  <a:rPr lang="en-US" dirty="0"/>
                  <a:t>.</a:t>
                </a:r>
              </a:p>
              <a:p>
                <a:pPr lvl="0"/>
                <a:r>
                  <a:rPr lang="en-US" dirty="0"/>
                  <a:t>Preferred in some cases for better gradient flow.</a:t>
                </a:r>
              </a:p>
              <a:p>
                <a:endParaRPr lang="en-US" dirty="0"/>
              </a:p>
            </p:txBody>
          </p:sp>
        </mc:Choice>
        <mc:Fallback xmlns="">
          <p:sp>
            <p:nvSpPr>
              <p:cNvPr id="3" name="Content Placeholder 2">
                <a:extLst>
                  <a:ext uri="{FF2B5EF4-FFF2-40B4-BE49-F238E27FC236}">
                    <a16:creationId xmlns:a16="http://schemas.microsoft.com/office/drawing/2014/main" id="{159B0B09-91C7-533C-BC11-8FC6DFB2C801}"/>
                  </a:ext>
                </a:extLst>
              </p:cNvPr>
              <p:cNvSpPr>
                <a:spLocks noGrp="1" noRot="1" noChangeAspect="1" noMove="1" noResize="1" noEditPoints="1" noAdjustHandles="1" noChangeArrowheads="1" noChangeShapeType="1" noTextEdit="1"/>
              </p:cNvSpPr>
              <p:nvPr>
                <p:ph idx="1"/>
              </p:nvPr>
            </p:nvSpPr>
            <p:spPr>
              <a:xfrm>
                <a:off x="838200" y="1135094"/>
                <a:ext cx="6501714" cy="5011428"/>
              </a:xfrm>
              <a:blipFill>
                <a:blip r:embed="rId2"/>
                <a:stretch>
                  <a:fillRect l="-1758" t="-4430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39BBB98-A55D-43E0-7F04-6D3773E549E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824822C-4A9C-58D8-A512-81FDCDCF9D00}"/>
              </a:ext>
            </a:extLst>
          </p:cNvPr>
          <p:cNvSpPr>
            <a:spLocks noGrp="1"/>
          </p:cNvSpPr>
          <p:nvPr>
            <p:ph type="sldNum" sz="quarter" idx="12"/>
          </p:nvPr>
        </p:nvSpPr>
        <p:spPr/>
        <p:txBody>
          <a:bodyPr/>
          <a:lstStyle/>
          <a:p>
            <a:fld id="{10A4AB6E-1AC4-C44F-A0CC-883A0306AF8B}" type="slidenum">
              <a:rPr lang="en-US" smtClean="0"/>
              <a:t>17</a:t>
            </a:fld>
            <a:endParaRPr lang="en-US"/>
          </a:p>
        </p:txBody>
      </p:sp>
      <p:pic>
        <p:nvPicPr>
          <p:cNvPr id="7" name="Picture 6" descr="Line graph titled “Leaky ReLU Activation Function” shows output response across input values. Blue line decreases slightly for negative inputs, reaches zero at input 0, then rises linearly to output 10 at input 10; axes label Input and Output with gridlines and numeric ticks.&#10;">
            <a:extLst>
              <a:ext uri="{FF2B5EF4-FFF2-40B4-BE49-F238E27FC236}">
                <a16:creationId xmlns:a16="http://schemas.microsoft.com/office/drawing/2014/main" id="{7B5E6D37-1E26-E0EA-3EC3-88CECD1DD2C4}"/>
              </a:ext>
            </a:extLst>
          </p:cNvPr>
          <p:cNvPicPr>
            <a:picLocks noChangeAspect="1"/>
          </p:cNvPicPr>
          <p:nvPr/>
        </p:nvPicPr>
        <p:blipFill>
          <a:blip r:embed="rId3"/>
          <a:stretch>
            <a:fillRect/>
          </a:stretch>
        </p:blipFill>
        <p:spPr>
          <a:xfrm>
            <a:off x="7075788" y="1862106"/>
            <a:ext cx="4762500" cy="3860800"/>
          </a:xfrm>
          <a:prstGeom prst="rect">
            <a:avLst/>
          </a:prstGeom>
        </p:spPr>
      </p:pic>
    </p:spTree>
    <p:extLst>
      <p:ext uri="{BB962C8B-B14F-4D97-AF65-F5344CB8AC3E}">
        <p14:creationId xmlns:p14="http://schemas.microsoft.com/office/powerpoint/2010/main" val="1267922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6A904-9EB4-1126-127C-7AB67D8FA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A658F-DFFC-5B28-CF70-6813014A9894}"/>
              </a:ext>
            </a:extLst>
          </p:cNvPr>
          <p:cNvSpPr>
            <a:spLocks noGrp="1"/>
          </p:cNvSpPr>
          <p:nvPr>
            <p:ph type="title"/>
          </p:nvPr>
        </p:nvSpPr>
        <p:spPr/>
        <p:txBody>
          <a:bodyPr>
            <a:normAutofit fontScale="90000"/>
          </a:bodyPr>
          <a:lstStyle/>
          <a:p>
            <a:r>
              <a:rPr lang="en-US" dirty="0"/>
              <a:t>Neural Network Overview</a:t>
            </a:r>
          </a:p>
        </p:txBody>
      </p:sp>
      <p:pic>
        <p:nvPicPr>
          <p:cNvPr id="7"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hree outputs.">
            <a:extLst>
              <a:ext uri="{FF2B5EF4-FFF2-40B4-BE49-F238E27FC236}">
                <a16:creationId xmlns:a16="http://schemas.microsoft.com/office/drawing/2014/main" id="{CC8556D4-471C-6DAB-0B94-40D3C082EB39}"/>
              </a:ext>
            </a:extLst>
          </p:cNvPr>
          <p:cNvPicPr>
            <a:picLocks noGrp="1" noChangeAspect="1"/>
          </p:cNvPicPr>
          <p:nvPr>
            <p:ph idx="1"/>
          </p:nvPr>
        </p:nvPicPr>
        <p:blipFill>
          <a:blip r:embed="rId2"/>
          <a:stretch>
            <a:fillRect/>
          </a:stretch>
        </p:blipFill>
        <p:spPr>
          <a:xfrm>
            <a:off x="1339850" y="1266031"/>
            <a:ext cx="9512300" cy="4749800"/>
          </a:xfrm>
          <a:prstGeom prst="rect">
            <a:avLst/>
          </a:prstGeom>
        </p:spPr>
      </p:pic>
      <p:sp>
        <p:nvSpPr>
          <p:cNvPr id="4" name="Footer Placeholder 3">
            <a:extLst>
              <a:ext uri="{FF2B5EF4-FFF2-40B4-BE49-F238E27FC236}">
                <a16:creationId xmlns:a16="http://schemas.microsoft.com/office/drawing/2014/main" id="{B1A2292B-530A-6C79-AE90-411D6A1CBA6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2ACFB5E-591E-5FA9-1A81-7932391CEA9D}"/>
              </a:ext>
            </a:extLst>
          </p:cNvPr>
          <p:cNvSpPr>
            <a:spLocks noGrp="1"/>
          </p:cNvSpPr>
          <p:nvPr>
            <p:ph type="sldNum" sz="quarter" idx="12"/>
          </p:nvPr>
        </p:nvSpPr>
        <p:spPr/>
        <p:txBody>
          <a:bodyPr/>
          <a:lstStyle/>
          <a:p>
            <a:fld id="{10A4AB6E-1AC4-C44F-A0CC-883A0306AF8B}" type="slidenum">
              <a:rPr lang="en-US" smtClean="0"/>
              <a:t>18</a:t>
            </a:fld>
            <a:endParaRPr lang="en-US"/>
          </a:p>
        </p:txBody>
      </p:sp>
    </p:spTree>
    <p:extLst>
      <p:ext uri="{BB962C8B-B14F-4D97-AF65-F5344CB8AC3E}">
        <p14:creationId xmlns:p14="http://schemas.microsoft.com/office/powerpoint/2010/main" val="35423749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83587-9E2C-5D51-49EF-6340AF5492C8}"/>
              </a:ext>
            </a:extLst>
          </p:cNvPr>
          <p:cNvSpPr>
            <a:spLocks noGrp="1"/>
          </p:cNvSpPr>
          <p:nvPr>
            <p:ph type="title"/>
          </p:nvPr>
        </p:nvSpPr>
        <p:spPr/>
        <p:txBody>
          <a:bodyPr>
            <a:normAutofit fontScale="90000"/>
          </a:bodyPr>
          <a:lstStyle/>
          <a:p>
            <a:r>
              <a:rPr lang="en-US" dirty="0"/>
              <a:t>Loss function</a:t>
            </a:r>
          </a:p>
        </p:txBody>
      </p:sp>
      <p:graphicFrame>
        <p:nvGraphicFramePr>
          <p:cNvPr id="6" name="Content Placeholder 5">
            <a:extLst>
              <a:ext uri="{FF2B5EF4-FFF2-40B4-BE49-F238E27FC236}">
                <a16:creationId xmlns:a16="http://schemas.microsoft.com/office/drawing/2014/main" id="{DF7B4AA7-00FD-C0DA-F42C-383AFCE15AE9}"/>
              </a:ext>
            </a:extLst>
          </p:cNvPr>
          <p:cNvGraphicFramePr>
            <a:graphicFrameLocks noGrp="1"/>
          </p:cNvGraphicFramePr>
          <p:nvPr>
            <p:ph idx="1"/>
            <p:extLst>
              <p:ext uri="{D42A27DB-BD31-4B8C-83A1-F6EECF244321}">
                <p14:modId xmlns:p14="http://schemas.microsoft.com/office/powerpoint/2010/main" val="1758603603"/>
              </p:ext>
            </p:extLst>
          </p:nvPr>
        </p:nvGraphicFramePr>
        <p:xfrm>
          <a:off x="838199" y="2400220"/>
          <a:ext cx="10515600" cy="2072640"/>
        </p:xfrm>
        <a:graphic>
          <a:graphicData uri="http://schemas.openxmlformats.org/drawingml/2006/table">
            <a:tbl>
              <a:tblPr firstRow="1">
                <a:tableStyleId>{073A0DAA-6AF3-43AB-8588-CEC1D06C72B9}</a:tableStyleId>
              </a:tblPr>
              <a:tblGrid>
                <a:gridCol w="4141573">
                  <a:extLst>
                    <a:ext uri="{9D8B030D-6E8A-4147-A177-3AD203B41FA5}">
                      <a16:colId xmlns:a16="http://schemas.microsoft.com/office/drawing/2014/main" val="1681764293"/>
                    </a:ext>
                  </a:extLst>
                </a:gridCol>
                <a:gridCol w="6374027">
                  <a:extLst>
                    <a:ext uri="{9D8B030D-6E8A-4147-A177-3AD203B41FA5}">
                      <a16:colId xmlns:a16="http://schemas.microsoft.com/office/drawing/2014/main" val="162323097"/>
                    </a:ext>
                  </a:extLst>
                </a:gridCol>
              </a:tblGrid>
              <a:tr h="0">
                <a:tc>
                  <a:txBody>
                    <a:bodyPr/>
                    <a:lstStyle/>
                    <a:p>
                      <a:pPr>
                        <a:buNone/>
                      </a:pPr>
                      <a:r>
                        <a:rPr lang="en-US" sz="2800"/>
                        <a:t>Task</a:t>
                      </a:r>
                    </a:p>
                  </a:txBody>
                  <a:tcPr anchor="ctr"/>
                </a:tc>
                <a:tc>
                  <a:txBody>
                    <a:bodyPr/>
                    <a:lstStyle/>
                    <a:p>
                      <a:pPr>
                        <a:buNone/>
                      </a:pPr>
                      <a:r>
                        <a:rPr lang="en-US" sz="2800"/>
                        <a:t>Common Loss</a:t>
                      </a:r>
                    </a:p>
                  </a:txBody>
                  <a:tcPr anchor="ctr"/>
                </a:tc>
                <a:extLst>
                  <a:ext uri="{0D108BD9-81ED-4DB2-BD59-A6C34878D82A}">
                    <a16:rowId xmlns:a16="http://schemas.microsoft.com/office/drawing/2014/main" val="852066250"/>
                  </a:ext>
                </a:extLst>
              </a:tr>
              <a:tr h="0">
                <a:tc>
                  <a:txBody>
                    <a:bodyPr/>
                    <a:lstStyle/>
                    <a:p>
                      <a:pPr>
                        <a:buNone/>
                      </a:pPr>
                      <a:r>
                        <a:rPr lang="en-US" sz="2800"/>
                        <a:t>Regression</a:t>
                      </a:r>
                    </a:p>
                  </a:txBody>
                  <a:tcPr anchor="ctr"/>
                </a:tc>
                <a:tc>
                  <a:txBody>
                    <a:bodyPr/>
                    <a:lstStyle/>
                    <a:p>
                      <a:pPr>
                        <a:buNone/>
                      </a:pPr>
                      <a:r>
                        <a:rPr lang="en-US" sz="2800"/>
                        <a:t>Mean squared error</a:t>
                      </a:r>
                    </a:p>
                  </a:txBody>
                  <a:tcPr anchor="ctr"/>
                </a:tc>
                <a:extLst>
                  <a:ext uri="{0D108BD9-81ED-4DB2-BD59-A6C34878D82A}">
                    <a16:rowId xmlns:a16="http://schemas.microsoft.com/office/drawing/2014/main" val="1011772539"/>
                  </a:ext>
                </a:extLst>
              </a:tr>
              <a:tr h="0">
                <a:tc>
                  <a:txBody>
                    <a:bodyPr/>
                    <a:lstStyle/>
                    <a:p>
                      <a:pPr>
                        <a:buNone/>
                      </a:pPr>
                      <a:r>
                        <a:rPr lang="en-US" sz="2800"/>
                        <a:t>Binary classification</a:t>
                      </a:r>
                    </a:p>
                  </a:txBody>
                  <a:tcPr anchor="ctr"/>
                </a:tc>
                <a:tc>
                  <a:txBody>
                    <a:bodyPr/>
                    <a:lstStyle/>
                    <a:p>
                      <a:pPr>
                        <a:buNone/>
                      </a:pPr>
                      <a:r>
                        <a:rPr lang="en-US" sz="2800"/>
                        <a:t>Binary cross-entropy</a:t>
                      </a:r>
                    </a:p>
                  </a:txBody>
                  <a:tcPr anchor="ctr"/>
                </a:tc>
                <a:extLst>
                  <a:ext uri="{0D108BD9-81ED-4DB2-BD59-A6C34878D82A}">
                    <a16:rowId xmlns:a16="http://schemas.microsoft.com/office/drawing/2014/main" val="3671284481"/>
                  </a:ext>
                </a:extLst>
              </a:tr>
              <a:tr h="0">
                <a:tc>
                  <a:txBody>
                    <a:bodyPr/>
                    <a:lstStyle/>
                    <a:p>
                      <a:pPr>
                        <a:buNone/>
                      </a:pPr>
                      <a:r>
                        <a:rPr lang="en-US" sz="2800" dirty="0"/>
                        <a:t>Multiclass classification</a:t>
                      </a:r>
                    </a:p>
                  </a:txBody>
                  <a:tcPr anchor="ctr"/>
                </a:tc>
                <a:tc>
                  <a:txBody>
                    <a:bodyPr/>
                    <a:lstStyle/>
                    <a:p>
                      <a:pPr>
                        <a:buNone/>
                      </a:pPr>
                      <a:r>
                        <a:rPr lang="en-US" sz="2800" dirty="0"/>
                        <a:t>Categorical cross-entropy</a:t>
                      </a:r>
                    </a:p>
                  </a:txBody>
                  <a:tcPr anchor="ctr"/>
                </a:tc>
                <a:extLst>
                  <a:ext uri="{0D108BD9-81ED-4DB2-BD59-A6C34878D82A}">
                    <a16:rowId xmlns:a16="http://schemas.microsoft.com/office/drawing/2014/main" val="3431453605"/>
                  </a:ext>
                </a:extLst>
              </a:tr>
            </a:tbl>
          </a:graphicData>
        </a:graphic>
      </p:graphicFrame>
      <p:sp>
        <p:nvSpPr>
          <p:cNvPr id="4" name="Footer Placeholder 3">
            <a:extLst>
              <a:ext uri="{FF2B5EF4-FFF2-40B4-BE49-F238E27FC236}">
                <a16:creationId xmlns:a16="http://schemas.microsoft.com/office/drawing/2014/main" id="{74FE40F1-D390-AB7F-9846-3BF31278A0A4}"/>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E1DF513-2B5E-B916-5C5D-BA9A6BBED04F}"/>
              </a:ext>
            </a:extLst>
          </p:cNvPr>
          <p:cNvSpPr>
            <a:spLocks noGrp="1"/>
          </p:cNvSpPr>
          <p:nvPr>
            <p:ph type="sldNum" sz="quarter" idx="12"/>
          </p:nvPr>
        </p:nvSpPr>
        <p:spPr/>
        <p:txBody>
          <a:bodyPr/>
          <a:lstStyle/>
          <a:p>
            <a:fld id="{10A4AB6E-1AC4-C44F-A0CC-883A0306AF8B}" type="slidenum">
              <a:rPr lang="en-US" smtClean="0"/>
              <a:t>19</a:t>
            </a:fld>
            <a:endParaRPr lang="en-US"/>
          </a:p>
        </p:txBody>
      </p:sp>
      <p:sp>
        <p:nvSpPr>
          <p:cNvPr id="8" name="TextBox 7">
            <a:extLst>
              <a:ext uri="{FF2B5EF4-FFF2-40B4-BE49-F238E27FC236}">
                <a16:creationId xmlns:a16="http://schemas.microsoft.com/office/drawing/2014/main" id="{2775E51D-F214-4F68-B130-4C905445DE82}"/>
              </a:ext>
            </a:extLst>
          </p:cNvPr>
          <p:cNvSpPr txBox="1"/>
          <p:nvPr/>
        </p:nvSpPr>
        <p:spPr>
          <a:xfrm>
            <a:off x="838199" y="1178798"/>
            <a:ext cx="10703011" cy="954107"/>
          </a:xfrm>
          <a:prstGeom prst="rect">
            <a:avLst/>
          </a:prstGeom>
          <a:noFill/>
        </p:spPr>
        <p:txBody>
          <a:bodyPr wrap="square">
            <a:spAutoFit/>
          </a:bodyPr>
          <a:lstStyle/>
          <a:p>
            <a:pPr marL="457200" indent="-457200" algn="l">
              <a:buFont typeface="Arial" panose="020B0604020202020204" pitchFamily="34" charset="0"/>
              <a:buChar char="•"/>
            </a:pPr>
            <a:r>
              <a:rPr lang="en-US" sz="2800" b="0" i="0" dirty="0">
                <a:solidFill>
                  <a:schemeClr val="tx1"/>
                </a:solidFill>
                <a:effectLst/>
              </a:rPr>
              <a:t>A loss function measures how wrong the model is.</a:t>
            </a:r>
          </a:p>
          <a:p>
            <a:pPr marL="457200" indent="-457200" algn="l">
              <a:buFont typeface="Arial" panose="020B0604020202020204" pitchFamily="34" charset="0"/>
              <a:buChar char="•"/>
            </a:pPr>
            <a:r>
              <a:rPr lang="en-US" sz="2800" b="0" i="0" dirty="0">
                <a:solidFill>
                  <a:schemeClr val="tx1"/>
                </a:solidFill>
                <a:effectLst/>
              </a:rPr>
              <a:t>Training tries to find weights that minimize the loss.</a:t>
            </a:r>
          </a:p>
        </p:txBody>
      </p:sp>
    </p:spTree>
    <p:extLst>
      <p:ext uri="{BB962C8B-B14F-4D97-AF65-F5344CB8AC3E}">
        <p14:creationId xmlns:p14="http://schemas.microsoft.com/office/powerpoint/2010/main" val="3829456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18D6-8793-AD8F-915B-C9108FB18E26}"/>
              </a:ext>
            </a:extLst>
          </p:cNvPr>
          <p:cNvSpPr>
            <a:spLocks noGrp="1"/>
          </p:cNvSpPr>
          <p:nvPr>
            <p:ph type="title"/>
          </p:nvPr>
        </p:nvSpPr>
        <p:spPr/>
        <p:txBody>
          <a:bodyPr>
            <a:normAutofit fontScale="90000"/>
          </a:bodyPr>
          <a:lstStyle/>
          <a:p>
            <a:r>
              <a:rPr lang="en-US" dirty="0"/>
              <a:t>Training a neural network</a:t>
            </a:r>
          </a:p>
        </p:txBody>
      </p:sp>
      <p:graphicFrame>
        <p:nvGraphicFramePr>
          <p:cNvPr id="6" name="Content Placeholder 5">
            <a:extLst>
              <a:ext uri="{FF2B5EF4-FFF2-40B4-BE49-F238E27FC236}">
                <a16:creationId xmlns:a16="http://schemas.microsoft.com/office/drawing/2014/main" id="{0F9F05A2-653F-746A-9237-B601CD1F8600}"/>
              </a:ext>
            </a:extLst>
          </p:cNvPr>
          <p:cNvGraphicFramePr>
            <a:graphicFrameLocks noGrp="1"/>
          </p:cNvGraphicFramePr>
          <p:nvPr>
            <p:ph idx="1"/>
            <p:extLst>
              <p:ext uri="{D42A27DB-BD31-4B8C-83A1-F6EECF244321}">
                <p14:modId xmlns:p14="http://schemas.microsoft.com/office/powerpoint/2010/main" val="3474033960"/>
              </p:ext>
            </p:extLst>
          </p:nvPr>
        </p:nvGraphicFramePr>
        <p:xfrm>
          <a:off x="838200" y="3638193"/>
          <a:ext cx="10515600" cy="2560320"/>
        </p:xfrm>
        <a:graphic>
          <a:graphicData uri="http://schemas.openxmlformats.org/drawingml/2006/table">
            <a:tbl>
              <a:tblPr firstRow="1">
                <a:tableStyleId>{073A0DAA-6AF3-43AB-8588-CEC1D06C72B9}</a:tableStyleId>
              </a:tblPr>
              <a:tblGrid>
                <a:gridCol w="2621692">
                  <a:extLst>
                    <a:ext uri="{9D8B030D-6E8A-4147-A177-3AD203B41FA5}">
                      <a16:colId xmlns:a16="http://schemas.microsoft.com/office/drawing/2014/main" val="370875305"/>
                    </a:ext>
                  </a:extLst>
                </a:gridCol>
                <a:gridCol w="7893908">
                  <a:extLst>
                    <a:ext uri="{9D8B030D-6E8A-4147-A177-3AD203B41FA5}">
                      <a16:colId xmlns:a16="http://schemas.microsoft.com/office/drawing/2014/main" val="3006089042"/>
                    </a:ext>
                  </a:extLst>
                </a:gridCol>
              </a:tblGrid>
              <a:tr h="0">
                <a:tc>
                  <a:txBody>
                    <a:bodyPr/>
                    <a:lstStyle/>
                    <a:p>
                      <a:pPr>
                        <a:buNone/>
                      </a:pPr>
                      <a:r>
                        <a:rPr lang="en-US" sz="2200" dirty="0"/>
                        <a:t>Term</a:t>
                      </a:r>
                    </a:p>
                  </a:txBody>
                  <a:tcPr anchor="ctr"/>
                </a:tc>
                <a:tc>
                  <a:txBody>
                    <a:bodyPr/>
                    <a:lstStyle/>
                    <a:p>
                      <a:pPr>
                        <a:buNone/>
                      </a:pPr>
                      <a:r>
                        <a:rPr lang="en-US" sz="2200"/>
                        <a:t>Meaning</a:t>
                      </a:r>
                    </a:p>
                  </a:txBody>
                  <a:tcPr anchor="ctr"/>
                </a:tc>
                <a:extLst>
                  <a:ext uri="{0D108BD9-81ED-4DB2-BD59-A6C34878D82A}">
                    <a16:rowId xmlns:a16="http://schemas.microsoft.com/office/drawing/2014/main" val="3814872304"/>
                  </a:ext>
                </a:extLst>
              </a:tr>
              <a:tr h="0">
                <a:tc>
                  <a:txBody>
                    <a:bodyPr/>
                    <a:lstStyle/>
                    <a:p>
                      <a:pPr>
                        <a:buNone/>
                      </a:pPr>
                      <a:r>
                        <a:rPr lang="en-US" sz="2200"/>
                        <a:t>Epoch</a:t>
                      </a:r>
                    </a:p>
                  </a:txBody>
                  <a:tcPr anchor="ctr"/>
                </a:tc>
                <a:tc>
                  <a:txBody>
                    <a:bodyPr/>
                    <a:lstStyle/>
                    <a:p>
                      <a:pPr>
                        <a:buNone/>
                      </a:pPr>
                      <a:r>
                        <a:rPr lang="en-US" sz="2200"/>
                        <a:t>One pass through the training data</a:t>
                      </a:r>
                    </a:p>
                  </a:txBody>
                  <a:tcPr anchor="ctr"/>
                </a:tc>
                <a:extLst>
                  <a:ext uri="{0D108BD9-81ED-4DB2-BD59-A6C34878D82A}">
                    <a16:rowId xmlns:a16="http://schemas.microsoft.com/office/drawing/2014/main" val="1773038243"/>
                  </a:ext>
                </a:extLst>
              </a:tr>
              <a:tr h="0">
                <a:tc>
                  <a:txBody>
                    <a:bodyPr/>
                    <a:lstStyle/>
                    <a:p>
                      <a:pPr>
                        <a:buNone/>
                      </a:pPr>
                      <a:r>
                        <a:rPr lang="en-US" sz="2200"/>
                        <a:t>Batch</a:t>
                      </a:r>
                    </a:p>
                  </a:txBody>
                  <a:tcPr anchor="ctr"/>
                </a:tc>
                <a:tc>
                  <a:txBody>
                    <a:bodyPr/>
                    <a:lstStyle/>
                    <a:p>
                      <a:pPr>
                        <a:buNone/>
                      </a:pPr>
                      <a:r>
                        <a:rPr lang="en-US" sz="2200" dirty="0"/>
                        <a:t>A subset of training examples used for one update</a:t>
                      </a:r>
                    </a:p>
                  </a:txBody>
                  <a:tcPr anchor="ctr"/>
                </a:tc>
                <a:extLst>
                  <a:ext uri="{0D108BD9-81ED-4DB2-BD59-A6C34878D82A}">
                    <a16:rowId xmlns:a16="http://schemas.microsoft.com/office/drawing/2014/main" val="523791404"/>
                  </a:ext>
                </a:extLst>
              </a:tr>
              <a:tr h="0">
                <a:tc>
                  <a:txBody>
                    <a:bodyPr/>
                    <a:lstStyle/>
                    <a:p>
                      <a:pPr>
                        <a:buNone/>
                      </a:pPr>
                      <a:r>
                        <a:rPr lang="en-US" sz="2200"/>
                        <a:t>Gradient</a:t>
                      </a:r>
                    </a:p>
                  </a:txBody>
                  <a:tcPr anchor="ctr"/>
                </a:tc>
                <a:tc>
                  <a:txBody>
                    <a:bodyPr/>
                    <a:lstStyle/>
                    <a:p>
                      <a:pPr>
                        <a:buNone/>
                      </a:pPr>
                      <a:r>
                        <a:rPr lang="en-US" sz="2200"/>
                        <a:t>Direction that reduces the loss</a:t>
                      </a:r>
                    </a:p>
                  </a:txBody>
                  <a:tcPr anchor="ctr"/>
                </a:tc>
                <a:extLst>
                  <a:ext uri="{0D108BD9-81ED-4DB2-BD59-A6C34878D82A}">
                    <a16:rowId xmlns:a16="http://schemas.microsoft.com/office/drawing/2014/main" val="1920052120"/>
                  </a:ext>
                </a:extLst>
              </a:tr>
              <a:tr h="0">
                <a:tc>
                  <a:txBody>
                    <a:bodyPr/>
                    <a:lstStyle/>
                    <a:p>
                      <a:pPr>
                        <a:buNone/>
                      </a:pPr>
                      <a:r>
                        <a:rPr lang="en-US" sz="2200" dirty="0"/>
                        <a:t>Optimizer</a:t>
                      </a:r>
                    </a:p>
                  </a:txBody>
                  <a:tcPr anchor="ctr"/>
                </a:tc>
                <a:tc>
                  <a:txBody>
                    <a:bodyPr/>
                    <a:lstStyle/>
                    <a:p>
                      <a:pPr>
                        <a:buNone/>
                      </a:pPr>
                      <a:r>
                        <a:rPr lang="en-US" sz="2200"/>
                        <a:t>Algorithm that updates weights</a:t>
                      </a:r>
                    </a:p>
                  </a:txBody>
                  <a:tcPr anchor="ctr"/>
                </a:tc>
                <a:extLst>
                  <a:ext uri="{0D108BD9-81ED-4DB2-BD59-A6C34878D82A}">
                    <a16:rowId xmlns:a16="http://schemas.microsoft.com/office/drawing/2014/main" val="1434042823"/>
                  </a:ext>
                </a:extLst>
              </a:tr>
              <a:tr h="0">
                <a:tc>
                  <a:txBody>
                    <a:bodyPr/>
                    <a:lstStyle/>
                    <a:p>
                      <a:pPr>
                        <a:buNone/>
                      </a:pPr>
                      <a:r>
                        <a:rPr lang="en-US" sz="2200"/>
                        <a:t>Learning rate</a:t>
                      </a:r>
                    </a:p>
                  </a:txBody>
                  <a:tcPr anchor="ctr"/>
                </a:tc>
                <a:tc>
                  <a:txBody>
                    <a:bodyPr/>
                    <a:lstStyle/>
                    <a:p>
                      <a:pPr>
                        <a:buNone/>
                      </a:pPr>
                      <a:r>
                        <a:rPr lang="en-US" sz="2200" dirty="0"/>
                        <a:t>Size of each update</a:t>
                      </a:r>
                    </a:p>
                  </a:txBody>
                  <a:tcPr anchor="ctr"/>
                </a:tc>
                <a:extLst>
                  <a:ext uri="{0D108BD9-81ED-4DB2-BD59-A6C34878D82A}">
                    <a16:rowId xmlns:a16="http://schemas.microsoft.com/office/drawing/2014/main" val="1463810585"/>
                  </a:ext>
                </a:extLst>
              </a:tr>
            </a:tbl>
          </a:graphicData>
        </a:graphic>
      </p:graphicFrame>
      <p:sp>
        <p:nvSpPr>
          <p:cNvPr id="4" name="Footer Placeholder 3">
            <a:extLst>
              <a:ext uri="{FF2B5EF4-FFF2-40B4-BE49-F238E27FC236}">
                <a16:creationId xmlns:a16="http://schemas.microsoft.com/office/drawing/2014/main" id="{30659178-3BF4-8842-7F79-80997CAEE1B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537CE70-5C55-5467-C5D6-30F6624B314F}"/>
              </a:ext>
            </a:extLst>
          </p:cNvPr>
          <p:cNvSpPr>
            <a:spLocks noGrp="1"/>
          </p:cNvSpPr>
          <p:nvPr>
            <p:ph type="sldNum" sz="quarter" idx="12"/>
          </p:nvPr>
        </p:nvSpPr>
        <p:spPr/>
        <p:txBody>
          <a:bodyPr/>
          <a:lstStyle/>
          <a:p>
            <a:fld id="{10A4AB6E-1AC4-C44F-A0CC-883A0306AF8B}" type="slidenum">
              <a:rPr lang="en-US" smtClean="0"/>
              <a:t>20</a:t>
            </a:fld>
            <a:endParaRPr lang="en-US"/>
          </a:p>
        </p:txBody>
      </p:sp>
      <p:sp>
        <p:nvSpPr>
          <p:cNvPr id="8" name="TextBox 7">
            <a:extLst>
              <a:ext uri="{FF2B5EF4-FFF2-40B4-BE49-F238E27FC236}">
                <a16:creationId xmlns:a16="http://schemas.microsoft.com/office/drawing/2014/main" id="{6FC25A33-FCD7-0030-E6AA-01398E04A627}"/>
              </a:ext>
            </a:extLst>
          </p:cNvPr>
          <p:cNvSpPr txBox="1"/>
          <p:nvPr/>
        </p:nvSpPr>
        <p:spPr>
          <a:xfrm>
            <a:off x="838200" y="1120676"/>
            <a:ext cx="6141308" cy="2462213"/>
          </a:xfrm>
          <a:prstGeom prst="rect">
            <a:avLst/>
          </a:prstGeom>
          <a:noFill/>
        </p:spPr>
        <p:txBody>
          <a:bodyPr wrap="square">
            <a:spAutoFit/>
          </a:bodyPr>
          <a:lstStyle/>
          <a:p>
            <a:pPr indent="0" algn="l">
              <a:buNone/>
            </a:pPr>
            <a:r>
              <a:rPr lang="en-US" sz="2200" b="0" i="0" dirty="0">
                <a:solidFill>
                  <a:schemeClr val="tx1"/>
                </a:solidFill>
                <a:effectLst/>
              </a:rPr>
              <a:t>Training loop:</a:t>
            </a:r>
          </a:p>
          <a:p>
            <a:pPr marL="342900" lvl="0" indent="-342900" algn="l">
              <a:buFont typeface="+mj-lt"/>
              <a:buAutoNum type="arabicPeriod"/>
            </a:pPr>
            <a:r>
              <a:rPr lang="en-US" sz="2200" b="0" i="0" dirty="0">
                <a:solidFill>
                  <a:schemeClr val="tx1"/>
                </a:solidFill>
                <a:effectLst/>
              </a:rPr>
              <a:t>Start with random weights.</a:t>
            </a:r>
          </a:p>
          <a:p>
            <a:pPr marL="342900" lvl="0" indent="-342900" algn="l">
              <a:buFont typeface="+mj-lt"/>
              <a:buAutoNum type="arabicPeriod"/>
            </a:pPr>
            <a:r>
              <a:rPr lang="en-US" sz="2200" b="0" i="0" dirty="0">
                <a:solidFill>
                  <a:schemeClr val="tx1"/>
                </a:solidFill>
                <a:effectLst/>
              </a:rPr>
              <a:t>Make predictions.</a:t>
            </a:r>
          </a:p>
          <a:p>
            <a:pPr marL="342900" lvl="0" indent="-342900" algn="l">
              <a:buFont typeface="+mj-lt"/>
              <a:buAutoNum type="arabicPeriod"/>
            </a:pPr>
            <a:r>
              <a:rPr lang="en-US" sz="2200" b="0" i="0" dirty="0">
                <a:solidFill>
                  <a:schemeClr val="tx1"/>
                </a:solidFill>
                <a:effectLst/>
              </a:rPr>
              <a:t>Compute loss.</a:t>
            </a:r>
          </a:p>
          <a:p>
            <a:pPr marL="342900" lvl="0" indent="-342900" algn="l">
              <a:buFont typeface="+mj-lt"/>
              <a:buAutoNum type="arabicPeriod"/>
            </a:pPr>
            <a:r>
              <a:rPr lang="en-US" sz="2200" b="0" i="0" dirty="0">
                <a:solidFill>
                  <a:schemeClr val="tx1"/>
                </a:solidFill>
                <a:effectLst/>
              </a:rPr>
              <a:t>Compute gradients using backpropagation.</a:t>
            </a:r>
          </a:p>
          <a:p>
            <a:pPr marL="342900" lvl="0" indent="-342900" algn="l">
              <a:buFont typeface="+mj-lt"/>
              <a:buAutoNum type="arabicPeriod"/>
            </a:pPr>
            <a:r>
              <a:rPr lang="en-US" sz="2200" b="0" i="0" dirty="0">
                <a:solidFill>
                  <a:schemeClr val="tx1"/>
                </a:solidFill>
                <a:effectLst/>
              </a:rPr>
              <a:t>Update weights using an optimizer.</a:t>
            </a:r>
          </a:p>
          <a:p>
            <a:pPr marL="342900" lvl="0" indent="-342900" algn="l">
              <a:buFont typeface="+mj-lt"/>
              <a:buAutoNum type="arabicPeriod"/>
            </a:pPr>
            <a:r>
              <a:rPr lang="en-US" sz="2200" b="0" i="0" dirty="0">
                <a:solidFill>
                  <a:schemeClr val="tx1"/>
                </a:solidFill>
                <a:effectLst/>
              </a:rPr>
              <a:t>Repeat for many epochs.</a:t>
            </a:r>
          </a:p>
        </p:txBody>
      </p:sp>
    </p:spTree>
    <p:extLst>
      <p:ext uri="{BB962C8B-B14F-4D97-AF65-F5344CB8AC3E}">
        <p14:creationId xmlns:p14="http://schemas.microsoft.com/office/powerpoint/2010/main" val="4135188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35F6E-355A-9214-EA55-F9534F69B658}"/>
              </a:ext>
            </a:extLst>
          </p:cNvPr>
          <p:cNvSpPr>
            <a:spLocks noGrp="1"/>
          </p:cNvSpPr>
          <p:nvPr>
            <p:ph type="title"/>
          </p:nvPr>
        </p:nvSpPr>
        <p:spPr/>
        <p:txBody>
          <a:bodyPr>
            <a:normAutofit fontScale="90000"/>
          </a:bodyPr>
          <a:lstStyle/>
          <a:p>
            <a:r>
              <a:rPr lang="en-US" dirty="0"/>
              <a:t>Model Training</a:t>
            </a:r>
          </a:p>
        </p:txBody>
      </p:sp>
      <p:sp>
        <p:nvSpPr>
          <p:cNvPr id="3" name="Content Placeholder 2">
            <a:extLst>
              <a:ext uri="{FF2B5EF4-FFF2-40B4-BE49-F238E27FC236}">
                <a16:creationId xmlns:a16="http://schemas.microsoft.com/office/drawing/2014/main" id="{2CE1968D-B76B-31FB-67AA-219377439AC5}"/>
              </a:ext>
            </a:extLst>
          </p:cNvPr>
          <p:cNvSpPr>
            <a:spLocks noGrp="1"/>
          </p:cNvSpPr>
          <p:nvPr>
            <p:ph idx="1"/>
          </p:nvPr>
        </p:nvSpPr>
        <p:spPr/>
        <p:txBody>
          <a:bodyPr/>
          <a:lstStyle/>
          <a:p>
            <a:pPr marL="0" indent="0">
              <a:buNone/>
            </a:pPr>
            <a:r>
              <a:rPr lang="en-US" dirty="0"/>
              <a:t>Each connection between neurons in these layers has an associated weight that is adjusted during the training process to minimize the error in predictions.</a:t>
            </a:r>
          </a:p>
          <a:p>
            <a:endParaRPr lang="en-US" dirty="0"/>
          </a:p>
        </p:txBody>
      </p:sp>
      <p:sp>
        <p:nvSpPr>
          <p:cNvPr id="4" name="Footer Placeholder 3">
            <a:extLst>
              <a:ext uri="{FF2B5EF4-FFF2-40B4-BE49-F238E27FC236}">
                <a16:creationId xmlns:a16="http://schemas.microsoft.com/office/drawing/2014/main" id="{58879933-E10A-29A7-367D-099A78C660E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DD1ECE47-B6C4-2907-22FE-28A353682DA1}"/>
              </a:ext>
            </a:extLst>
          </p:cNvPr>
          <p:cNvSpPr>
            <a:spLocks noGrp="1"/>
          </p:cNvSpPr>
          <p:nvPr>
            <p:ph type="sldNum" sz="quarter" idx="12"/>
          </p:nvPr>
        </p:nvSpPr>
        <p:spPr/>
        <p:txBody>
          <a:bodyPr/>
          <a:lstStyle/>
          <a:p>
            <a:fld id="{10A4AB6E-1AC4-C44F-A0CC-883A0306AF8B}" type="slidenum">
              <a:rPr lang="en-US" smtClean="0"/>
              <a:t>21</a:t>
            </a:fld>
            <a:endParaRPr lang="en-US"/>
          </a:p>
        </p:txBody>
      </p:sp>
      <p:pic>
        <p:nvPicPr>
          <p:cNvPr id="6" name="Picture 5" descr="Flowchart illustrating neural network training workflow, progressing from Input Data through Input Layer, Hidden Layers, Activation Functions, Output Layer, Prediction, and Loss Calculation. Arrows continue through Backpropagation, Weight Update, and Repeat, showing iterative learning cycle; pale-green boxes and directional connectors organize forward propagation and feedback steps.&#10;&#10;">
            <a:extLst>
              <a:ext uri="{FF2B5EF4-FFF2-40B4-BE49-F238E27FC236}">
                <a16:creationId xmlns:a16="http://schemas.microsoft.com/office/drawing/2014/main" id="{F15E5272-EB05-13C4-D4EB-DCC25DDFF824}"/>
              </a:ext>
            </a:extLst>
          </p:cNvPr>
          <p:cNvPicPr>
            <a:picLocks noChangeAspect="1"/>
          </p:cNvPicPr>
          <p:nvPr/>
        </p:nvPicPr>
        <p:blipFill>
          <a:blip r:embed="rId2"/>
          <a:stretch>
            <a:fillRect/>
          </a:stretch>
        </p:blipFill>
        <p:spPr>
          <a:xfrm>
            <a:off x="1275540" y="2854411"/>
            <a:ext cx="9640919" cy="3060024"/>
          </a:xfrm>
          <a:prstGeom prst="rect">
            <a:avLst/>
          </a:prstGeom>
        </p:spPr>
      </p:pic>
    </p:spTree>
    <p:extLst>
      <p:ext uri="{BB962C8B-B14F-4D97-AF65-F5344CB8AC3E}">
        <p14:creationId xmlns:p14="http://schemas.microsoft.com/office/powerpoint/2010/main" val="2901765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D67EA-33FB-081D-A8BB-4361EFD1C123}"/>
              </a:ext>
            </a:extLst>
          </p:cNvPr>
          <p:cNvSpPr>
            <a:spLocks noGrp="1"/>
          </p:cNvSpPr>
          <p:nvPr>
            <p:ph type="title"/>
          </p:nvPr>
        </p:nvSpPr>
        <p:spPr/>
        <p:txBody>
          <a:bodyPr>
            <a:normAutofit fontScale="90000"/>
          </a:bodyPr>
          <a:lstStyle/>
          <a:p>
            <a:r>
              <a:rPr lang="en-US" dirty="0"/>
              <a:t>Forward Pass Work</a:t>
            </a:r>
          </a:p>
        </p:txBody>
      </p:sp>
      <p:sp>
        <p:nvSpPr>
          <p:cNvPr id="3" name="Content Placeholder 2">
            <a:extLst>
              <a:ext uri="{FF2B5EF4-FFF2-40B4-BE49-F238E27FC236}">
                <a16:creationId xmlns:a16="http://schemas.microsoft.com/office/drawing/2014/main" id="{DD33E932-CC57-3908-BD9A-1415AA90381B}"/>
              </a:ext>
            </a:extLst>
          </p:cNvPr>
          <p:cNvSpPr>
            <a:spLocks noGrp="1"/>
          </p:cNvSpPr>
          <p:nvPr>
            <p:ph idx="1"/>
          </p:nvPr>
        </p:nvSpPr>
        <p:spPr/>
        <p:txBody>
          <a:bodyPr>
            <a:normAutofit/>
          </a:bodyPr>
          <a:lstStyle/>
          <a:p>
            <a:r>
              <a:rPr lang="en-US" dirty="0"/>
              <a:t>Input data moves through the network to generate an output.</a:t>
            </a:r>
          </a:p>
          <a:p>
            <a:pPr lvl="1"/>
            <a:r>
              <a:rPr lang="en-US" dirty="0"/>
              <a:t>Input data is passed to the input layer and forwarded to hidden layers</a:t>
            </a:r>
          </a:p>
          <a:p>
            <a:pPr lvl="0"/>
            <a:r>
              <a:rPr lang="en-US" dirty="0"/>
              <a:t>Each neuron computes a weighted sum and adds a bias</a:t>
            </a:r>
          </a:p>
          <a:p>
            <a:pPr lvl="0"/>
            <a:r>
              <a:rPr lang="en-US" dirty="0"/>
              <a:t>Activation functions are applied to produce outputs</a:t>
            </a:r>
          </a:p>
          <a:p>
            <a:pPr lvl="0"/>
            <a:r>
              <a:rPr lang="en-US" dirty="0"/>
              <a:t>Outputs from one layer become inputs to the next layer</a:t>
            </a:r>
          </a:p>
          <a:p>
            <a:pPr lvl="0"/>
            <a:r>
              <a:rPr lang="en-US" dirty="0"/>
              <a:t>Final layer uses functions to produce predictions</a:t>
            </a:r>
          </a:p>
        </p:txBody>
      </p:sp>
      <p:sp>
        <p:nvSpPr>
          <p:cNvPr id="4" name="Footer Placeholder 3">
            <a:extLst>
              <a:ext uri="{FF2B5EF4-FFF2-40B4-BE49-F238E27FC236}">
                <a16:creationId xmlns:a16="http://schemas.microsoft.com/office/drawing/2014/main" id="{C0C82C70-F55B-6A0E-6914-941E15F8458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6411115-41BC-8417-EF1F-4924FA92425A}"/>
              </a:ext>
            </a:extLst>
          </p:cNvPr>
          <p:cNvSpPr>
            <a:spLocks noGrp="1"/>
          </p:cNvSpPr>
          <p:nvPr>
            <p:ph type="sldNum" sz="quarter" idx="12"/>
          </p:nvPr>
        </p:nvSpPr>
        <p:spPr/>
        <p:txBody>
          <a:bodyPr/>
          <a:lstStyle/>
          <a:p>
            <a:fld id="{10A4AB6E-1AC4-C44F-A0CC-883A0306AF8B}" type="slidenum">
              <a:rPr lang="en-US" smtClean="0"/>
              <a:t>22</a:t>
            </a:fld>
            <a:endParaRPr lang="en-US"/>
          </a:p>
        </p:txBody>
      </p:sp>
      <p:pic>
        <p:nvPicPr>
          <p:cNvPr id="7" name="Picture 6" descr="Neural-network diagram shows inputs x₁=0.35 and x₂=0.7 feeding hidden nodes h₁ and h₂ through labeled weights. Arrows continue toward output o₃, with notable weights w₁,₁=0.2, w₂,₁=0.2, w₁,₂=0.3, w₂,₂=0.3, w₁,₃=0.3, and w₂,₃=0.9.&#10;&#10;">
            <a:extLst>
              <a:ext uri="{FF2B5EF4-FFF2-40B4-BE49-F238E27FC236}">
                <a16:creationId xmlns:a16="http://schemas.microsoft.com/office/drawing/2014/main" id="{C20E32EA-5139-FF5A-2BC8-21ABFF929463}"/>
              </a:ext>
            </a:extLst>
          </p:cNvPr>
          <p:cNvPicPr>
            <a:picLocks noChangeAspect="1"/>
          </p:cNvPicPr>
          <p:nvPr/>
        </p:nvPicPr>
        <p:blipFill>
          <a:blip r:embed="rId2"/>
          <a:stretch>
            <a:fillRect/>
          </a:stretch>
        </p:blipFill>
        <p:spPr>
          <a:xfrm>
            <a:off x="3858740" y="3994203"/>
            <a:ext cx="4751860" cy="2375930"/>
          </a:xfrm>
          <a:prstGeom prst="rect">
            <a:avLst/>
          </a:prstGeom>
        </p:spPr>
      </p:pic>
    </p:spTree>
    <p:extLst>
      <p:ext uri="{BB962C8B-B14F-4D97-AF65-F5344CB8AC3E}">
        <p14:creationId xmlns:p14="http://schemas.microsoft.com/office/powerpoint/2010/main" val="4222380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06BB-D0C7-FDD3-0BB1-FC2577C34D06}"/>
              </a:ext>
            </a:extLst>
          </p:cNvPr>
          <p:cNvSpPr>
            <a:spLocks noGrp="1"/>
          </p:cNvSpPr>
          <p:nvPr>
            <p:ph type="title"/>
          </p:nvPr>
        </p:nvSpPr>
        <p:spPr/>
        <p:txBody>
          <a:bodyPr>
            <a:normAutofit fontScale="90000"/>
          </a:bodyPr>
          <a:lstStyle/>
          <a:p>
            <a:r>
              <a:rPr lang="en-US" dirty="0"/>
              <a:t>Backward Pass </a:t>
            </a:r>
          </a:p>
        </p:txBody>
      </p:sp>
      <p:sp>
        <p:nvSpPr>
          <p:cNvPr id="3" name="Content Placeholder 2">
            <a:extLst>
              <a:ext uri="{FF2B5EF4-FFF2-40B4-BE49-F238E27FC236}">
                <a16:creationId xmlns:a16="http://schemas.microsoft.com/office/drawing/2014/main" id="{849650B0-BD20-FDEA-3735-58B780485C2C}"/>
              </a:ext>
            </a:extLst>
          </p:cNvPr>
          <p:cNvSpPr>
            <a:spLocks noGrp="1"/>
          </p:cNvSpPr>
          <p:nvPr>
            <p:ph idx="1"/>
          </p:nvPr>
        </p:nvSpPr>
        <p:spPr/>
        <p:txBody>
          <a:bodyPr>
            <a:normAutofit/>
          </a:bodyPr>
          <a:lstStyle/>
          <a:p>
            <a:r>
              <a:rPr lang="en-US" dirty="0"/>
              <a:t>Error between predicted and actual output is propagated backward to update weights and biases</a:t>
            </a:r>
          </a:p>
          <a:p>
            <a:r>
              <a:rPr lang="en-US" dirty="0"/>
              <a:t>Gradients are computed using the chain rule</a:t>
            </a:r>
          </a:p>
          <a:p>
            <a:pPr lvl="0"/>
            <a:r>
              <a:rPr lang="en-US" dirty="0"/>
              <a:t>Weights and biases are updated to reduce the error</a:t>
            </a:r>
          </a:p>
          <a:p>
            <a:pPr lvl="0"/>
            <a:r>
              <a:rPr lang="en-US" dirty="0"/>
              <a:t>Process continues layer by layer from output to input</a:t>
            </a:r>
          </a:p>
          <a:p>
            <a:pPr lvl="0"/>
            <a:r>
              <a:rPr lang="en-US" dirty="0"/>
              <a:t>Derivatives of activation functions are used to compute gradients effectively</a:t>
            </a:r>
          </a:p>
        </p:txBody>
      </p:sp>
      <p:sp>
        <p:nvSpPr>
          <p:cNvPr id="4" name="Footer Placeholder 3">
            <a:extLst>
              <a:ext uri="{FF2B5EF4-FFF2-40B4-BE49-F238E27FC236}">
                <a16:creationId xmlns:a16="http://schemas.microsoft.com/office/drawing/2014/main" id="{4FE735B8-D163-5EDB-23AE-28D6F6F1CD7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C83436C8-1974-033E-D780-FDCAA482E692}"/>
              </a:ext>
            </a:extLst>
          </p:cNvPr>
          <p:cNvSpPr>
            <a:spLocks noGrp="1"/>
          </p:cNvSpPr>
          <p:nvPr>
            <p:ph type="sldNum" sz="quarter" idx="12"/>
          </p:nvPr>
        </p:nvSpPr>
        <p:spPr/>
        <p:txBody>
          <a:bodyPr/>
          <a:lstStyle/>
          <a:p>
            <a:fld id="{10A4AB6E-1AC4-C44F-A0CC-883A0306AF8B}" type="slidenum">
              <a:rPr lang="en-US" smtClean="0"/>
              <a:t>23</a:t>
            </a:fld>
            <a:endParaRPr lang="en-US"/>
          </a:p>
        </p:txBody>
      </p:sp>
      <p:pic>
        <p:nvPicPr>
          <p:cNvPr id="8" name="Picture 7" descr="Neural-network diagram illustrates feedforward processing from four inputs, a–d, through two hidden layers to output node o and final output. Yellow input nodes connect to green nodes h(1,1)–h(1,3), then blue nodes h(2,1)–h(2,3), while curved arrows labeled “Adjustments of weights through back propagation” show learning updates.&#10;&#10;">
            <a:extLst>
              <a:ext uri="{FF2B5EF4-FFF2-40B4-BE49-F238E27FC236}">
                <a16:creationId xmlns:a16="http://schemas.microsoft.com/office/drawing/2014/main" id="{70554365-57B7-5C8A-0861-C2954B75E451}"/>
              </a:ext>
            </a:extLst>
          </p:cNvPr>
          <p:cNvPicPr>
            <a:picLocks noChangeAspect="1"/>
          </p:cNvPicPr>
          <p:nvPr/>
        </p:nvPicPr>
        <p:blipFill>
          <a:blip r:embed="rId2"/>
          <a:stretch>
            <a:fillRect/>
          </a:stretch>
        </p:blipFill>
        <p:spPr>
          <a:xfrm>
            <a:off x="3790092" y="4064225"/>
            <a:ext cx="4611816" cy="2305908"/>
          </a:xfrm>
          <a:prstGeom prst="rect">
            <a:avLst/>
          </a:prstGeom>
        </p:spPr>
      </p:pic>
    </p:spTree>
    <p:extLst>
      <p:ext uri="{BB962C8B-B14F-4D97-AF65-F5344CB8AC3E}">
        <p14:creationId xmlns:p14="http://schemas.microsoft.com/office/powerpoint/2010/main" val="1543774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00215-E2DF-3785-4782-66C6267CBF00}"/>
              </a:ext>
            </a:extLst>
          </p:cNvPr>
          <p:cNvSpPr>
            <a:spLocks noGrp="1"/>
          </p:cNvSpPr>
          <p:nvPr>
            <p:ph type="title"/>
          </p:nvPr>
        </p:nvSpPr>
        <p:spPr/>
        <p:txBody>
          <a:bodyPr>
            <a:normAutofit fontScale="90000"/>
          </a:bodyPr>
          <a:lstStyle/>
          <a:p>
            <a:r>
              <a:rPr lang="en-US" dirty="0"/>
              <a:t>Learning Rate</a:t>
            </a:r>
          </a:p>
        </p:txBody>
      </p:sp>
      <p:graphicFrame>
        <p:nvGraphicFramePr>
          <p:cNvPr id="6" name="Content Placeholder 5">
            <a:extLst>
              <a:ext uri="{FF2B5EF4-FFF2-40B4-BE49-F238E27FC236}">
                <a16:creationId xmlns:a16="http://schemas.microsoft.com/office/drawing/2014/main" id="{ADC3BA77-70FF-B15E-38B2-D083FAC9ACA2}"/>
              </a:ext>
            </a:extLst>
          </p:cNvPr>
          <p:cNvGraphicFramePr>
            <a:graphicFrameLocks noGrp="1"/>
          </p:cNvGraphicFramePr>
          <p:nvPr>
            <p:ph idx="1"/>
            <p:extLst>
              <p:ext uri="{D42A27DB-BD31-4B8C-83A1-F6EECF244321}">
                <p14:modId xmlns:p14="http://schemas.microsoft.com/office/powerpoint/2010/main" val="2274145726"/>
              </p:ext>
            </p:extLst>
          </p:nvPr>
        </p:nvGraphicFramePr>
        <p:xfrm>
          <a:off x="529281" y="3429000"/>
          <a:ext cx="7018638" cy="1706880"/>
        </p:xfrm>
        <a:graphic>
          <a:graphicData uri="http://schemas.openxmlformats.org/drawingml/2006/table">
            <a:tbl>
              <a:tblPr firstRow="1">
                <a:tableStyleId>{073A0DAA-6AF3-43AB-8588-CEC1D06C72B9}</a:tableStyleId>
              </a:tblPr>
              <a:tblGrid>
                <a:gridCol w="2038865">
                  <a:extLst>
                    <a:ext uri="{9D8B030D-6E8A-4147-A177-3AD203B41FA5}">
                      <a16:colId xmlns:a16="http://schemas.microsoft.com/office/drawing/2014/main" val="3309654305"/>
                    </a:ext>
                  </a:extLst>
                </a:gridCol>
                <a:gridCol w="4979773">
                  <a:extLst>
                    <a:ext uri="{9D8B030D-6E8A-4147-A177-3AD203B41FA5}">
                      <a16:colId xmlns:a16="http://schemas.microsoft.com/office/drawing/2014/main" val="4062630890"/>
                    </a:ext>
                  </a:extLst>
                </a:gridCol>
              </a:tblGrid>
              <a:tr h="0">
                <a:tc>
                  <a:txBody>
                    <a:bodyPr/>
                    <a:lstStyle/>
                    <a:p>
                      <a:pPr>
                        <a:buNone/>
                      </a:pPr>
                      <a:r>
                        <a:rPr lang="en-US" sz="2200"/>
                        <a:t>Learning Rate</a:t>
                      </a:r>
                    </a:p>
                  </a:txBody>
                  <a:tcPr anchor="ctr"/>
                </a:tc>
                <a:tc>
                  <a:txBody>
                    <a:bodyPr/>
                    <a:lstStyle/>
                    <a:p>
                      <a:pPr>
                        <a:buNone/>
                      </a:pPr>
                      <a:r>
                        <a:rPr lang="en-US" sz="2200"/>
                        <a:t>Effect</a:t>
                      </a:r>
                    </a:p>
                  </a:txBody>
                  <a:tcPr anchor="ctr"/>
                </a:tc>
                <a:extLst>
                  <a:ext uri="{0D108BD9-81ED-4DB2-BD59-A6C34878D82A}">
                    <a16:rowId xmlns:a16="http://schemas.microsoft.com/office/drawing/2014/main" val="2849504445"/>
                  </a:ext>
                </a:extLst>
              </a:tr>
              <a:tr h="0">
                <a:tc>
                  <a:txBody>
                    <a:bodyPr/>
                    <a:lstStyle/>
                    <a:p>
                      <a:pPr>
                        <a:buNone/>
                      </a:pPr>
                      <a:r>
                        <a:rPr lang="en-US" sz="2200"/>
                        <a:t>Too high</a:t>
                      </a:r>
                    </a:p>
                  </a:txBody>
                  <a:tcPr anchor="ctr"/>
                </a:tc>
                <a:tc>
                  <a:txBody>
                    <a:bodyPr/>
                    <a:lstStyle/>
                    <a:p>
                      <a:pPr>
                        <a:buNone/>
                      </a:pPr>
                      <a:r>
                        <a:rPr lang="en-US" sz="2200"/>
                        <a:t>Training may bounce around or diverge</a:t>
                      </a:r>
                    </a:p>
                  </a:txBody>
                  <a:tcPr anchor="ctr"/>
                </a:tc>
                <a:extLst>
                  <a:ext uri="{0D108BD9-81ED-4DB2-BD59-A6C34878D82A}">
                    <a16:rowId xmlns:a16="http://schemas.microsoft.com/office/drawing/2014/main" val="1356038261"/>
                  </a:ext>
                </a:extLst>
              </a:tr>
              <a:tr h="0">
                <a:tc>
                  <a:txBody>
                    <a:bodyPr/>
                    <a:lstStyle/>
                    <a:p>
                      <a:pPr>
                        <a:buNone/>
                      </a:pPr>
                      <a:r>
                        <a:rPr lang="en-US" sz="2200" dirty="0"/>
                        <a:t>Too low</a:t>
                      </a:r>
                    </a:p>
                  </a:txBody>
                  <a:tcPr anchor="ctr"/>
                </a:tc>
                <a:tc>
                  <a:txBody>
                    <a:bodyPr/>
                    <a:lstStyle/>
                    <a:p>
                      <a:pPr>
                        <a:buNone/>
                      </a:pPr>
                      <a:r>
                        <a:rPr lang="en-US" sz="2200" dirty="0"/>
                        <a:t>Training may be very slow</a:t>
                      </a:r>
                    </a:p>
                  </a:txBody>
                  <a:tcPr anchor="ctr"/>
                </a:tc>
                <a:extLst>
                  <a:ext uri="{0D108BD9-81ED-4DB2-BD59-A6C34878D82A}">
                    <a16:rowId xmlns:a16="http://schemas.microsoft.com/office/drawing/2014/main" val="4089172679"/>
                  </a:ext>
                </a:extLst>
              </a:tr>
              <a:tr h="0">
                <a:tc>
                  <a:txBody>
                    <a:bodyPr/>
                    <a:lstStyle/>
                    <a:p>
                      <a:pPr>
                        <a:buNone/>
                      </a:pPr>
                      <a:r>
                        <a:rPr lang="en-US" sz="2200"/>
                        <a:t>Well chosen</a:t>
                      </a:r>
                    </a:p>
                  </a:txBody>
                  <a:tcPr anchor="ctr"/>
                </a:tc>
                <a:tc>
                  <a:txBody>
                    <a:bodyPr/>
                    <a:lstStyle/>
                    <a:p>
                      <a:pPr>
                        <a:buNone/>
                      </a:pPr>
                      <a:r>
                        <a:rPr lang="en-US" sz="2200" dirty="0"/>
                        <a:t>Loss decreases steadily</a:t>
                      </a:r>
                    </a:p>
                  </a:txBody>
                  <a:tcPr anchor="ctr"/>
                </a:tc>
                <a:extLst>
                  <a:ext uri="{0D108BD9-81ED-4DB2-BD59-A6C34878D82A}">
                    <a16:rowId xmlns:a16="http://schemas.microsoft.com/office/drawing/2014/main" val="3618684116"/>
                  </a:ext>
                </a:extLst>
              </a:tr>
            </a:tbl>
          </a:graphicData>
        </a:graphic>
      </p:graphicFrame>
      <p:sp>
        <p:nvSpPr>
          <p:cNvPr id="4" name="Footer Placeholder 3">
            <a:extLst>
              <a:ext uri="{FF2B5EF4-FFF2-40B4-BE49-F238E27FC236}">
                <a16:creationId xmlns:a16="http://schemas.microsoft.com/office/drawing/2014/main" id="{D7703FB2-B0C9-0FFA-1EC8-5559EDFBB12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5744A12-2594-C77C-A4A8-DFE008B183CA}"/>
              </a:ext>
            </a:extLst>
          </p:cNvPr>
          <p:cNvSpPr>
            <a:spLocks noGrp="1"/>
          </p:cNvSpPr>
          <p:nvPr>
            <p:ph type="sldNum" sz="quarter" idx="12"/>
          </p:nvPr>
        </p:nvSpPr>
        <p:spPr/>
        <p:txBody>
          <a:bodyPr/>
          <a:lstStyle/>
          <a:p>
            <a:fld id="{10A4AB6E-1AC4-C44F-A0CC-883A0306AF8B}" type="slidenum">
              <a:rPr lang="en-US" smtClean="0"/>
              <a:t>24</a:t>
            </a:fld>
            <a:endParaRPr lang="en-US"/>
          </a:p>
        </p:txBody>
      </p:sp>
      <p:sp>
        <p:nvSpPr>
          <p:cNvPr id="8" name="TextBox 7">
            <a:extLst>
              <a:ext uri="{FF2B5EF4-FFF2-40B4-BE49-F238E27FC236}">
                <a16:creationId xmlns:a16="http://schemas.microsoft.com/office/drawing/2014/main" id="{4D7D1BE7-20DF-A9B8-5CA2-140535CE10FE}"/>
              </a:ext>
            </a:extLst>
          </p:cNvPr>
          <p:cNvSpPr txBox="1"/>
          <p:nvPr/>
        </p:nvSpPr>
        <p:spPr>
          <a:xfrm>
            <a:off x="1143000" y="1141056"/>
            <a:ext cx="10422924" cy="1569660"/>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chemeClr val="tx1"/>
                </a:solidFill>
                <a:effectLst/>
              </a:rPr>
              <a:t>The learning rate controls how large each weight update is.</a:t>
            </a:r>
            <a:endParaRPr lang="en-US" sz="2400" dirty="0"/>
          </a:p>
          <a:p>
            <a:pPr marL="342900" indent="-342900" algn="l">
              <a:buFont typeface="Arial" panose="020B0604020202020204" pitchFamily="34" charset="0"/>
              <a:buChar char="•"/>
            </a:pPr>
            <a:r>
              <a:rPr lang="en-US" sz="2400" b="0" i="0" dirty="0">
                <a:solidFill>
                  <a:schemeClr val="tx1"/>
                </a:solidFill>
                <a:effectLst/>
              </a:rPr>
              <a:t>Learning rate is one of the most important deep learning hyperparameters.</a:t>
            </a:r>
          </a:p>
          <a:p>
            <a:pPr marL="342900" indent="-342900" algn="l" rtl="0">
              <a:buFont typeface="Arial" panose="020B0604020202020204" pitchFamily="34" charset="0"/>
              <a:buChar char="•"/>
            </a:pPr>
            <a:r>
              <a:rPr lang="en-US" sz="2400" b="0" i="0" dirty="0">
                <a:solidFill>
                  <a:schemeClr val="tx1"/>
                </a:solidFill>
                <a:effectLst/>
                <a:latin typeface="+mn-lt"/>
              </a:rPr>
              <a:t>small learning rate = cautious updates</a:t>
            </a:r>
          </a:p>
          <a:p>
            <a:pPr marL="342900" indent="-342900" algn="l" rtl="0">
              <a:buFont typeface="Arial" panose="020B0604020202020204" pitchFamily="34" charset="0"/>
              <a:buChar char="•"/>
            </a:pPr>
            <a:r>
              <a:rPr lang="en-US" sz="2400" b="0" i="0" dirty="0">
                <a:solidFill>
                  <a:schemeClr val="tx1"/>
                </a:solidFill>
                <a:effectLst/>
                <a:latin typeface="+mn-lt"/>
              </a:rPr>
              <a:t>large learning rate = aggressive updates</a:t>
            </a:r>
            <a:endParaRPr lang="en-US" sz="2400" b="0" i="0" dirty="0">
              <a:solidFill>
                <a:srgbClr val="FFFFFF"/>
              </a:solidFill>
              <a:effectLst/>
              <a:latin typeface="Courier New" panose="02070309020205020404" pitchFamily="49" charset="0"/>
            </a:endParaRPr>
          </a:p>
        </p:txBody>
      </p:sp>
      <p:pic>
        <p:nvPicPr>
          <p:cNvPr id="9" name="Content Placeholder 6" descr="Line graph illustrating iterative optimization, with f(X) vertical axis and x horizontal axis, tracing descent from Starting Point through Iterations 3 and 4 toward Convergence. Black curve reaches Final Value at red-labeled Minimum loss, with arrows and tick marks marking successive steps before rising on right.&#10;">
            <a:extLst>
              <a:ext uri="{FF2B5EF4-FFF2-40B4-BE49-F238E27FC236}">
                <a16:creationId xmlns:a16="http://schemas.microsoft.com/office/drawing/2014/main" id="{73A789F4-1D5F-7FCD-A62D-665869FC59CF}"/>
              </a:ext>
            </a:extLst>
          </p:cNvPr>
          <p:cNvPicPr>
            <a:picLocks noChangeAspect="1"/>
          </p:cNvPicPr>
          <p:nvPr/>
        </p:nvPicPr>
        <p:blipFill>
          <a:blip r:embed="rId2"/>
          <a:stretch>
            <a:fillRect/>
          </a:stretch>
        </p:blipFill>
        <p:spPr>
          <a:xfrm>
            <a:off x="7547919" y="2196831"/>
            <a:ext cx="4343330" cy="4171217"/>
          </a:xfrm>
          <a:prstGeom prst="rect">
            <a:avLst/>
          </a:prstGeom>
        </p:spPr>
      </p:pic>
    </p:spTree>
    <p:extLst>
      <p:ext uri="{BB962C8B-B14F-4D97-AF65-F5344CB8AC3E}">
        <p14:creationId xmlns:p14="http://schemas.microsoft.com/office/powerpoint/2010/main" val="1916123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F903E-05C0-C9CF-86B2-38ECA73DAC5E}"/>
              </a:ext>
            </a:extLst>
          </p:cNvPr>
          <p:cNvSpPr>
            <a:spLocks noGrp="1"/>
          </p:cNvSpPr>
          <p:nvPr>
            <p:ph type="title"/>
          </p:nvPr>
        </p:nvSpPr>
        <p:spPr/>
        <p:txBody>
          <a:bodyPr>
            <a:normAutofit fontScale="90000"/>
          </a:bodyPr>
          <a:lstStyle/>
          <a:p>
            <a:r>
              <a:rPr lang="en-US" dirty="0"/>
              <a:t>Learning Rate Example</a:t>
            </a:r>
          </a:p>
        </p:txBody>
      </p:sp>
      <p:sp>
        <p:nvSpPr>
          <p:cNvPr id="4" name="Footer Placeholder 3">
            <a:extLst>
              <a:ext uri="{FF2B5EF4-FFF2-40B4-BE49-F238E27FC236}">
                <a16:creationId xmlns:a16="http://schemas.microsoft.com/office/drawing/2014/main" id="{E45A2008-7306-0A3A-0A25-4AAEDA1CE933}"/>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DC87539-3A95-730C-2366-FCBCC232B6CD}"/>
              </a:ext>
            </a:extLst>
          </p:cNvPr>
          <p:cNvSpPr>
            <a:spLocks noGrp="1"/>
          </p:cNvSpPr>
          <p:nvPr>
            <p:ph type="sldNum" sz="quarter" idx="12"/>
          </p:nvPr>
        </p:nvSpPr>
        <p:spPr/>
        <p:txBody>
          <a:bodyPr/>
          <a:lstStyle/>
          <a:p>
            <a:fld id="{10A4AB6E-1AC4-C44F-A0CC-883A0306AF8B}" type="slidenum">
              <a:rPr lang="en-US" smtClean="0"/>
              <a:t>25</a:t>
            </a:fld>
            <a:endParaRPr lang="en-US"/>
          </a:p>
        </p:txBody>
      </p:sp>
      <p:pic>
        <p:nvPicPr>
          <p:cNvPr id="11" name="Content Placeholder 10" descr="Line chart titled “Learning rate controls how large each weight update is” compares loss versus parameter value across optimization paths. Gray loss curve forms a bowl-shaped landscape, while red, green, and blue paths represent learning rates 0.05, 0.25, and 0.9; higher rate shows large oscillations, whereas lower rates approach minimum near parameter value 1.5 and loss 0.&#10;">
            <a:extLst>
              <a:ext uri="{FF2B5EF4-FFF2-40B4-BE49-F238E27FC236}">
                <a16:creationId xmlns:a16="http://schemas.microsoft.com/office/drawing/2014/main" id="{B9048E32-A48A-5E4C-AE6F-521C543B8592}"/>
              </a:ext>
            </a:extLst>
          </p:cNvPr>
          <p:cNvPicPr>
            <a:picLocks noGrp="1" noChangeAspect="1"/>
          </p:cNvPicPr>
          <p:nvPr>
            <p:ph idx="1"/>
          </p:nvPr>
        </p:nvPicPr>
        <p:blipFill>
          <a:blip r:embed="rId2"/>
          <a:stretch>
            <a:fillRect/>
          </a:stretch>
        </p:blipFill>
        <p:spPr>
          <a:xfrm>
            <a:off x="2035565" y="1135063"/>
            <a:ext cx="8120870" cy="5011737"/>
          </a:xfrm>
          <a:prstGeom prst="rect">
            <a:avLst/>
          </a:prstGeom>
        </p:spPr>
      </p:pic>
    </p:spTree>
    <p:extLst>
      <p:ext uri="{BB962C8B-B14F-4D97-AF65-F5344CB8AC3E}">
        <p14:creationId xmlns:p14="http://schemas.microsoft.com/office/powerpoint/2010/main" val="38293413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0A3B6-0379-5E50-0C4E-CADC376284BA}"/>
              </a:ext>
            </a:extLst>
          </p:cNvPr>
          <p:cNvSpPr>
            <a:spLocks noGrp="1"/>
          </p:cNvSpPr>
          <p:nvPr>
            <p:ph type="title"/>
          </p:nvPr>
        </p:nvSpPr>
        <p:spPr/>
        <p:txBody>
          <a:bodyPr>
            <a:normAutofit fontScale="90000"/>
          </a:bodyPr>
          <a:lstStyle/>
          <a:p>
            <a:r>
              <a:rPr lang="en-US" dirty="0"/>
              <a:t>Iteration</a:t>
            </a:r>
          </a:p>
        </p:txBody>
      </p:sp>
      <p:sp>
        <p:nvSpPr>
          <p:cNvPr id="3" name="Content Placeholder 2">
            <a:extLst>
              <a:ext uri="{FF2B5EF4-FFF2-40B4-BE49-F238E27FC236}">
                <a16:creationId xmlns:a16="http://schemas.microsoft.com/office/drawing/2014/main" id="{894D1907-C266-1670-C18F-D4C58A50BBED}"/>
              </a:ext>
            </a:extLst>
          </p:cNvPr>
          <p:cNvSpPr>
            <a:spLocks noGrp="1"/>
          </p:cNvSpPr>
          <p:nvPr>
            <p:ph idx="1"/>
          </p:nvPr>
        </p:nvSpPr>
        <p:spPr/>
        <p:txBody>
          <a:bodyPr/>
          <a:lstStyle/>
          <a:p>
            <a:pPr marL="0" indent="0">
              <a:buNone/>
            </a:pPr>
            <a:r>
              <a:rPr lang="en-US" dirty="0"/>
              <a:t>This process of forward propagation, loss calculation, backpropagation and weight update is repeated for many iterations over the dataset. Over time, this iterative process reduces the loss and the network's predictions become more accurate.</a:t>
            </a:r>
          </a:p>
          <a:p>
            <a:endParaRPr lang="en-US" dirty="0"/>
          </a:p>
        </p:txBody>
      </p:sp>
      <p:sp>
        <p:nvSpPr>
          <p:cNvPr id="4" name="Footer Placeholder 3">
            <a:extLst>
              <a:ext uri="{FF2B5EF4-FFF2-40B4-BE49-F238E27FC236}">
                <a16:creationId xmlns:a16="http://schemas.microsoft.com/office/drawing/2014/main" id="{800B42D1-336F-F044-FB6C-8D7640E67C4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A4DFF08-2D81-696C-3A55-AE7C009DFF59}"/>
              </a:ext>
            </a:extLst>
          </p:cNvPr>
          <p:cNvSpPr>
            <a:spLocks noGrp="1"/>
          </p:cNvSpPr>
          <p:nvPr>
            <p:ph type="sldNum" sz="quarter" idx="12"/>
          </p:nvPr>
        </p:nvSpPr>
        <p:spPr/>
        <p:txBody>
          <a:bodyPr/>
          <a:lstStyle/>
          <a:p>
            <a:fld id="{10A4AB6E-1AC4-C44F-A0CC-883A0306AF8B}" type="slidenum">
              <a:rPr lang="en-US" smtClean="0"/>
              <a:t>26</a:t>
            </a:fld>
            <a:endParaRPr lang="en-US"/>
          </a:p>
        </p:txBody>
      </p:sp>
      <p:pic>
        <p:nvPicPr>
          <p:cNvPr id="6" name="Content Placeholder 6" descr="Neural-network architecture diagram showing inputs x₁ and x₂ passing through three fully connected layers with weights, scores, activation functions, and hidden units. Blue nodes mark inputs and scores, cyan nodes mark hidden units, gray blocks represent activation functions, and magenta nodes mark three outputs.">
            <a:extLst>
              <a:ext uri="{FF2B5EF4-FFF2-40B4-BE49-F238E27FC236}">
                <a16:creationId xmlns:a16="http://schemas.microsoft.com/office/drawing/2014/main" id="{9DED9DA3-5FDC-FC23-CBA5-5AABC8305C01}"/>
              </a:ext>
            </a:extLst>
          </p:cNvPr>
          <p:cNvPicPr>
            <a:picLocks noChangeAspect="1"/>
          </p:cNvPicPr>
          <p:nvPr/>
        </p:nvPicPr>
        <p:blipFill>
          <a:blip r:embed="rId2"/>
          <a:stretch>
            <a:fillRect/>
          </a:stretch>
        </p:blipFill>
        <p:spPr>
          <a:xfrm>
            <a:off x="2811763" y="2971584"/>
            <a:ext cx="6568474" cy="3279852"/>
          </a:xfrm>
          <a:prstGeom prst="rect">
            <a:avLst/>
          </a:prstGeom>
        </p:spPr>
      </p:pic>
    </p:spTree>
    <p:extLst>
      <p:ext uri="{BB962C8B-B14F-4D97-AF65-F5344CB8AC3E}">
        <p14:creationId xmlns:p14="http://schemas.microsoft.com/office/powerpoint/2010/main" val="2051789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DD5E-387C-BB9F-18D4-7CB6CE9A9EBA}"/>
              </a:ext>
            </a:extLst>
          </p:cNvPr>
          <p:cNvSpPr>
            <a:spLocks noGrp="1"/>
          </p:cNvSpPr>
          <p:nvPr>
            <p:ph type="title"/>
          </p:nvPr>
        </p:nvSpPr>
        <p:spPr/>
        <p:txBody>
          <a:bodyPr>
            <a:normAutofit fontScale="90000"/>
          </a:bodyPr>
          <a:lstStyle/>
          <a:p>
            <a:r>
              <a:rPr lang="en-US" dirty="0"/>
              <a:t>Classification Example</a:t>
            </a:r>
          </a:p>
        </p:txBody>
      </p:sp>
      <p:graphicFrame>
        <p:nvGraphicFramePr>
          <p:cNvPr id="6" name="Content Placeholder 5">
            <a:extLst>
              <a:ext uri="{FF2B5EF4-FFF2-40B4-BE49-F238E27FC236}">
                <a16:creationId xmlns:a16="http://schemas.microsoft.com/office/drawing/2014/main" id="{DF1880BB-7615-CBCE-4006-2CA648F71FEC}"/>
              </a:ext>
            </a:extLst>
          </p:cNvPr>
          <p:cNvGraphicFramePr>
            <a:graphicFrameLocks noGrp="1"/>
          </p:cNvGraphicFramePr>
          <p:nvPr>
            <p:ph idx="1"/>
            <p:extLst>
              <p:ext uri="{D42A27DB-BD31-4B8C-83A1-F6EECF244321}">
                <p14:modId xmlns:p14="http://schemas.microsoft.com/office/powerpoint/2010/main" val="16150935"/>
              </p:ext>
            </p:extLst>
          </p:nvPr>
        </p:nvGraphicFramePr>
        <p:xfrm>
          <a:off x="838200" y="4509156"/>
          <a:ext cx="10515600" cy="1005840"/>
        </p:xfrm>
        <a:graphic>
          <a:graphicData uri="http://schemas.openxmlformats.org/drawingml/2006/table">
            <a:tbl>
              <a:tblPr firstRow="1">
                <a:tableStyleId>{073A0DAA-6AF3-43AB-8588-CEC1D06C72B9}</a:tableStyleId>
              </a:tblPr>
              <a:tblGrid>
                <a:gridCol w="2103120">
                  <a:extLst>
                    <a:ext uri="{9D8B030D-6E8A-4147-A177-3AD203B41FA5}">
                      <a16:colId xmlns:a16="http://schemas.microsoft.com/office/drawing/2014/main" val="1389937024"/>
                    </a:ext>
                  </a:extLst>
                </a:gridCol>
                <a:gridCol w="2103120">
                  <a:extLst>
                    <a:ext uri="{9D8B030D-6E8A-4147-A177-3AD203B41FA5}">
                      <a16:colId xmlns:a16="http://schemas.microsoft.com/office/drawing/2014/main" val="2462109374"/>
                    </a:ext>
                  </a:extLst>
                </a:gridCol>
                <a:gridCol w="2103120">
                  <a:extLst>
                    <a:ext uri="{9D8B030D-6E8A-4147-A177-3AD203B41FA5}">
                      <a16:colId xmlns:a16="http://schemas.microsoft.com/office/drawing/2014/main" val="114515695"/>
                    </a:ext>
                  </a:extLst>
                </a:gridCol>
                <a:gridCol w="2103120">
                  <a:extLst>
                    <a:ext uri="{9D8B030D-6E8A-4147-A177-3AD203B41FA5}">
                      <a16:colId xmlns:a16="http://schemas.microsoft.com/office/drawing/2014/main" val="137322892"/>
                    </a:ext>
                  </a:extLst>
                </a:gridCol>
                <a:gridCol w="2103120">
                  <a:extLst>
                    <a:ext uri="{9D8B030D-6E8A-4147-A177-3AD203B41FA5}">
                      <a16:colId xmlns:a16="http://schemas.microsoft.com/office/drawing/2014/main" val="66388063"/>
                    </a:ext>
                  </a:extLst>
                </a:gridCol>
              </a:tblGrid>
              <a:tr h="0">
                <a:tc>
                  <a:txBody>
                    <a:bodyPr/>
                    <a:lstStyle/>
                    <a:p>
                      <a:pPr>
                        <a:buNone/>
                      </a:pPr>
                      <a:r>
                        <a:rPr lang="en-US"/>
                        <a:t>Email ID</a:t>
                      </a:r>
                    </a:p>
                  </a:txBody>
                  <a:tcPr anchor="ctr"/>
                </a:tc>
                <a:tc>
                  <a:txBody>
                    <a:bodyPr/>
                    <a:lstStyle/>
                    <a:p>
                      <a:pPr>
                        <a:buNone/>
                      </a:pPr>
                      <a:r>
                        <a:rPr lang="en-US"/>
                        <a:t>Email Content</a:t>
                      </a:r>
                    </a:p>
                  </a:txBody>
                  <a:tcPr anchor="ctr"/>
                </a:tc>
                <a:tc>
                  <a:txBody>
                    <a:bodyPr/>
                    <a:lstStyle/>
                    <a:p>
                      <a:pPr>
                        <a:buNone/>
                      </a:pPr>
                      <a:r>
                        <a:rPr lang="en-US"/>
                        <a:t>Sender</a:t>
                      </a:r>
                    </a:p>
                  </a:txBody>
                  <a:tcPr anchor="ctr"/>
                </a:tc>
                <a:tc>
                  <a:txBody>
                    <a:bodyPr/>
                    <a:lstStyle/>
                    <a:p>
                      <a:pPr>
                        <a:buNone/>
                      </a:pPr>
                      <a:r>
                        <a:rPr lang="en-US"/>
                        <a:t>Subject Line</a:t>
                      </a:r>
                    </a:p>
                  </a:txBody>
                  <a:tcPr anchor="ctr"/>
                </a:tc>
                <a:tc>
                  <a:txBody>
                    <a:bodyPr/>
                    <a:lstStyle/>
                    <a:p>
                      <a:pPr>
                        <a:buNone/>
                      </a:pPr>
                      <a:r>
                        <a:rPr lang="en-US"/>
                        <a:t>Label</a:t>
                      </a:r>
                    </a:p>
                  </a:txBody>
                  <a:tcPr anchor="ctr"/>
                </a:tc>
                <a:extLst>
                  <a:ext uri="{0D108BD9-81ED-4DB2-BD59-A6C34878D82A}">
                    <a16:rowId xmlns:a16="http://schemas.microsoft.com/office/drawing/2014/main" val="429936735"/>
                  </a:ext>
                </a:extLst>
              </a:tr>
              <a:tr h="0">
                <a:tc>
                  <a:txBody>
                    <a:bodyPr/>
                    <a:lstStyle/>
                    <a:p>
                      <a:pPr>
                        <a:buNone/>
                      </a:pPr>
                      <a:r>
                        <a:rPr lang="en-US"/>
                        <a:t>1</a:t>
                      </a:r>
                    </a:p>
                  </a:txBody>
                  <a:tcPr anchor="ctr"/>
                </a:tc>
                <a:tc>
                  <a:txBody>
                    <a:bodyPr/>
                    <a:lstStyle/>
                    <a:p>
                      <a:pPr>
                        <a:buNone/>
                      </a:pPr>
                      <a:r>
                        <a:rPr lang="en-US" dirty="0"/>
                        <a:t>"Get free gift cards now!"</a:t>
                      </a:r>
                    </a:p>
                  </a:txBody>
                  <a:tcPr anchor="ctr"/>
                </a:tc>
                <a:tc>
                  <a:txBody>
                    <a:bodyPr/>
                    <a:lstStyle/>
                    <a:p>
                      <a:pPr>
                        <a:buNone/>
                      </a:pPr>
                      <a:r>
                        <a:rPr lang="en-US"/>
                        <a:t>spam@example.com</a:t>
                      </a:r>
                    </a:p>
                  </a:txBody>
                  <a:tcPr anchor="ctr"/>
                </a:tc>
                <a:tc>
                  <a:txBody>
                    <a:bodyPr/>
                    <a:lstStyle/>
                    <a:p>
                      <a:pPr>
                        <a:buNone/>
                      </a:pPr>
                      <a:r>
                        <a:rPr lang="en-US"/>
                        <a:t>"Exclusive Offer"</a:t>
                      </a:r>
                    </a:p>
                  </a:txBody>
                  <a:tcPr anchor="ctr"/>
                </a:tc>
                <a:tc>
                  <a:txBody>
                    <a:bodyPr/>
                    <a:lstStyle/>
                    <a:p>
                      <a:pPr>
                        <a:buNone/>
                      </a:pPr>
                      <a:r>
                        <a:rPr lang="en-US" dirty="0"/>
                        <a:t>1</a:t>
                      </a:r>
                    </a:p>
                  </a:txBody>
                  <a:tcPr anchor="ctr"/>
                </a:tc>
                <a:extLst>
                  <a:ext uri="{0D108BD9-81ED-4DB2-BD59-A6C34878D82A}">
                    <a16:rowId xmlns:a16="http://schemas.microsoft.com/office/drawing/2014/main" val="995165319"/>
                  </a:ext>
                </a:extLst>
              </a:tr>
            </a:tbl>
          </a:graphicData>
        </a:graphic>
      </p:graphicFrame>
      <p:sp>
        <p:nvSpPr>
          <p:cNvPr id="4" name="Footer Placeholder 3">
            <a:extLst>
              <a:ext uri="{FF2B5EF4-FFF2-40B4-BE49-F238E27FC236}">
                <a16:creationId xmlns:a16="http://schemas.microsoft.com/office/drawing/2014/main" id="{A6851EB4-BA5F-1641-43CC-5FBA17D41BF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247EA79B-5E36-270E-07D2-0E0579E55084}"/>
              </a:ext>
            </a:extLst>
          </p:cNvPr>
          <p:cNvSpPr>
            <a:spLocks noGrp="1"/>
          </p:cNvSpPr>
          <p:nvPr>
            <p:ph type="sldNum" sz="quarter" idx="12"/>
          </p:nvPr>
        </p:nvSpPr>
        <p:spPr/>
        <p:txBody>
          <a:bodyPr/>
          <a:lstStyle/>
          <a:p>
            <a:fld id="{10A4AB6E-1AC4-C44F-A0CC-883A0306AF8B}" type="slidenum">
              <a:rPr lang="en-US" smtClean="0"/>
              <a:t>27</a:t>
            </a:fld>
            <a:endParaRPr lang="en-US"/>
          </a:p>
        </p:txBody>
      </p:sp>
      <p:sp>
        <p:nvSpPr>
          <p:cNvPr id="8" name="TextBox 7">
            <a:extLst>
              <a:ext uri="{FF2B5EF4-FFF2-40B4-BE49-F238E27FC236}">
                <a16:creationId xmlns:a16="http://schemas.microsoft.com/office/drawing/2014/main" id="{5689890B-31E6-9422-DD96-26CE2DA302D0}"/>
              </a:ext>
            </a:extLst>
          </p:cNvPr>
          <p:cNvSpPr txBox="1"/>
          <p:nvPr/>
        </p:nvSpPr>
        <p:spPr>
          <a:xfrm>
            <a:off x="729048" y="1120291"/>
            <a:ext cx="11034583" cy="3046988"/>
          </a:xfrm>
          <a:prstGeom prst="rect">
            <a:avLst/>
          </a:prstGeom>
          <a:noFill/>
        </p:spPr>
        <p:txBody>
          <a:bodyPr wrap="square">
            <a:spAutoFit/>
          </a:bodyPr>
          <a:lstStyle/>
          <a:p>
            <a:pPr rtl="0">
              <a:buNone/>
            </a:pPr>
            <a:r>
              <a:rPr lang="en-US" sz="2400" dirty="0"/>
              <a:t>Let's consider a record of an email dataset: </a:t>
            </a:r>
          </a:p>
          <a:p>
            <a:pPr marL="285750" indent="-285750" rtl="0">
              <a:buFont typeface="Arial" panose="020B0604020202020204" pitchFamily="34" charset="0"/>
              <a:buChar char="•"/>
            </a:pPr>
            <a:r>
              <a:rPr lang="en-US" sz="2400" dirty="0"/>
              <a:t>To classify this email, we will create a feature vector based on the analysis of keywords such as "free" "win" and "offer"</a:t>
            </a:r>
          </a:p>
          <a:p>
            <a:pPr marL="285750" indent="-285750" rtl="0">
              <a:buFont typeface="Arial" panose="020B0604020202020204" pitchFamily="34" charset="0"/>
              <a:buChar char="•"/>
            </a:pPr>
            <a:r>
              <a:rPr lang="en-US" sz="2400" dirty="0"/>
              <a:t>The resulting feature vector is:</a:t>
            </a:r>
          </a:p>
          <a:p>
            <a:pPr marL="800100" lvl="1" indent="-342900">
              <a:buFont typeface="Arial" panose="020B0604020202020204" pitchFamily="34" charset="0"/>
              <a:buChar char="•"/>
            </a:pPr>
            <a:r>
              <a:rPr lang="en-US" sz="2400" b="1" dirty="0"/>
              <a:t>free: </a:t>
            </a:r>
            <a:r>
              <a:rPr lang="en-US" sz="2400" dirty="0"/>
              <a:t>Present (1)</a:t>
            </a:r>
          </a:p>
          <a:p>
            <a:pPr marL="800100" lvl="1" indent="-342900">
              <a:buFont typeface="Arial" panose="020B0604020202020204" pitchFamily="34" charset="0"/>
              <a:buChar char="•"/>
            </a:pPr>
            <a:r>
              <a:rPr lang="en-US" sz="2400" b="1" dirty="0"/>
              <a:t>win: </a:t>
            </a:r>
            <a:r>
              <a:rPr lang="en-US" sz="2400" dirty="0"/>
              <a:t>Absent (0)</a:t>
            </a:r>
          </a:p>
          <a:p>
            <a:pPr marL="800100" lvl="1" indent="-342900">
              <a:buFont typeface="Arial" panose="020B0604020202020204" pitchFamily="34" charset="0"/>
              <a:buChar char="•"/>
            </a:pPr>
            <a:r>
              <a:rPr lang="en-US" sz="2400" b="1" dirty="0"/>
              <a:t>offer:</a:t>
            </a:r>
            <a:r>
              <a:rPr lang="en-US" sz="2400" dirty="0"/>
              <a:t> Present (1)</a:t>
            </a:r>
          </a:p>
          <a:p>
            <a:pPr marL="285750" indent="-285750" rtl="0">
              <a:buFont typeface="Arial" panose="020B0604020202020204" pitchFamily="34" charset="0"/>
              <a:buChar char="•"/>
            </a:pPr>
            <a:r>
              <a:rPr lang="en-US" sz="2400" b="1" dirty="0"/>
              <a:t>Feature Vector: </a:t>
            </a:r>
            <a:r>
              <a:rPr lang="en-US" sz="2400" dirty="0"/>
              <a:t>[1, 0, 1]</a:t>
            </a:r>
          </a:p>
        </p:txBody>
      </p:sp>
    </p:spTree>
    <p:extLst>
      <p:ext uri="{BB962C8B-B14F-4D97-AF65-F5344CB8AC3E}">
        <p14:creationId xmlns:p14="http://schemas.microsoft.com/office/powerpoint/2010/main" val="2668021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71AB7-19AA-F167-5A4A-83D30C50A252}"/>
              </a:ext>
            </a:extLst>
          </p:cNvPr>
          <p:cNvSpPr>
            <a:spLocks noGrp="1"/>
          </p:cNvSpPr>
          <p:nvPr>
            <p:ph type="title"/>
          </p:nvPr>
        </p:nvSpPr>
        <p:spPr/>
        <p:txBody>
          <a:bodyPr>
            <a:normAutofit fontScale="90000"/>
          </a:bodyPr>
          <a:lstStyle/>
          <a:p>
            <a:r>
              <a:rPr lang="en-US" dirty="0"/>
              <a:t>Hidden Layer Calculation:</a:t>
            </a:r>
          </a:p>
        </p:txBody>
      </p:sp>
      <p:sp>
        <p:nvSpPr>
          <p:cNvPr id="3" name="Content Placeholder 2">
            <a:extLst>
              <a:ext uri="{FF2B5EF4-FFF2-40B4-BE49-F238E27FC236}">
                <a16:creationId xmlns:a16="http://schemas.microsoft.com/office/drawing/2014/main" id="{2FC51004-D0C0-612E-03AF-EF785CD8FDB7}"/>
              </a:ext>
            </a:extLst>
          </p:cNvPr>
          <p:cNvSpPr>
            <a:spLocks noGrp="1"/>
          </p:cNvSpPr>
          <p:nvPr>
            <p:ph idx="1"/>
          </p:nvPr>
        </p:nvSpPr>
        <p:spPr/>
        <p:txBody>
          <a:bodyPr/>
          <a:lstStyle/>
          <a:p>
            <a:r>
              <a:rPr lang="en-US" dirty="0"/>
              <a:t>Assume the hidden layer contains two neurons with the following weights</a:t>
            </a:r>
          </a:p>
          <a:p>
            <a:pPr lvl="0"/>
            <a:r>
              <a:rPr lang="en-US" dirty="0"/>
              <a:t>Neuron H1: [ 0.5, −0.2, 0.3]</a:t>
            </a:r>
          </a:p>
          <a:p>
            <a:pPr lvl="0"/>
            <a:r>
              <a:rPr lang="en-US" dirty="0"/>
              <a:t>Neuron H2: [ 0.4, 0.1, −0.5]</a:t>
            </a:r>
          </a:p>
          <a:p>
            <a:r>
              <a:rPr lang="en-US" dirty="0"/>
              <a:t>For the input vector [1, 0, 1], the weighted sums are:</a:t>
            </a:r>
          </a:p>
          <a:p>
            <a:pPr lvl="0"/>
            <a:r>
              <a:rPr lang="en-US" b="1" dirty="0"/>
              <a:t>For H1: (</a:t>
            </a:r>
            <a:r>
              <a:rPr lang="en-US" dirty="0"/>
              <a:t>1 × 0.5) +(0 × −0.2) + (1 × 0.3) = 0.5 + 0 + 0.3 = 0.8</a:t>
            </a:r>
          </a:p>
          <a:p>
            <a:pPr lvl="0"/>
            <a:r>
              <a:rPr lang="en-US" b="1" dirty="0"/>
              <a:t>For H2: </a:t>
            </a:r>
            <a:r>
              <a:rPr lang="en-US" dirty="0"/>
              <a:t>(1 × 0.4) +(0 × 0.1) + (1 × −0.5) = 0.4 + 0 − 0.5 =−0.1</a:t>
            </a:r>
          </a:p>
          <a:p>
            <a:endParaRPr lang="en-US" dirty="0"/>
          </a:p>
        </p:txBody>
      </p:sp>
      <p:sp>
        <p:nvSpPr>
          <p:cNvPr id="5" name="Slide Number Placeholder 4">
            <a:extLst>
              <a:ext uri="{FF2B5EF4-FFF2-40B4-BE49-F238E27FC236}">
                <a16:creationId xmlns:a16="http://schemas.microsoft.com/office/drawing/2014/main" id="{92849A14-EF93-B67D-CE89-99D5705E8BD2}"/>
              </a:ext>
            </a:extLst>
          </p:cNvPr>
          <p:cNvSpPr>
            <a:spLocks noGrp="1"/>
          </p:cNvSpPr>
          <p:nvPr>
            <p:ph type="sldNum" sz="quarter" idx="12"/>
          </p:nvPr>
        </p:nvSpPr>
        <p:spPr/>
        <p:txBody>
          <a:bodyPr/>
          <a:lstStyle/>
          <a:p>
            <a:fld id="{10A4AB6E-1AC4-C44F-A0CC-883A0306AF8B}" type="slidenum">
              <a:rPr lang="en-US" smtClean="0"/>
              <a:t>28</a:t>
            </a:fld>
            <a:endParaRPr lang="en-US"/>
          </a:p>
        </p:txBody>
      </p:sp>
      <p:pic>
        <p:nvPicPr>
          <p:cNvPr id="6" name="Picture 5" descr="Neural-network diagram illustrating spam-probability prediction from inputs free, win, and offer through ReLU hidden neurons H1 and H2. Green circular nodes connect via weighted arrows: inputs carry weights 0.5, 0.4, 0.2, 0.1, 0.3, and −0.5; hidden outputs carry weights 0.7 and 0.2 to Spam Probability.&#10;">
            <a:extLst>
              <a:ext uri="{FF2B5EF4-FFF2-40B4-BE49-F238E27FC236}">
                <a16:creationId xmlns:a16="http://schemas.microsoft.com/office/drawing/2014/main" id="{58897056-5DEA-52EC-6F75-F2C6CD5AE06C}"/>
              </a:ext>
            </a:extLst>
          </p:cNvPr>
          <p:cNvPicPr>
            <a:picLocks noChangeAspect="1"/>
          </p:cNvPicPr>
          <p:nvPr/>
        </p:nvPicPr>
        <p:blipFill>
          <a:blip r:embed="rId2"/>
          <a:stretch>
            <a:fillRect/>
          </a:stretch>
        </p:blipFill>
        <p:spPr>
          <a:xfrm>
            <a:off x="3814805" y="4576805"/>
            <a:ext cx="4562389" cy="2281195"/>
          </a:xfrm>
          <a:prstGeom prst="rect">
            <a:avLst/>
          </a:prstGeom>
        </p:spPr>
      </p:pic>
    </p:spTree>
    <p:extLst>
      <p:ext uri="{BB962C8B-B14F-4D97-AF65-F5344CB8AC3E}">
        <p14:creationId xmlns:p14="http://schemas.microsoft.com/office/powerpoint/2010/main" val="2654638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E69BF-92A1-BE7D-8E4A-B3785DE6AD72}"/>
              </a:ext>
            </a:extLst>
          </p:cNvPr>
          <p:cNvSpPr>
            <a:spLocks noGrp="1"/>
          </p:cNvSpPr>
          <p:nvPr>
            <p:ph type="title"/>
          </p:nvPr>
        </p:nvSpPr>
        <p:spPr/>
        <p:txBody>
          <a:bodyPr>
            <a:normAutofit fontScale="90000"/>
          </a:bodyPr>
          <a:lstStyle/>
          <a:p>
            <a:r>
              <a:rPr lang="en-US" dirty="0"/>
              <a:t>Applying the </a:t>
            </a:r>
            <a:r>
              <a:rPr lang="en-US" dirty="0" err="1"/>
              <a:t>ReLU</a:t>
            </a:r>
            <a:r>
              <a:rPr lang="en-US" dirty="0"/>
              <a:t> activation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1C690C-5ADB-62D6-C0E9-5F6F0A008071}"/>
                  </a:ext>
                </a:extLst>
              </p:cNvPr>
              <p:cNvSpPr>
                <a:spLocks noGrp="1"/>
              </p:cNvSpPr>
              <p:nvPr>
                <p:ph idx="1"/>
              </p:nvPr>
            </p:nvSpPr>
            <p:spPr/>
            <p:txBody>
              <a:bodyPr/>
              <a:lstStyle/>
              <a:p>
                <a:pPr lvl="0"/>
                <a:r>
                  <a:rPr lang="en-US" dirty="0"/>
                  <a:t>H1 Output: </a:t>
                </a:r>
                <a:r>
                  <a:rPr lang="en-US" dirty="0" err="1"/>
                  <a:t>ReLU</a:t>
                </a:r>
                <a:r>
                  <a:rPr lang="en-US" dirty="0"/>
                  <a:t>(0.8) = 0.8</a:t>
                </a:r>
              </a:p>
              <a:p>
                <a:pPr lvl="0"/>
                <a:r>
                  <a:rPr lang="en-US" dirty="0"/>
                  <a:t>H2 Output: </a:t>
                </a:r>
                <a:r>
                  <a:rPr lang="en-US" dirty="0" err="1"/>
                  <a:t>ReLu</a:t>
                </a:r>
                <a:r>
                  <a:rPr lang="en-US" dirty="0"/>
                  <a:t>(-0.1) = 0</a:t>
                </a:r>
              </a:p>
              <a:p>
                <a:r>
                  <a:rPr lang="en-US" dirty="0">
                    <a:effectLst/>
                  </a:rPr>
                  <a:t>Output Layer: The outputs from the hidden layer are then passed to the output neuron.</a:t>
                </a:r>
              </a:p>
              <a:p>
                <a:pPr lvl="0"/>
                <a:r>
                  <a:rPr lang="en-US" dirty="0"/>
                  <a:t>Output Weights: [0.7, 0.2]</a:t>
                </a:r>
              </a:p>
              <a:p>
                <a:pPr lvl="0"/>
                <a:r>
                  <a:rPr lang="en-US" dirty="0"/>
                  <a:t>Input from Hidden Layer: [0.8, 0]</a:t>
                </a:r>
              </a:p>
              <a:p>
                <a:pPr lvl="0"/>
                <a:r>
                  <a:rPr lang="en-US" dirty="0"/>
                  <a:t>Weighted Sum: (0.8×0.7)+(0×0.2)=0.56+0=0.56</a:t>
                </a:r>
              </a:p>
              <a:p>
                <a:pPr lvl="0"/>
                <a:r>
                  <a:rPr lang="en-US" dirty="0"/>
                  <a:t>Activation (Sigmoid): </a:t>
                </a:r>
                <a14:m>
                  <m:oMath xmlns:m="http://schemas.openxmlformats.org/officeDocument/2006/math">
                    <m:r>
                      <a:rPr lang="en-US" b="0" i="1" smtClean="0">
                        <a:latin typeface="Cambria Math" panose="02040503050406030204" pitchFamily="18" charset="0"/>
                      </a:rPr>
                      <m:t>𝜎</m:t>
                    </m:r>
                    <m:d>
                      <m:dPr>
                        <m:ctrlPr>
                          <a:rPr lang="en-US" b="0" smtClean="0">
                            <a:latin typeface="Cambria Math" panose="02040503050406030204" pitchFamily="18" charset="0"/>
                          </a:rPr>
                        </m:ctrlPr>
                      </m:dPr>
                      <m:e>
                        <m:r>
                          <a:rPr lang="en-US" b="0" smtClean="0">
                            <a:latin typeface="Cambria Math" panose="02040503050406030204" pitchFamily="18" charset="0"/>
                          </a:rPr>
                          <m:t>0.56</m:t>
                        </m:r>
                      </m:e>
                    </m:d>
                    <m:r>
                      <a:rPr lang="en-US" b="0" smtClean="0">
                        <a:latin typeface="Cambria Math" panose="02040503050406030204" pitchFamily="18" charset="0"/>
                      </a:rPr>
                      <m:t>=</m:t>
                    </m:r>
                    <m:f>
                      <m:fPr>
                        <m:ctrlPr>
                          <a:rPr lang="en-US" b="0" smtClean="0">
                            <a:latin typeface="Cambria Math" panose="02040503050406030204" pitchFamily="18" charset="0"/>
                          </a:rPr>
                        </m:ctrlPr>
                      </m:fPr>
                      <m:num>
                        <m:r>
                          <a:rPr lang="en-US" b="0" smtClean="0">
                            <a:latin typeface="Cambria Math" panose="02040503050406030204" pitchFamily="18" charset="0"/>
                          </a:rPr>
                          <m:t>1</m:t>
                        </m:r>
                      </m:num>
                      <m:den>
                        <m:r>
                          <a:rPr lang="en-US" b="0"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smtClean="0">
                                <a:latin typeface="Cambria Math" panose="02040503050406030204" pitchFamily="18" charset="0"/>
                              </a:rPr>
                              <m:t>−0.56</m:t>
                            </m:r>
                          </m:sup>
                        </m:sSup>
                      </m:den>
                    </m:f>
                    <m:r>
                      <a:rPr lang="en-US" b="0" smtClean="0">
                        <a:latin typeface="Cambria Math" panose="02040503050406030204" pitchFamily="18" charset="0"/>
                      </a:rPr>
                      <m:t>≈0.636</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E61C690C-5ADB-62D6-C0E9-5F6F0A008071}"/>
                  </a:ext>
                </a:extLst>
              </p:cNvPr>
              <p:cNvSpPr>
                <a:spLocks noGrp="1" noRot="1" noChangeAspect="1" noMove="1" noResize="1" noEditPoints="1" noAdjustHandles="1" noChangeArrowheads="1" noChangeShapeType="1" noTextEdit="1"/>
              </p:cNvSpPr>
              <p:nvPr>
                <p:ph idx="1"/>
              </p:nvPr>
            </p:nvSpPr>
            <p:spPr>
              <a:blipFill>
                <a:blip r:embed="rId2"/>
                <a:stretch>
                  <a:fillRect l="-108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6DE8021A-8558-7F41-F7D5-D274D84AC288}"/>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FCA1331-89CD-9938-AD6B-7A65BE854CD7}"/>
              </a:ext>
            </a:extLst>
          </p:cNvPr>
          <p:cNvSpPr>
            <a:spLocks noGrp="1"/>
          </p:cNvSpPr>
          <p:nvPr>
            <p:ph type="sldNum" sz="quarter" idx="12"/>
          </p:nvPr>
        </p:nvSpPr>
        <p:spPr/>
        <p:txBody>
          <a:bodyPr/>
          <a:lstStyle/>
          <a:p>
            <a:fld id="{10A4AB6E-1AC4-C44F-A0CC-883A0306AF8B}" type="slidenum">
              <a:rPr lang="en-US" smtClean="0"/>
              <a:t>29</a:t>
            </a:fld>
            <a:endParaRPr lang="en-US"/>
          </a:p>
        </p:txBody>
      </p:sp>
    </p:spTree>
    <p:extLst>
      <p:ext uri="{BB962C8B-B14F-4D97-AF65-F5344CB8AC3E}">
        <p14:creationId xmlns:p14="http://schemas.microsoft.com/office/powerpoint/2010/main" val="1123762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6145C-D06C-8C94-998F-CCC4DBADB1D4}"/>
              </a:ext>
            </a:extLst>
          </p:cNvPr>
          <p:cNvSpPr>
            <a:spLocks noGrp="1"/>
          </p:cNvSpPr>
          <p:nvPr>
            <p:ph type="title"/>
          </p:nvPr>
        </p:nvSpPr>
        <p:spPr/>
        <p:txBody>
          <a:bodyPr>
            <a:normAutofit fontScale="90000"/>
          </a:bodyPr>
          <a:lstStyle/>
          <a:p>
            <a:r>
              <a:rPr lang="en-US" dirty="0"/>
              <a:t>Final Classification</a:t>
            </a:r>
          </a:p>
        </p:txBody>
      </p:sp>
      <p:sp>
        <p:nvSpPr>
          <p:cNvPr id="3" name="Content Placeholder 2">
            <a:extLst>
              <a:ext uri="{FF2B5EF4-FFF2-40B4-BE49-F238E27FC236}">
                <a16:creationId xmlns:a16="http://schemas.microsoft.com/office/drawing/2014/main" id="{0CF9D8C6-8039-3EA5-43AC-897F0F3D7195}"/>
              </a:ext>
            </a:extLst>
          </p:cNvPr>
          <p:cNvSpPr>
            <a:spLocks noGrp="1"/>
          </p:cNvSpPr>
          <p:nvPr>
            <p:ph idx="1"/>
          </p:nvPr>
        </p:nvSpPr>
        <p:spPr/>
        <p:txBody>
          <a:bodyPr/>
          <a:lstStyle/>
          <a:p>
            <a:pPr lvl="0"/>
            <a:r>
              <a:rPr lang="en-US" dirty="0"/>
              <a:t>The output value of approximately </a:t>
            </a:r>
            <a:r>
              <a:rPr lang="en-US" b="1" dirty="0"/>
              <a:t>0.636</a:t>
            </a:r>
            <a:r>
              <a:rPr lang="en-US" dirty="0"/>
              <a:t> indicates the probability of the email being spam.</a:t>
            </a:r>
          </a:p>
          <a:p>
            <a:pPr lvl="0"/>
            <a:r>
              <a:rPr lang="en-US" dirty="0"/>
              <a:t>Since this value is greater than 0.5, the neural network classifies the email as spam (1).</a:t>
            </a:r>
          </a:p>
          <a:p>
            <a:endParaRPr lang="en-US" dirty="0"/>
          </a:p>
        </p:txBody>
      </p:sp>
      <p:sp>
        <p:nvSpPr>
          <p:cNvPr id="4" name="Footer Placeholder 3">
            <a:extLst>
              <a:ext uri="{FF2B5EF4-FFF2-40B4-BE49-F238E27FC236}">
                <a16:creationId xmlns:a16="http://schemas.microsoft.com/office/drawing/2014/main" id="{ED4725ED-D9BD-401C-73A7-F820D1FDA8C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26286B5-6B88-F8D2-7483-217EE65D59B9}"/>
              </a:ext>
            </a:extLst>
          </p:cNvPr>
          <p:cNvSpPr>
            <a:spLocks noGrp="1"/>
          </p:cNvSpPr>
          <p:nvPr>
            <p:ph type="sldNum" sz="quarter" idx="12"/>
          </p:nvPr>
        </p:nvSpPr>
        <p:spPr/>
        <p:txBody>
          <a:bodyPr/>
          <a:lstStyle/>
          <a:p>
            <a:fld id="{10A4AB6E-1AC4-C44F-A0CC-883A0306AF8B}" type="slidenum">
              <a:rPr lang="en-US" smtClean="0"/>
              <a:t>30</a:t>
            </a:fld>
            <a:endParaRPr lang="en-US"/>
          </a:p>
        </p:txBody>
      </p:sp>
      <p:pic>
        <p:nvPicPr>
          <p:cNvPr id="7" name="Picture 6" descr="Neural-network diagram illustrating spam-probability prediction from inputs free, win, and offer through ReLU hidden neurons H1 and H2. Green circular nodes connect via weighted arrows: inputs carry weights 0.5, 0.4, 0.2, 0.1, 0.3, and −0.5; hidden outputs carry weights 0.7 and 0.2 to Spam Probability.">
            <a:extLst>
              <a:ext uri="{FF2B5EF4-FFF2-40B4-BE49-F238E27FC236}">
                <a16:creationId xmlns:a16="http://schemas.microsoft.com/office/drawing/2014/main" id="{2CF77462-D0DE-279F-5473-31538EEA0FA3}"/>
              </a:ext>
            </a:extLst>
          </p:cNvPr>
          <p:cNvPicPr>
            <a:picLocks noChangeAspect="1"/>
          </p:cNvPicPr>
          <p:nvPr/>
        </p:nvPicPr>
        <p:blipFill>
          <a:blip r:embed="rId2"/>
          <a:stretch>
            <a:fillRect/>
          </a:stretch>
        </p:blipFill>
        <p:spPr>
          <a:xfrm>
            <a:off x="3125164" y="3175686"/>
            <a:ext cx="5941672" cy="2970836"/>
          </a:xfrm>
          <a:prstGeom prst="rect">
            <a:avLst/>
          </a:prstGeom>
        </p:spPr>
      </p:pic>
    </p:spTree>
    <p:extLst>
      <p:ext uri="{BB962C8B-B14F-4D97-AF65-F5344CB8AC3E}">
        <p14:creationId xmlns:p14="http://schemas.microsoft.com/office/powerpoint/2010/main" val="26821293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FEEFE-78A6-FB87-1725-F37A370D4640}"/>
              </a:ext>
            </a:extLst>
          </p:cNvPr>
          <p:cNvSpPr>
            <a:spLocks noGrp="1"/>
          </p:cNvSpPr>
          <p:nvPr>
            <p:ph type="title"/>
          </p:nvPr>
        </p:nvSpPr>
        <p:spPr/>
        <p:txBody>
          <a:bodyPr>
            <a:normAutofit fontScale="90000"/>
          </a:bodyPr>
          <a:lstStyle/>
          <a:p>
            <a:r>
              <a:rPr lang="en-US" dirty="0"/>
              <a:t>Second Example</a:t>
            </a:r>
          </a:p>
        </p:txBody>
      </p:sp>
      <p:sp>
        <p:nvSpPr>
          <p:cNvPr id="4" name="Footer Placeholder 3">
            <a:extLst>
              <a:ext uri="{FF2B5EF4-FFF2-40B4-BE49-F238E27FC236}">
                <a16:creationId xmlns:a16="http://schemas.microsoft.com/office/drawing/2014/main" id="{9DCF335A-8E58-770A-6418-D0DF33A210E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A782E18-53FA-C300-C80E-CE6360E92D80}"/>
              </a:ext>
            </a:extLst>
          </p:cNvPr>
          <p:cNvSpPr>
            <a:spLocks noGrp="1"/>
          </p:cNvSpPr>
          <p:nvPr>
            <p:ph type="sldNum" sz="quarter" idx="12"/>
          </p:nvPr>
        </p:nvSpPr>
        <p:spPr/>
        <p:txBody>
          <a:bodyPr/>
          <a:lstStyle/>
          <a:p>
            <a:fld id="{10A4AB6E-1AC4-C44F-A0CC-883A0306AF8B}" type="slidenum">
              <a:rPr lang="en-US" smtClean="0"/>
              <a:t>31</a:t>
            </a:fld>
            <a:endParaRPr lang="en-US"/>
          </a:p>
        </p:txBody>
      </p:sp>
      <p:pic>
        <p:nvPicPr>
          <p:cNvPr id="6" name="Picture 5" descr="Neural-network diagram illustrating forward propagation from inputs x₁=0.35 and x₂=0.7 through hidden nodes h₁ and h₂ to output O₃. Directed arrows label weights w₁,₁=0.2, w₂,₁=0.2, w₁,₂=0.3, w₂,₂=0.3, w₁,₃=0.3, and w₂,₃=0.9, with red labels Y₃, Y₄, and Y₅ marking node outputs.&#10;&#10;">
            <a:extLst>
              <a:ext uri="{FF2B5EF4-FFF2-40B4-BE49-F238E27FC236}">
                <a16:creationId xmlns:a16="http://schemas.microsoft.com/office/drawing/2014/main" id="{23BCB098-BC56-AACB-7BE4-C4BAC7260AF6}"/>
              </a:ext>
            </a:extLst>
          </p:cNvPr>
          <p:cNvPicPr>
            <a:picLocks noChangeAspect="1"/>
          </p:cNvPicPr>
          <p:nvPr/>
        </p:nvPicPr>
        <p:blipFill>
          <a:blip r:embed="rId2"/>
          <a:stretch>
            <a:fillRect/>
          </a:stretch>
        </p:blipFill>
        <p:spPr>
          <a:xfrm>
            <a:off x="1243913" y="1323374"/>
            <a:ext cx="9704173" cy="4852087"/>
          </a:xfrm>
          <a:prstGeom prst="rect">
            <a:avLst/>
          </a:prstGeom>
        </p:spPr>
      </p:pic>
    </p:spTree>
    <p:extLst>
      <p:ext uri="{BB962C8B-B14F-4D97-AF65-F5344CB8AC3E}">
        <p14:creationId xmlns:p14="http://schemas.microsoft.com/office/powerpoint/2010/main" val="40425386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FAB39-2BB9-5E6C-A0C2-09D80FEECD1E}"/>
              </a:ext>
            </a:extLst>
          </p:cNvPr>
          <p:cNvSpPr>
            <a:spLocks noGrp="1"/>
          </p:cNvSpPr>
          <p:nvPr>
            <p:ph type="title"/>
          </p:nvPr>
        </p:nvSpPr>
        <p:spPr/>
        <p:txBody>
          <a:bodyPr>
            <a:normAutofit fontScale="90000"/>
          </a:bodyPr>
          <a:lstStyle/>
          <a:p>
            <a:r>
              <a:rPr lang="en-US" dirty="0"/>
              <a:t>Forward Propagation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6A280D-030C-FA00-A917-6C3558758294}"/>
                  </a:ext>
                </a:extLst>
              </p:cNvPr>
              <p:cNvSpPr>
                <a:spLocks noGrp="1"/>
              </p:cNvSpPr>
              <p:nvPr>
                <p:ph idx="1"/>
              </p:nvPr>
            </p:nvSpPr>
            <p:spPr/>
            <p:txBody>
              <a:bodyPr>
                <a:normAutofit fontScale="92500" lnSpcReduction="20000"/>
              </a:bodyPr>
              <a:lstStyle/>
              <a:p>
                <a:r>
                  <a:rPr lang="en-US" dirty="0"/>
                  <a:t>The weighted sum at each node is calculated using:</a:t>
                </a:r>
              </a:p>
              <a:p>
                <a:pPr marL="0" indent="0">
                  <a:buNone/>
                </a:pPr>
                <a14:m>
                  <m:oMathPara xmlns:m="http://schemas.openxmlformats.org/officeDocument/2006/math">
                    <m:oMath>
                      <m:r>
                        <a:rPr lang="en-US" i="1">
                          <a:latin typeface="Cambria Math" panose="02040503050406030204" pitchFamily="18" charset="0"/>
                        </a:rPr>
                        <m:t>𝑎𝑗</m:t>
                      </m:r>
                      <m:r>
                        <m:rPr>
                          <m:nor/>
                        </m:rPr>
                        <a:rPr lang="en-US" i="0"/>
                        <m:t>​</m:t>
                      </m:r>
                      <m:r>
                        <a:rPr lang="en-US">
                          <a:latin typeface="Cambria Math" panose="02040503050406030204" pitchFamily="18" charset="0"/>
                        </a:rPr>
                        <m:t>=</m:t>
                      </m:r>
                      <m:nary>
                        <m:naryPr>
                          <m:chr m:val="∑"/>
                          <m:grow m:val="on"/>
                          <m:subHide m:val="on"/>
                          <m:supHide m:val="on"/>
                          <m:ctrlPr>
                            <a:rPr lang="en-US" i="1">
                              <a:latin typeface="Cambria Math" panose="02040503050406030204" pitchFamily="18" charset="0"/>
                            </a:rPr>
                          </m:ctrlPr>
                        </m:naryPr>
                        <m:sub/>
                        <m:sup/>
                        <m:e>
                          <m:r>
                            <a:rPr lang="en-US">
                              <a:latin typeface="Cambria Math" panose="02040503050406030204" pitchFamily="18" charset="0"/>
                            </a:rPr>
                            <m:t>(</m:t>
                          </m:r>
                        </m:e>
                      </m:nary>
                      <m:d>
                        <m:dPr>
                          <m:begChr m:val=""/>
                          <m:sepChr m:val=","/>
                          <m:ctrlPr>
                            <a:rPr lang="en-US" i="1">
                              <a:latin typeface="Cambria Math" panose="02040503050406030204" pitchFamily="18" charset="0"/>
                            </a:rPr>
                          </m:ctrlPr>
                        </m:dPr>
                        <m:e>
                          <m:r>
                            <a:rPr lang="en-US" i="1">
                              <a:latin typeface="Cambria Math" panose="02040503050406030204" pitchFamily="18" charset="0"/>
                            </a:rPr>
                            <m:t>𝑤</m:t>
                          </m:r>
                        </m:e>
                        <m:e>
                          <m:r>
                            <a:rPr lang="en-US" i="1">
                              <a:latin typeface="Cambria Math" panose="02040503050406030204" pitchFamily="18" charset="0"/>
                            </a:rPr>
                            <m:t>𝑖</m:t>
                          </m:r>
                          <m:r>
                            <m:rPr>
                              <m:nor/>
                            </m:rPr>
                            <a:rPr lang="en-US" i="0"/>
                            <m:t>​</m:t>
                          </m:r>
                          <m:r>
                            <a:rPr lang="en-US" i="1">
                              <a:latin typeface="Cambria Math" panose="02040503050406030204" pitchFamily="18" charset="0"/>
                            </a:rPr>
                            <m:t>𝑗</m:t>
                          </m:r>
                          <m:r>
                            <a:rPr lang="en-US">
                              <a:latin typeface="Cambria Math" panose="02040503050406030204" pitchFamily="18" charset="0"/>
                            </a:rPr>
                            <m:t>∗</m:t>
                          </m:r>
                          <m:r>
                            <a:rPr lang="en-US" i="1">
                              <a:latin typeface="Cambria Math" panose="02040503050406030204" pitchFamily="18" charset="0"/>
                            </a:rPr>
                            <m:t>𝑥𝑖</m:t>
                          </m:r>
                          <m:r>
                            <m:rPr>
                              <m:nor/>
                            </m:rPr>
                            <a:rPr lang="en-US" i="0"/>
                            <m:t>​</m:t>
                          </m:r>
                        </m:e>
                      </m:d>
                    </m:oMath>
                  </m:oMathPara>
                </a14:m>
                <a:endParaRPr lang="en-US" dirty="0">
                  <a:effectLst/>
                </a:endParaRPr>
              </a:p>
              <a:p>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sub>
                    </m:sSub>
                  </m:oMath>
                </a14:m>
                <a:r>
                  <a:rPr lang="en-US" dirty="0"/>
                  <a:t>is the weighted sum of all the inputs and weights at each node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r>
                          <a:rPr lang="en-US">
                            <a:latin typeface="Cambria Math" panose="02040503050406030204" pitchFamily="18" charset="0"/>
                          </a:rPr>
                          <m:t>,</m:t>
                        </m:r>
                        <m:r>
                          <a:rPr lang="en-US" i="1">
                            <a:latin typeface="Cambria Math" panose="02040503050406030204" pitchFamily="18" charset="0"/>
                          </a:rPr>
                          <m:t>𝑗</m:t>
                        </m:r>
                      </m:sub>
                    </m:sSub>
                  </m:oMath>
                </a14:m>
                <a:r>
                  <a:rPr lang="en-US" dirty="0"/>
                  <a:t>represents the weights between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𝑡ℎ</m:t>
                        </m:r>
                      </m:sup>
                    </m:sSup>
                  </m:oMath>
                </a14:m>
                <a:r>
                  <a:rPr lang="en-US" dirty="0"/>
                  <a:t>input and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𝑗</m:t>
                        </m:r>
                      </m:e>
                      <m:sup>
                        <m:r>
                          <a:rPr lang="en-US" i="1">
                            <a:latin typeface="Cambria Math" panose="02040503050406030204" pitchFamily="18" charset="0"/>
                          </a:rPr>
                          <m:t>𝑡ℎ</m:t>
                        </m:r>
                      </m:sup>
                    </m:sSup>
                  </m:oMath>
                </a14:m>
                <a:r>
                  <a:rPr lang="en-US" dirty="0"/>
                  <a:t>neuron</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oMath>
                </a14:m>
                <a:r>
                  <a:rPr lang="en-US" dirty="0"/>
                  <a:t>represents the value of the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𝑖</m:t>
                        </m:r>
                      </m:e>
                      <m:sup>
                        <m:r>
                          <a:rPr lang="en-US" i="1">
                            <a:latin typeface="Cambria Math" panose="02040503050406030204" pitchFamily="18" charset="0"/>
                          </a:rPr>
                          <m:t>𝑡ℎ</m:t>
                        </m:r>
                      </m:sup>
                    </m:sSup>
                  </m:oMath>
                </a14:m>
                <a:r>
                  <a:rPr lang="en-US" dirty="0"/>
                  <a:t>input</a:t>
                </a:r>
              </a:p>
              <a:p>
                <a:r>
                  <a:rPr lang="en-US" b="1" dirty="0"/>
                  <a:t>O (output): </a:t>
                </a:r>
                <a:r>
                  <a:rPr lang="en-US" dirty="0"/>
                  <a:t>After applying the activation function to a, we get the output of the neuron: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𝑜</m:t>
                        </m:r>
                      </m:e>
                      <m:sub>
                        <m:r>
                          <a:rPr lang="en-US" i="1">
                            <a:latin typeface="Cambria Math" panose="02040503050406030204" pitchFamily="18" charset="0"/>
                          </a:rPr>
                          <m:t>𝑗</m:t>
                        </m:r>
                      </m:sub>
                    </m:sSub>
                  </m:oMath>
                </a14:m>
                <a:r>
                  <a:rPr lang="en-US" dirty="0">
                    <a:effectLst/>
                  </a:rPr>
                  <a:t>= activation function(</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sub>
                    </m:sSub>
                  </m:oMath>
                </a14:m>
                <a:r>
                  <a:rPr lang="en-US" dirty="0">
                    <a:effectLst/>
                  </a:rPr>
                  <a:t>)</a:t>
                </a:r>
              </a:p>
              <a:p>
                <a:r>
                  <a:rPr lang="en-US" dirty="0"/>
                  <a:t>The sigmoid function returns a value between 0 and 1, introducing non-linearity into the model.</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𝑗</m:t>
                          </m:r>
                        </m:sub>
                      </m:sSub>
                      <m:r>
                        <a:rPr lang="en-US">
                          <a:latin typeface="Cambria Math" panose="02040503050406030204" pitchFamily="18" charset="0"/>
                        </a:rPr>
                        <m:t>=</m:t>
                      </m:r>
                      <m:f>
                        <m:fPr>
                          <m:ctrlPr>
                            <a:rPr lang="en-US">
                              <a:latin typeface="Cambria Math" panose="02040503050406030204" pitchFamily="18" charset="0"/>
                            </a:rPr>
                          </m:ctrlPr>
                        </m:fPr>
                        <m:num>
                          <m:r>
                            <a:rPr lang="en-US">
                              <a:latin typeface="Cambria Math" panose="02040503050406030204" pitchFamily="18" charset="0"/>
                            </a:rPr>
                            <m:t>1</m:t>
                          </m:r>
                        </m:num>
                        <m:den>
                          <m:r>
                            <a:rPr lang="en-US">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𝑗</m:t>
                                  </m:r>
                                </m:sub>
                              </m:sSub>
                            </m:sup>
                          </m:sSup>
                        </m:den>
                      </m:f>
                    </m:oMath>
                  </m:oMathPara>
                </a14:m>
                <a:endParaRPr lang="en-US" dirty="0">
                  <a:effectLst/>
                </a:endParaRPr>
              </a:p>
              <a:p>
                <a:pPr lvl="1"/>
                <a:r>
                  <a:rPr lang="en-US" dirty="0"/>
                  <a:t>To find the outputs of y3, y4 and y5</a:t>
                </a:r>
              </a:p>
            </p:txBody>
          </p:sp>
        </mc:Choice>
        <mc:Fallback xmlns="">
          <p:sp>
            <p:nvSpPr>
              <p:cNvPr id="3" name="Content Placeholder 2">
                <a:extLst>
                  <a:ext uri="{FF2B5EF4-FFF2-40B4-BE49-F238E27FC236}">
                    <a16:creationId xmlns:a16="http://schemas.microsoft.com/office/drawing/2014/main" id="{BA6A280D-030C-FA00-A917-6C3558758294}"/>
                  </a:ext>
                </a:extLst>
              </p:cNvPr>
              <p:cNvSpPr>
                <a:spLocks noGrp="1" noRot="1" noChangeAspect="1" noMove="1" noResize="1" noEditPoints="1" noAdjustHandles="1" noChangeArrowheads="1" noChangeShapeType="1" noTextEdit="1"/>
              </p:cNvSpPr>
              <p:nvPr>
                <p:ph idx="1"/>
              </p:nvPr>
            </p:nvSpPr>
            <p:spPr>
              <a:blipFill>
                <a:blip r:embed="rId2"/>
                <a:stretch>
                  <a:fillRect l="-965" t="-24051" r="-483" b="-177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A3DF19D7-B908-8770-9484-ED45929D7A35}"/>
              </a:ext>
            </a:extLst>
          </p:cNvPr>
          <p:cNvSpPr>
            <a:spLocks noGrp="1"/>
          </p:cNvSpPr>
          <p:nvPr>
            <p:ph type="ftr" sz="quarter" idx="11"/>
          </p:nvPr>
        </p:nvSpPr>
        <p:spPr/>
        <p:txBody>
          <a:bodyPr/>
          <a:lstStyle/>
          <a:p>
            <a:r>
              <a:rPr lang="en-US" dirty="0"/>
              <a:t>GEOL 599</a:t>
            </a:r>
          </a:p>
        </p:txBody>
      </p:sp>
      <p:sp>
        <p:nvSpPr>
          <p:cNvPr id="5" name="Slide Number Placeholder 4">
            <a:extLst>
              <a:ext uri="{FF2B5EF4-FFF2-40B4-BE49-F238E27FC236}">
                <a16:creationId xmlns:a16="http://schemas.microsoft.com/office/drawing/2014/main" id="{67AAB375-BDBA-51E5-27D3-2226F1A5E8DF}"/>
              </a:ext>
            </a:extLst>
          </p:cNvPr>
          <p:cNvSpPr>
            <a:spLocks noGrp="1"/>
          </p:cNvSpPr>
          <p:nvPr>
            <p:ph type="sldNum" sz="quarter" idx="12"/>
          </p:nvPr>
        </p:nvSpPr>
        <p:spPr/>
        <p:txBody>
          <a:bodyPr/>
          <a:lstStyle/>
          <a:p>
            <a:fld id="{10A4AB6E-1AC4-C44F-A0CC-883A0306AF8B}" type="slidenum">
              <a:rPr lang="en-US" smtClean="0"/>
              <a:t>32</a:t>
            </a:fld>
            <a:endParaRPr lang="en-US"/>
          </a:p>
        </p:txBody>
      </p:sp>
      <p:pic>
        <p:nvPicPr>
          <p:cNvPr id="7" name="Picture 6" descr="Neural-network diagram illustrating forward propagation from inputs x₁=0.35 and x₂=0.7 through hidden nodes h₁ and h₂ to output O₃. Directed arrows label weights w₁,₁=0.2, w₂,₁=0.2, w₁,₂=0.3, w₂,₂=0.3, w₁,₃=0.3, and w₂,₃=0.9, with red labels Y₃, Y₄, and Y₅ marking node outputs.&#10;&#10;">
            <a:extLst>
              <a:ext uri="{FF2B5EF4-FFF2-40B4-BE49-F238E27FC236}">
                <a16:creationId xmlns:a16="http://schemas.microsoft.com/office/drawing/2014/main" id="{4B78C28C-1BA8-462E-4298-8D20A4ACC444}"/>
              </a:ext>
            </a:extLst>
          </p:cNvPr>
          <p:cNvPicPr>
            <a:picLocks noChangeAspect="1"/>
          </p:cNvPicPr>
          <p:nvPr/>
        </p:nvPicPr>
        <p:blipFill>
          <a:blip r:embed="rId3"/>
          <a:stretch>
            <a:fillRect/>
          </a:stretch>
        </p:blipFill>
        <p:spPr>
          <a:xfrm>
            <a:off x="8475575" y="-41770"/>
            <a:ext cx="3716425" cy="1858213"/>
          </a:xfrm>
          <a:prstGeom prst="rect">
            <a:avLst/>
          </a:prstGeom>
        </p:spPr>
      </p:pic>
    </p:spTree>
    <p:extLst>
      <p:ext uri="{BB962C8B-B14F-4D97-AF65-F5344CB8AC3E}">
        <p14:creationId xmlns:p14="http://schemas.microsoft.com/office/powerpoint/2010/main" val="2677328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A25D9-FDB0-6C2A-A515-2C49BFD990E6}"/>
              </a:ext>
            </a:extLst>
          </p:cNvPr>
          <p:cNvSpPr>
            <a:spLocks noGrp="1"/>
          </p:cNvSpPr>
          <p:nvPr>
            <p:ph type="title"/>
          </p:nvPr>
        </p:nvSpPr>
        <p:spPr/>
        <p:txBody>
          <a:bodyPr>
            <a:normAutofit fontScale="90000"/>
          </a:bodyPr>
          <a:lstStyle/>
          <a:p>
            <a:r>
              <a:rPr lang="en-US" dirty="0"/>
              <a:t>Computing Outputs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DC3810-6688-E5C6-F2F8-8A79F963DDEE}"/>
                  </a:ext>
                </a:extLst>
              </p:cNvPr>
              <p:cNvSpPr>
                <a:spLocks noGrp="1"/>
              </p:cNvSpPr>
              <p:nvPr>
                <p:ph idx="1"/>
              </p:nvPr>
            </p:nvSpPr>
            <p:spPr>
              <a:xfrm>
                <a:off x="838200" y="1135094"/>
                <a:ext cx="10925432" cy="5011428"/>
              </a:xfrm>
            </p:spPr>
            <p:txBody>
              <a:bodyPr>
                <a:normAutofit/>
              </a:bodyPr>
              <a:lstStyle/>
              <a:p>
                <a:r>
                  <a:rPr lang="en-US" sz="2400" dirty="0"/>
                  <a:t>At h1 node </a:t>
                </a:r>
              </a:p>
              <a:p>
                <a:pPr marL="0" indent="0">
                  <a:buNone/>
                </a:pPr>
                <a14:m>
                  <m:oMathPara xmlns:m="http://schemas.openxmlformats.org/officeDocument/2006/math">
                    <m:oMath>
                      <m:eqArr>
                        <m:eqArrPr>
                          <m:ctrlPr>
                            <a:rPr lang="en-US" sz="2400" i="1">
                              <a:latin typeface="Cambria Math" panose="02040503050406030204" pitchFamily="18" charset="0"/>
                            </a:rPr>
                          </m:ctrlPr>
                        </m:eqArr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1,1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a:latin typeface="Cambria Math" panose="02040503050406030204" pitchFamily="18" charset="0"/>
                                    </a:rPr>
                                    <m:t>1</m:t>
                                  </m:r>
                                </m:sub>
                              </m:sSub>
                            </m:e>
                          </m:d>
                          <m:r>
                            <a:rPr lang="en-US" sz="240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2,1</m:t>
                                  </m:r>
                                </m:sub>
                              </m:sSub>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a:latin typeface="Cambria Math" panose="02040503050406030204" pitchFamily="18" charset="0"/>
                                    </a:rPr>
                                    <m:t>2</m:t>
                                  </m:r>
                                </m:sub>
                              </m:sSub>
                            </m:e>
                          </m:d>
                        </m:e>
                        <m:e>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0.2∗0.35</m:t>
                              </m:r>
                            </m:e>
                          </m:d>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0.2∗0.7</m:t>
                              </m:r>
                            </m:e>
                          </m:d>
                        </m:e>
                        <m:e>
                          <m:r>
                            <a:rPr lang="en-US" sz="2400">
                              <a:latin typeface="Cambria Math" panose="02040503050406030204" pitchFamily="18" charset="0"/>
                            </a:rPr>
                            <m:t>=0.21</m:t>
                          </m:r>
                        </m:e>
                      </m:eqArr>
                    </m:oMath>
                  </m:oMathPara>
                </a14:m>
                <a:endParaRPr lang="en-US" sz="2400" dirty="0">
                  <a:effectLst/>
                </a:endParaRPr>
              </a:p>
              <a:p>
                <a:r>
                  <a:rPr lang="en-US" sz="2400" dirty="0"/>
                  <a:t>Once we calculated the a</a:t>
                </a:r>
                <a:r>
                  <a:rPr lang="en-US" sz="2400" baseline="-25000" dirty="0"/>
                  <a:t>1</a:t>
                </a:r>
                <a:r>
                  <a:rPr lang="en-US" sz="2400" dirty="0"/>
                  <a:t> value, we can now proceed to find the y</a:t>
                </a:r>
                <a:r>
                  <a:rPr lang="en-US" sz="2400" baseline="-25000" dirty="0"/>
                  <a:t>3</a:t>
                </a:r>
                <a:r>
                  <a:rPr lang="en-US" sz="2400" dirty="0"/>
                  <a:t> value:</a:t>
                </a:r>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𝑗</m:t>
                          </m:r>
                        </m:sub>
                      </m:sSub>
                      <m:r>
                        <a:rPr lang="en-US" sz="2400">
                          <a:latin typeface="Cambria Math" panose="02040503050406030204" pitchFamily="18" charset="0"/>
                        </a:rPr>
                        <m:t>=</m:t>
                      </m:r>
                      <m:r>
                        <a:rPr lang="en-US" sz="2400" i="1">
                          <a:latin typeface="Cambria Math" panose="02040503050406030204" pitchFamily="18" charset="0"/>
                        </a:rPr>
                        <m:t>𝐹</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𝑗</m:t>
                              </m:r>
                            </m:sub>
                          </m:sSub>
                        </m:e>
                      </m:d>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sup>
                          </m:sSup>
                        </m:den>
                      </m:f>
                      <m:r>
                        <a:rPr lang="en-US" sz="2400" b="0" i="1" smtClean="0">
                          <a:latin typeface="Cambria Math" panose="02040503050406030204" pitchFamily="18" charset="0"/>
                        </a:rPr>
                        <m:t>=</m:t>
                      </m:r>
                      <m:r>
                        <a:rPr lang="en-US" sz="2400" i="1">
                          <a:latin typeface="Cambria Math" panose="02040503050406030204" pitchFamily="18" charset="0"/>
                        </a:rPr>
                        <m:t>𝐹</m:t>
                      </m:r>
                      <m:d>
                        <m:dPr>
                          <m:ctrlPr>
                            <a:rPr lang="en-US" sz="2400">
                              <a:latin typeface="Cambria Math" panose="02040503050406030204" pitchFamily="18" charset="0"/>
                            </a:rPr>
                          </m:ctrlPr>
                        </m:dPr>
                        <m:e>
                          <m:r>
                            <a:rPr lang="en-US" sz="2400">
                              <a:latin typeface="Cambria Math" panose="02040503050406030204" pitchFamily="18" charset="0"/>
                            </a:rPr>
                            <m:t>0.21</m:t>
                          </m:r>
                        </m:e>
                      </m:d>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a:latin typeface="Cambria Math" panose="02040503050406030204" pitchFamily="18" charset="0"/>
                                </a:rPr>
                                <m:t>−0.21</m:t>
                              </m:r>
                            </m:sup>
                          </m:sSup>
                        </m:den>
                      </m:f>
                      <m:r>
                        <a:rPr lang="en-US" sz="2400">
                          <a:latin typeface="Cambria Math" panose="02040503050406030204" pitchFamily="18" charset="0"/>
                        </a:rPr>
                        <m:t>=0.56</m:t>
                      </m:r>
                    </m:oMath>
                  </m:oMathPara>
                </a14:m>
                <a:endParaRPr lang="en-US" sz="2400" dirty="0">
                  <a:effectLst/>
                </a:endParaRPr>
              </a:p>
              <a:p>
                <a:r>
                  <a:rPr lang="en-US" sz="2400" dirty="0"/>
                  <a:t>Similarly find the values of y</a:t>
                </a:r>
                <a:r>
                  <a:rPr lang="en-US" sz="2400" baseline="-25000" dirty="0"/>
                  <a:t>4</a:t>
                </a:r>
                <a:r>
                  <a:rPr lang="en-US" sz="2400" dirty="0"/>
                  <a:t> at </a:t>
                </a:r>
                <a:r>
                  <a:rPr lang="en-US" sz="2400" b="1" dirty="0"/>
                  <a:t>h</a:t>
                </a:r>
                <a:r>
                  <a:rPr lang="en-US" sz="2400" b="1" baseline="-25000" dirty="0"/>
                  <a:t>2 </a:t>
                </a:r>
                <a:r>
                  <a:rPr lang="en-US" sz="2400" dirty="0"/>
                  <a:t>and y</a:t>
                </a:r>
                <a:r>
                  <a:rPr lang="en-US" sz="2400" baseline="-25000" dirty="0"/>
                  <a:t>5 </a:t>
                </a:r>
                <a:r>
                  <a:rPr lang="en-US" sz="2400" dirty="0"/>
                  <a:t>at O</a:t>
                </a:r>
                <a:r>
                  <a:rPr lang="en-US" sz="2400" baseline="-25000" dirty="0"/>
                  <a:t>3 </a:t>
                </a:r>
                <a:endParaRPr lang="en-US" sz="2400" dirty="0"/>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2</m:t>
                          </m:r>
                        </m:sub>
                      </m:sSub>
                      <m:r>
                        <a:rPr lang="en-US" sz="240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1,2</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a:latin typeface="Cambria Math" panose="02040503050406030204" pitchFamily="18" charset="0"/>
                                </a:rPr>
                                <m:t>1</m:t>
                              </m:r>
                            </m:sub>
                          </m:sSub>
                        </m:e>
                      </m:d>
                      <m:r>
                        <a:rPr lang="en-US" sz="240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2,2</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a:latin typeface="Cambria Math" panose="02040503050406030204" pitchFamily="18" charset="0"/>
                                </a:rPr>
                                <m:t>2</m:t>
                              </m:r>
                            </m:sub>
                          </m:sSub>
                        </m:e>
                      </m:d>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0.3∗0.35</m:t>
                          </m:r>
                        </m:e>
                      </m:d>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0.3∗0.7</m:t>
                          </m:r>
                        </m:e>
                      </m:d>
                      <m:r>
                        <a:rPr lang="en-US" sz="2400">
                          <a:latin typeface="Cambria Math" panose="02040503050406030204" pitchFamily="18" charset="0"/>
                        </a:rPr>
                        <m:t>=0.315</m:t>
                      </m:r>
                    </m:oMath>
                  </m:oMathPara>
                </a14:m>
                <a:endParaRPr lang="en-US" sz="2400" dirty="0">
                  <a:effectLst/>
                </a:endParaRPr>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a:latin typeface="Cambria Math" panose="02040503050406030204" pitchFamily="18" charset="0"/>
                            </a:rPr>
                            <m:t>4</m:t>
                          </m:r>
                        </m:sub>
                      </m:sSub>
                      <m:r>
                        <a:rPr lang="en-US" sz="2400">
                          <a:latin typeface="Cambria Math" panose="02040503050406030204" pitchFamily="18" charset="0"/>
                        </a:rPr>
                        <m:t>=</m:t>
                      </m:r>
                      <m:r>
                        <a:rPr lang="en-US" sz="2400" i="1">
                          <a:latin typeface="Cambria Math" panose="02040503050406030204" pitchFamily="18" charset="0"/>
                        </a:rPr>
                        <m:t>𝐹</m:t>
                      </m:r>
                      <m:d>
                        <m:dPr>
                          <m:ctrlPr>
                            <a:rPr lang="en-US" sz="2400">
                              <a:latin typeface="Cambria Math" panose="02040503050406030204" pitchFamily="18" charset="0"/>
                            </a:rPr>
                          </m:ctrlPr>
                        </m:dPr>
                        <m:e>
                          <m:r>
                            <a:rPr lang="en-US" sz="2400">
                              <a:latin typeface="Cambria Math" panose="02040503050406030204" pitchFamily="18" charset="0"/>
                            </a:rPr>
                            <m:t>0.315</m:t>
                          </m:r>
                        </m:e>
                      </m:d>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a:latin typeface="Cambria Math" panose="02040503050406030204" pitchFamily="18" charset="0"/>
                                </a:rPr>
                                <m:t>−0.315</m:t>
                              </m:r>
                            </m:sup>
                          </m:sSup>
                        </m:den>
                      </m:f>
                    </m:oMath>
                  </m:oMathPara>
                </a14:m>
                <a:endParaRPr lang="en-US" sz="2400" dirty="0">
                  <a:effectLst/>
                </a:endParaRPr>
              </a:p>
              <a:p>
                <a:pPr marL="0" indent="0">
                  <a:buNone/>
                </a:pPr>
                <a14:m>
                  <m:oMathPara xmlns:m="http://schemas.openxmlformats.org/officeDocument/2006/math">
                    <m:oMath>
                      <m:r>
                        <a:rPr lang="en-US" sz="2400" i="1">
                          <a:latin typeface="Cambria Math" panose="02040503050406030204" pitchFamily="18" charset="0"/>
                        </a:rPr>
                        <m:t>𝑎</m:t>
                      </m:r>
                      <m:r>
                        <a:rPr lang="en-US" sz="2400">
                          <a:latin typeface="Cambria Math" panose="02040503050406030204" pitchFamily="18" charset="0"/>
                        </a:rPr>
                        <m:t>3=</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1,3</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a:latin typeface="Cambria Math" panose="02040503050406030204" pitchFamily="18" charset="0"/>
                                </a:rPr>
                                <m:t>3</m:t>
                              </m:r>
                            </m:sub>
                          </m:sSub>
                        </m:e>
                      </m:d>
                      <m:r>
                        <a:rPr lang="en-US" sz="2400">
                          <a:latin typeface="Cambria Math" panose="02040503050406030204" pitchFamily="18" charset="0"/>
                        </a:rPr>
                        <m:t>+</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𝑤</m:t>
                              </m:r>
                            </m:e>
                            <m:sub>
                              <m:r>
                                <a:rPr lang="en-US" sz="2400">
                                  <a:latin typeface="Cambria Math" panose="02040503050406030204" pitchFamily="18" charset="0"/>
                                </a:rPr>
                                <m:t>2,3</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a:latin typeface="Cambria Math" panose="02040503050406030204" pitchFamily="18" charset="0"/>
                                </a:rPr>
                                <m:t>4</m:t>
                              </m:r>
                            </m:sub>
                          </m:sSub>
                        </m:e>
                      </m:d>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0.3∗0.57</m:t>
                          </m:r>
                        </m:e>
                      </m:d>
                      <m:r>
                        <a:rPr lang="en-US" sz="2400">
                          <a:latin typeface="Cambria Math" panose="02040503050406030204" pitchFamily="18" charset="0"/>
                        </a:rPr>
                        <m:t>+</m:t>
                      </m:r>
                      <m:d>
                        <m:dPr>
                          <m:ctrlPr>
                            <a:rPr lang="en-US" sz="2400">
                              <a:latin typeface="Cambria Math" panose="02040503050406030204" pitchFamily="18" charset="0"/>
                            </a:rPr>
                          </m:ctrlPr>
                        </m:dPr>
                        <m:e>
                          <m:r>
                            <a:rPr lang="en-US" sz="2400">
                              <a:latin typeface="Cambria Math" panose="02040503050406030204" pitchFamily="18" charset="0"/>
                            </a:rPr>
                            <m:t>0.9∗0.59</m:t>
                          </m:r>
                        </m:e>
                      </m:d>
                      <m:r>
                        <a:rPr lang="en-US" sz="2400">
                          <a:latin typeface="Cambria Math" panose="02040503050406030204" pitchFamily="18" charset="0"/>
                        </a:rPr>
                        <m:t>=0.702</m:t>
                      </m:r>
                    </m:oMath>
                  </m:oMathPara>
                </a14:m>
                <a:endParaRPr lang="en-US" sz="2400" dirty="0">
                  <a:effectLst/>
                </a:endParaRPr>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a:latin typeface="Cambria Math" panose="02040503050406030204" pitchFamily="18" charset="0"/>
                            </a:rPr>
                            <m:t>5</m:t>
                          </m:r>
                        </m:sub>
                      </m:sSub>
                      <m:r>
                        <a:rPr lang="en-US" sz="2400">
                          <a:latin typeface="Cambria Math" panose="02040503050406030204" pitchFamily="18" charset="0"/>
                        </a:rPr>
                        <m:t>=</m:t>
                      </m:r>
                      <m:r>
                        <a:rPr lang="en-US" sz="2400" i="1">
                          <a:latin typeface="Cambria Math" panose="02040503050406030204" pitchFamily="18" charset="0"/>
                        </a:rPr>
                        <m:t>𝐹</m:t>
                      </m:r>
                      <m:d>
                        <m:dPr>
                          <m:ctrlPr>
                            <a:rPr lang="en-US" sz="2400">
                              <a:latin typeface="Cambria Math" panose="02040503050406030204" pitchFamily="18" charset="0"/>
                            </a:rPr>
                          </m:ctrlPr>
                        </m:dPr>
                        <m:e>
                          <m:r>
                            <a:rPr lang="en-US" sz="2400">
                              <a:latin typeface="Cambria Math" panose="02040503050406030204" pitchFamily="18" charset="0"/>
                            </a:rPr>
                            <m:t>0.702</m:t>
                          </m:r>
                        </m:e>
                      </m:d>
                      <m:r>
                        <a:rPr lang="en-US" sz="2400">
                          <a:latin typeface="Cambria Math" panose="02040503050406030204" pitchFamily="18" charset="0"/>
                        </a:rPr>
                        <m:t>=</m:t>
                      </m:r>
                      <m:f>
                        <m:fPr>
                          <m:ctrlPr>
                            <a:rPr lang="en-US" sz="2400">
                              <a:latin typeface="Cambria Math" panose="02040503050406030204" pitchFamily="18" charset="0"/>
                            </a:rPr>
                          </m:ctrlPr>
                        </m:fPr>
                        <m:num>
                          <m:r>
                            <a:rPr lang="en-US" sz="2400">
                              <a:latin typeface="Cambria Math" panose="02040503050406030204" pitchFamily="18" charset="0"/>
                            </a:rPr>
                            <m:t>1</m:t>
                          </m:r>
                        </m:num>
                        <m:den>
                          <m:r>
                            <a:rPr lang="en-US" sz="2400">
                              <a:latin typeface="Cambria Math" panose="02040503050406030204" pitchFamily="18" charset="0"/>
                            </a:rPr>
                            <m:t>1+</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a:latin typeface="Cambria Math" panose="02040503050406030204" pitchFamily="18" charset="0"/>
                                </a:rPr>
                                <m:t>−0.702</m:t>
                              </m:r>
                            </m:sup>
                          </m:sSup>
                        </m:den>
                      </m:f>
                      <m:r>
                        <a:rPr lang="en-US" sz="2400">
                          <a:latin typeface="Cambria Math" panose="02040503050406030204" pitchFamily="18" charset="0"/>
                        </a:rPr>
                        <m:t>=0.67</m:t>
                      </m:r>
                    </m:oMath>
                  </m:oMathPara>
                </a14:m>
                <a:endParaRPr lang="en-US" sz="2400" dirty="0">
                  <a:effectLst/>
                </a:endParaRPr>
              </a:p>
            </p:txBody>
          </p:sp>
        </mc:Choice>
        <mc:Fallback xmlns="">
          <p:sp>
            <p:nvSpPr>
              <p:cNvPr id="3" name="Content Placeholder 2">
                <a:extLst>
                  <a:ext uri="{FF2B5EF4-FFF2-40B4-BE49-F238E27FC236}">
                    <a16:creationId xmlns:a16="http://schemas.microsoft.com/office/drawing/2014/main" id="{D0DC3810-6688-E5C6-F2F8-8A79F963DDEE}"/>
                  </a:ext>
                </a:extLst>
              </p:cNvPr>
              <p:cNvSpPr>
                <a:spLocks noGrp="1" noRot="1" noChangeAspect="1" noMove="1" noResize="1" noEditPoints="1" noAdjustHandles="1" noChangeArrowheads="1" noChangeShapeType="1" noTextEdit="1"/>
              </p:cNvSpPr>
              <p:nvPr>
                <p:ph idx="1"/>
              </p:nvPr>
            </p:nvSpPr>
            <p:spPr>
              <a:xfrm>
                <a:off x="838200" y="1135094"/>
                <a:ext cx="10925432" cy="5011428"/>
              </a:xfrm>
              <a:blipFill>
                <a:blip r:embed="rId2"/>
                <a:stretch>
                  <a:fillRect l="-813" t="-177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206A86A5-E868-CBF0-D31C-EAADD5180E3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F40CD192-7E55-A6E3-9A75-EE39D9DFA346}"/>
              </a:ext>
            </a:extLst>
          </p:cNvPr>
          <p:cNvSpPr>
            <a:spLocks noGrp="1"/>
          </p:cNvSpPr>
          <p:nvPr>
            <p:ph type="sldNum" sz="quarter" idx="12"/>
          </p:nvPr>
        </p:nvSpPr>
        <p:spPr/>
        <p:txBody>
          <a:bodyPr/>
          <a:lstStyle/>
          <a:p>
            <a:fld id="{10A4AB6E-1AC4-C44F-A0CC-883A0306AF8B}" type="slidenum">
              <a:rPr lang="en-US" smtClean="0"/>
              <a:t>33</a:t>
            </a:fld>
            <a:endParaRPr lang="en-US"/>
          </a:p>
        </p:txBody>
      </p:sp>
      <p:pic>
        <p:nvPicPr>
          <p:cNvPr id="6" name="Picture 5" descr="Neural-network diagram illustrating forward propagation from inputs x₁=0.35 and x₂=0.7 through hidden nodes h₁ and h₂ to output O₃. Directed arrows label weights w₁,₁=0.2, w₂,₁=0.2, w₁,₂=0.3, w₂,₂=0.3, w₁,₃=0.3, and w₂,₃=0.9, with red labels Y₃, Y₄, and Y₅ marking node outputs.&#10;">
            <a:extLst>
              <a:ext uri="{FF2B5EF4-FFF2-40B4-BE49-F238E27FC236}">
                <a16:creationId xmlns:a16="http://schemas.microsoft.com/office/drawing/2014/main" id="{18C6AAB7-A7C7-DE48-8327-2C14682EA93D}"/>
              </a:ext>
            </a:extLst>
          </p:cNvPr>
          <p:cNvPicPr>
            <a:picLocks noChangeAspect="1"/>
          </p:cNvPicPr>
          <p:nvPr/>
        </p:nvPicPr>
        <p:blipFill>
          <a:blip r:embed="rId3"/>
          <a:stretch>
            <a:fillRect/>
          </a:stretch>
        </p:blipFill>
        <p:spPr>
          <a:xfrm>
            <a:off x="8138984" y="0"/>
            <a:ext cx="4053016" cy="2026508"/>
          </a:xfrm>
          <a:prstGeom prst="rect">
            <a:avLst/>
          </a:prstGeom>
        </p:spPr>
      </p:pic>
    </p:spTree>
    <p:extLst>
      <p:ext uri="{BB962C8B-B14F-4D97-AF65-F5344CB8AC3E}">
        <p14:creationId xmlns:p14="http://schemas.microsoft.com/office/powerpoint/2010/main" val="73741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AFEFF-D1AE-1EC6-8F53-FAAF0238B24F}"/>
              </a:ext>
            </a:extLst>
          </p:cNvPr>
          <p:cNvSpPr>
            <a:spLocks noGrp="1"/>
          </p:cNvSpPr>
          <p:nvPr>
            <p:ph type="title"/>
          </p:nvPr>
        </p:nvSpPr>
        <p:spPr/>
        <p:txBody>
          <a:bodyPr>
            <a:normAutofit fontScale="90000"/>
          </a:bodyPr>
          <a:lstStyle/>
          <a:p>
            <a:r>
              <a:rPr lang="en-US" dirty="0"/>
              <a:t>Error Calculation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7ED018-FCB4-5773-9BD2-4B2C377BE69A}"/>
                  </a:ext>
                </a:extLst>
              </p:cNvPr>
              <p:cNvSpPr>
                <a:spLocks noGrp="1"/>
              </p:cNvSpPr>
              <p:nvPr>
                <p:ph idx="1"/>
              </p:nvPr>
            </p:nvSpPr>
            <p:spPr/>
            <p:txBody>
              <a:bodyPr/>
              <a:lstStyle/>
              <a:p>
                <a:r>
                  <a:rPr lang="en-US" dirty="0"/>
                  <a:t>Our actual output is 0.5 but we obtained 0.67</a:t>
                </a:r>
                <a:r>
                  <a:rPr lang="en-US" i="1" dirty="0"/>
                  <a:t>. </a:t>
                </a:r>
                <a:r>
                  <a:rPr lang="en-US" dirty="0"/>
                  <a:t>To calculate the error we can use the below formula:</a:t>
                </a:r>
              </a:p>
              <a:p>
                <a:pPr marL="0" indent="0">
                  <a:buNone/>
                </a:pPr>
                <a14:m>
                  <m:oMathPara xmlns:m="http://schemas.openxmlformats.org/officeDocument/2006/math">
                    <m:oMath>
                      <m:r>
                        <a:rPr lang="en-US" i="1">
                          <a:latin typeface="Cambria Math" panose="02040503050406030204" pitchFamily="18" charset="0"/>
                        </a:rPr>
                        <m:t>𝐸𝑟𝑟𝑜</m:t>
                      </m:r>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𝑡𝑎𝑟𝑔𝑒𝑡</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5</m:t>
                          </m:r>
                        </m:sub>
                      </m:sSub>
                    </m:oMath>
                  </m:oMathPara>
                </a14:m>
                <a:endParaRPr lang="en-US" dirty="0">
                  <a:effectLst/>
                </a:endParaRPr>
              </a:p>
              <a:p>
                <a:pPr marL="0" indent="0">
                  <a:buNone/>
                </a:pPr>
                <a14:m>
                  <m:oMathPara xmlns:m="http://schemas.openxmlformats.org/officeDocument/2006/math">
                    <m:oMath>
                      <m:r>
                        <m:rPr>
                          <m:nor/>
                        </m:rPr>
                        <a:rPr lang="en-US" b="0" i="0"/>
                        <m:t>=&gt; </m:t>
                      </m:r>
                      <m:r>
                        <a:rPr lang="en-US">
                          <a:latin typeface="Cambria Math" panose="02040503050406030204" pitchFamily="18" charset="0"/>
                        </a:rPr>
                        <m:t>0.5−0.67=−0.17</m:t>
                      </m:r>
                    </m:oMath>
                  </m:oMathPara>
                </a14:m>
                <a:endParaRPr lang="en-US" dirty="0">
                  <a:effectLst/>
                </a:endParaRPr>
              </a:p>
              <a:p>
                <a:r>
                  <a:rPr lang="en-US" dirty="0"/>
                  <a:t>Using this error value we will be backpropagating. </a:t>
                </a:r>
              </a:p>
              <a:p>
                <a:endParaRPr lang="en-US" dirty="0"/>
              </a:p>
            </p:txBody>
          </p:sp>
        </mc:Choice>
        <mc:Fallback xmlns="">
          <p:sp>
            <p:nvSpPr>
              <p:cNvPr id="3" name="Content Placeholder 2">
                <a:extLst>
                  <a:ext uri="{FF2B5EF4-FFF2-40B4-BE49-F238E27FC236}">
                    <a16:creationId xmlns:a16="http://schemas.microsoft.com/office/drawing/2014/main" id="{5F7ED018-FCB4-5773-9BD2-4B2C377BE69A}"/>
                  </a:ext>
                </a:extLst>
              </p:cNvPr>
              <p:cNvSpPr>
                <a:spLocks noGrp="1" noRot="1" noChangeAspect="1" noMove="1" noResize="1" noEditPoints="1" noAdjustHandles="1" noChangeArrowheads="1" noChangeShapeType="1" noTextEdit="1"/>
              </p:cNvSpPr>
              <p:nvPr>
                <p:ph idx="1"/>
              </p:nvPr>
            </p:nvSpPr>
            <p:spPr>
              <a:blipFill>
                <a:blip r:embed="rId2"/>
                <a:stretch>
                  <a:fillRect l="-108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D28035B-591E-44F9-B0A5-9D4B35BBF3E9}"/>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69B54A53-0CBE-3154-7870-E8A128B63D37}"/>
              </a:ext>
            </a:extLst>
          </p:cNvPr>
          <p:cNvSpPr>
            <a:spLocks noGrp="1"/>
          </p:cNvSpPr>
          <p:nvPr>
            <p:ph type="sldNum" sz="quarter" idx="12"/>
          </p:nvPr>
        </p:nvSpPr>
        <p:spPr/>
        <p:txBody>
          <a:bodyPr/>
          <a:lstStyle/>
          <a:p>
            <a:fld id="{10A4AB6E-1AC4-C44F-A0CC-883A0306AF8B}" type="slidenum">
              <a:rPr lang="en-US" smtClean="0"/>
              <a:t>34</a:t>
            </a:fld>
            <a:endParaRPr lang="en-US"/>
          </a:p>
        </p:txBody>
      </p:sp>
    </p:spTree>
    <p:extLst>
      <p:ext uri="{BB962C8B-B14F-4D97-AF65-F5344CB8AC3E}">
        <p14:creationId xmlns:p14="http://schemas.microsoft.com/office/powerpoint/2010/main" val="15071399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882DA-FAA6-3389-26BA-D22959CAEEA4}"/>
              </a:ext>
            </a:extLst>
          </p:cNvPr>
          <p:cNvSpPr>
            <a:spLocks noGrp="1"/>
          </p:cNvSpPr>
          <p:nvPr>
            <p:ph type="title"/>
          </p:nvPr>
        </p:nvSpPr>
        <p:spPr/>
        <p:txBody>
          <a:bodyPr>
            <a:normAutofit fontScale="90000"/>
          </a:bodyPr>
          <a:lstStyle/>
          <a:p>
            <a:r>
              <a:rPr lang="en-US" dirty="0"/>
              <a:t>Back Propagation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E859A0-35E2-8AC9-E457-B025BD272588}"/>
                  </a:ext>
                </a:extLst>
              </p:cNvPr>
              <p:cNvSpPr>
                <a:spLocks noGrp="1"/>
              </p:cNvSpPr>
              <p:nvPr>
                <p:ph idx="1"/>
              </p:nvPr>
            </p:nvSpPr>
            <p:spPr/>
            <p:txBody>
              <a:bodyPr/>
              <a:lstStyle/>
              <a:p>
                <a:r>
                  <a:rPr lang="en-US" dirty="0"/>
                  <a:t>The change in each weight is calculated as:</a:t>
                </a:r>
              </a:p>
              <a:p>
                <a:pPr marL="0" indent="0">
                  <a:buNone/>
                </a:pPr>
                <a14:m>
                  <m:oMathPara xmlns:m="http://schemas.openxmlformats.org/officeDocument/2006/math">
                    <m:oMath>
                      <m:r>
                        <m:rPr>
                          <m:sty m:val="p"/>
                        </m:rPr>
                        <a:rPr lang="en-US">
                          <a:latin typeface="Cambria Math" panose="02040503050406030204" pitchFamily="18" charset="0"/>
                        </a:rPr>
                        <m:t>Δ</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𝑖𝑗</m:t>
                          </m:r>
                        </m:sub>
                      </m:sSub>
                      <m:r>
                        <a:rPr lang="en-US">
                          <a:latin typeface="Cambria Math" panose="02040503050406030204" pitchFamily="18" charset="0"/>
                        </a:rPr>
                        <m:t>=</m:t>
                      </m:r>
                      <m:r>
                        <a:rPr lang="en-US" i="1">
                          <a:latin typeface="Cambria Math" panose="02040503050406030204" pitchFamily="18" charset="0"/>
                        </a:rPr>
                        <m:t>𝜂</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𝑗</m:t>
                          </m:r>
                        </m:sub>
                      </m:sSub>
                    </m:oMath>
                  </m:oMathPara>
                </a14:m>
                <a:endParaRPr lang="en-US" dirty="0">
                  <a:effectLst/>
                </a:endParaRPr>
              </a:p>
              <a:p>
                <a:r>
                  <a:rPr lang="en-US" dirty="0"/>
                  <a:t>Where:</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𝑗</m:t>
                        </m:r>
                      </m:sub>
                    </m:sSub>
                  </m:oMath>
                </a14:m>
                <a:r>
                  <a:rPr lang="en-US" dirty="0"/>
                  <a:t>​ is the error term for each unit,</a:t>
                </a:r>
              </a:p>
              <a:p>
                <a:pPr lvl="1"/>
                <a14:m>
                  <m:oMath xmlns:m="http://schemas.openxmlformats.org/officeDocument/2006/math">
                    <m:r>
                      <a:rPr lang="en-US" i="1">
                        <a:latin typeface="Cambria Math" panose="02040503050406030204" pitchFamily="18" charset="0"/>
                      </a:rPr>
                      <m:t>𝜂</m:t>
                    </m:r>
                  </m:oMath>
                </a14:m>
                <a:r>
                  <a:rPr lang="en-US" dirty="0"/>
                  <a:t>is the learning rate.</a:t>
                </a:r>
              </a:p>
              <a:p>
                <a:r>
                  <a:rPr lang="en-US" b="1" dirty="0"/>
                  <a:t>Output Unit Error </a:t>
                </a:r>
              </a:p>
              <a:p>
                <a:r>
                  <a:rPr lang="en-US" dirty="0"/>
                  <a:t>For O3: </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a:latin typeface="Cambria Math" panose="02040503050406030204" pitchFamily="18" charset="0"/>
                            </a:rPr>
                            <m:t>5</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5</m:t>
                          </m:r>
                        </m:sub>
                      </m:sSub>
                      <m:d>
                        <m:dPr>
                          <m:ctrlPr>
                            <a:rPr lang="en-US">
                              <a:latin typeface="Cambria Math" panose="02040503050406030204" pitchFamily="18" charset="0"/>
                            </a:rPr>
                          </m:ctrlPr>
                        </m:dPr>
                        <m:e>
                          <m:r>
                            <a:rPr lang="en-US">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5</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𝑡𝑎𝑟𝑔𝑒𝑡</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5</m:t>
                              </m:r>
                            </m:sub>
                          </m:sSub>
                        </m:e>
                      </m:d>
                    </m:oMath>
                  </m:oMathPara>
                </a14:m>
                <a:endParaRPr lang="en-US" dirty="0"/>
              </a:p>
              <a:p>
                <a:pPr marL="0" indent="0">
                  <a:buNone/>
                </a:pPr>
                <a14:m>
                  <m:oMathPara xmlns:m="http://schemas.openxmlformats.org/officeDocument/2006/math">
                    <m:oMath>
                      <m:r>
                        <a:rPr lang="en-US">
                          <a:latin typeface="Cambria Math" panose="02040503050406030204" pitchFamily="18" charset="0"/>
                        </a:rPr>
                        <m:t>=0.67</m:t>
                      </m:r>
                      <m:d>
                        <m:dPr>
                          <m:ctrlPr>
                            <a:rPr lang="en-US">
                              <a:latin typeface="Cambria Math" panose="02040503050406030204" pitchFamily="18" charset="0"/>
                            </a:rPr>
                          </m:ctrlPr>
                        </m:dPr>
                        <m:e>
                          <m:r>
                            <a:rPr lang="en-US">
                              <a:latin typeface="Cambria Math" panose="02040503050406030204" pitchFamily="18" charset="0"/>
                            </a:rPr>
                            <m:t>1−0.67</m:t>
                          </m:r>
                        </m:e>
                      </m:d>
                      <m:d>
                        <m:dPr>
                          <m:ctrlPr>
                            <a:rPr lang="en-US">
                              <a:latin typeface="Cambria Math" panose="02040503050406030204" pitchFamily="18" charset="0"/>
                            </a:rPr>
                          </m:ctrlPr>
                        </m:dPr>
                        <m:e>
                          <m:r>
                            <a:rPr lang="en-US">
                              <a:latin typeface="Cambria Math" panose="02040503050406030204" pitchFamily="18" charset="0"/>
                            </a:rPr>
                            <m:t>−0.17</m:t>
                          </m:r>
                        </m:e>
                      </m:d>
                      <m:r>
                        <a:rPr lang="en-US">
                          <a:latin typeface="Cambria Math" panose="02040503050406030204" pitchFamily="18" charset="0"/>
                        </a:rPr>
                        <m:t>=−0.0376</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8FE859A0-35E2-8AC9-E457-B025BD272588}"/>
                  </a:ext>
                </a:extLst>
              </p:cNvPr>
              <p:cNvSpPr>
                <a:spLocks noGrp="1" noRot="1" noChangeAspect="1" noMove="1" noResize="1" noEditPoints="1" noAdjustHandles="1" noChangeArrowheads="1" noChangeShapeType="1" noTextEdit="1"/>
              </p:cNvSpPr>
              <p:nvPr>
                <p:ph idx="1"/>
              </p:nvPr>
            </p:nvSpPr>
            <p:spPr>
              <a:blipFill>
                <a:blip r:embed="rId2"/>
                <a:stretch>
                  <a:fillRect l="-108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012E88F8-CFDC-9923-CF4B-E25959B7EDDD}"/>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A11C8B92-3C46-5390-BD37-F671BD3BED80}"/>
              </a:ext>
            </a:extLst>
          </p:cNvPr>
          <p:cNvSpPr>
            <a:spLocks noGrp="1"/>
          </p:cNvSpPr>
          <p:nvPr>
            <p:ph type="sldNum" sz="quarter" idx="12"/>
          </p:nvPr>
        </p:nvSpPr>
        <p:spPr/>
        <p:txBody>
          <a:bodyPr/>
          <a:lstStyle/>
          <a:p>
            <a:fld id="{10A4AB6E-1AC4-C44F-A0CC-883A0306AF8B}" type="slidenum">
              <a:rPr lang="en-US" smtClean="0"/>
              <a:t>35</a:t>
            </a:fld>
            <a:endParaRPr lang="en-US"/>
          </a:p>
        </p:txBody>
      </p:sp>
      <p:pic>
        <p:nvPicPr>
          <p:cNvPr id="6" name="Picture 5" descr="Neural-network diagram illustrating forward propagation from inputs x₁=0.35 and x₂=0.7 through hidden nodes h₁ and h₂ to output O₃. Directed arrows label weights w₁,₁=0.2, w₂,₁=0.2, w₁,₂=0.3, w₂,₂=0.3, w₁,₃=0.3, and w₂,₃=0.9, with red labels Y₃, Y₄, and Y₅ marking node outputs.&#10;">
            <a:extLst>
              <a:ext uri="{FF2B5EF4-FFF2-40B4-BE49-F238E27FC236}">
                <a16:creationId xmlns:a16="http://schemas.microsoft.com/office/drawing/2014/main" id="{D2E58413-5520-F407-2E07-154A5955D607}"/>
              </a:ext>
            </a:extLst>
          </p:cNvPr>
          <p:cNvPicPr>
            <a:picLocks noChangeAspect="1"/>
          </p:cNvPicPr>
          <p:nvPr/>
        </p:nvPicPr>
        <p:blipFill>
          <a:blip r:embed="rId3"/>
          <a:stretch>
            <a:fillRect/>
          </a:stretch>
        </p:blipFill>
        <p:spPr>
          <a:xfrm>
            <a:off x="8138984" y="0"/>
            <a:ext cx="4053016" cy="2026508"/>
          </a:xfrm>
          <a:prstGeom prst="rect">
            <a:avLst/>
          </a:prstGeom>
        </p:spPr>
      </p:pic>
    </p:spTree>
    <p:extLst>
      <p:ext uri="{BB962C8B-B14F-4D97-AF65-F5344CB8AC3E}">
        <p14:creationId xmlns:p14="http://schemas.microsoft.com/office/powerpoint/2010/main" val="21169829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7B67C-75D7-2056-B029-1B538DEFD143}"/>
              </a:ext>
            </a:extLst>
          </p:cNvPr>
          <p:cNvSpPr>
            <a:spLocks noGrp="1"/>
          </p:cNvSpPr>
          <p:nvPr>
            <p:ph type="title"/>
          </p:nvPr>
        </p:nvSpPr>
        <p:spPr/>
        <p:txBody>
          <a:bodyPr>
            <a:normAutofit fontScale="90000"/>
          </a:bodyPr>
          <a:lstStyle/>
          <a:p>
            <a:r>
              <a:rPr lang="en-US" dirty="0"/>
              <a:t>Hidden Unit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350E28-C983-9B89-9BED-60C6D6173E72}"/>
                  </a:ext>
                </a:extLst>
              </p:cNvPr>
              <p:cNvSpPr>
                <a:spLocks noGrp="1"/>
              </p:cNvSpPr>
              <p:nvPr>
                <p:ph idx="1"/>
              </p:nvPr>
            </p:nvSpPr>
            <p:spPr/>
            <p:txBody>
              <a:bodyPr/>
              <a:lstStyle/>
              <a:p>
                <a:r>
                  <a:rPr lang="en-US" dirty="0"/>
                  <a:t>For h1: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a:latin typeface="Cambria Math" panose="02040503050406030204" pitchFamily="18" charset="0"/>
                          </a:rPr>
                          <m:t>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3</m:t>
                        </m:r>
                      </m:sub>
                    </m:sSub>
                    <m:d>
                      <m:dPr>
                        <m:ctrlPr>
                          <a:rPr lang="en-US">
                            <a:latin typeface="Cambria Math" panose="02040503050406030204" pitchFamily="18" charset="0"/>
                          </a:rPr>
                        </m:ctrlPr>
                      </m:dPr>
                      <m:e>
                        <m:r>
                          <a:rPr lang="en-US">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3</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1,3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a:latin typeface="Cambria Math" panose="02040503050406030204" pitchFamily="18" charset="0"/>
                              </a:rPr>
                              <m:t>5</m:t>
                            </m:r>
                          </m:sub>
                        </m:sSub>
                      </m:e>
                    </m:d>
                  </m:oMath>
                </a14:m>
                <a:endParaRPr lang="en-US" dirty="0">
                  <a:effectLst/>
                </a:endParaRPr>
              </a:p>
              <a:p>
                <a14:m>
                  <m:oMath xmlns:m="http://schemas.openxmlformats.org/officeDocument/2006/math">
                    <m:r>
                      <a:rPr lang="en-US">
                        <a:latin typeface="Cambria Math" panose="02040503050406030204" pitchFamily="18" charset="0"/>
                      </a:rPr>
                      <m:t>=0.5</m:t>
                    </m:r>
                    <m:r>
                      <a:rPr lang="en-US" b="0" i="0" smtClean="0">
                        <a:latin typeface="Cambria Math" panose="02040503050406030204" pitchFamily="18" charset="0"/>
                      </a:rPr>
                      <m:t>7</m:t>
                    </m:r>
                    <m:d>
                      <m:dPr>
                        <m:ctrlPr>
                          <a:rPr lang="en-US">
                            <a:latin typeface="Cambria Math" panose="02040503050406030204" pitchFamily="18" charset="0"/>
                          </a:rPr>
                        </m:ctrlPr>
                      </m:dPr>
                      <m:e>
                        <m:r>
                          <a:rPr lang="en-US">
                            <a:latin typeface="Cambria Math" panose="02040503050406030204" pitchFamily="18" charset="0"/>
                          </a:rPr>
                          <m:t>1−0.5</m:t>
                        </m:r>
                        <m:r>
                          <a:rPr lang="en-US" b="0" i="1" smtClean="0">
                            <a:latin typeface="Cambria Math" panose="02040503050406030204" pitchFamily="18" charset="0"/>
                          </a:rPr>
                          <m:t>7</m:t>
                        </m:r>
                      </m:e>
                    </m:d>
                    <m:d>
                      <m:dPr>
                        <m:ctrlPr>
                          <a:rPr lang="en-US">
                            <a:latin typeface="Cambria Math" panose="02040503050406030204" pitchFamily="18" charset="0"/>
                          </a:rPr>
                        </m:ctrlPr>
                      </m:dPr>
                      <m:e>
                        <m:r>
                          <a:rPr lang="en-US">
                            <a:latin typeface="Cambria Math" panose="02040503050406030204" pitchFamily="18" charset="0"/>
                          </a:rPr>
                          <m:t>0.3×−0.0376</m:t>
                        </m:r>
                      </m:e>
                    </m:d>
                    <m:r>
                      <a:rPr lang="en-US">
                        <a:latin typeface="Cambria Math" panose="02040503050406030204" pitchFamily="18" charset="0"/>
                      </a:rPr>
                      <m:t>=−0.0027</m:t>
                    </m:r>
                  </m:oMath>
                </a14:m>
                <a:endParaRPr lang="en-US" dirty="0">
                  <a:effectLst/>
                </a:endParaRPr>
              </a:p>
              <a:p>
                <a:r>
                  <a:rPr lang="en-US" dirty="0"/>
                  <a:t>For h2: </a:t>
                </a:r>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a:latin typeface="Cambria Math" panose="02040503050406030204" pitchFamily="18" charset="0"/>
                          </a:rPr>
                          <m:t>4</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4</m:t>
                        </m:r>
                      </m:sub>
                    </m:sSub>
                    <m:d>
                      <m:dPr>
                        <m:ctrlPr>
                          <a:rPr lang="en-US">
                            <a:latin typeface="Cambria Math" panose="02040503050406030204" pitchFamily="18" charset="0"/>
                          </a:rPr>
                        </m:ctrlPr>
                      </m:dPr>
                      <m:e>
                        <m:r>
                          <a:rPr lang="en-US">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a:latin typeface="Cambria Math" panose="02040503050406030204" pitchFamily="18" charset="0"/>
                              </a:rPr>
                              <m:t>4</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2,3</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a:latin typeface="Cambria Math" panose="02040503050406030204" pitchFamily="18" charset="0"/>
                              </a:rPr>
                              <m:t>5</m:t>
                            </m:r>
                          </m:sub>
                        </m:sSub>
                      </m:e>
                    </m:d>
                  </m:oMath>
                </a14:m>
                <a:endParaRPr lang="en-US" dirty="0">
                  <a:effectLst/>
                </a:endParaRPr>
              </a:p>
              <a:p>
                <a14:m>
                  <m:oMath xmlns:m="http://schemas.openxmlformats.org/officeDocument/2006/math">
                    <m:r>
                      <a:rPr lang="en-US">
                        <a:latin typeface="Cambria Math" panose="02040503050406030204" pitchFamily="18" charset="0"/>
                      </a:rPr>
                      <m:t>=0.59</m:t>
                    </m:r>
                    <m:d>
                      <m:dPr>
                        <m:ctrlPr>
                          <a:rPr lang="en-US">
                            <a:latin typeface="Cambria Math" panose="02040503050406030204" pitchFamily="18" charset="0"/>
                          </a:rPr>
                        </m:ctrlPr>
                      </m:dPr>
                      <m:e>
                        <m:r>
                          <a:rPr lang="en-US">
                            <a:latin typeface="Cambria Math" panose="02040503050406030204" pitchFamily="18" charset="0"/>
                          </a:rPr>
                          <m:t>1−0.59</m:t>
                        </m:r>
                      </m:e>
                    </m:d>
                    <m:d>
                      <m:dPr>
                        <m:ctrlPr>
                          <a:rPr lang="en-US">
                            <a:latin typeface="Cambria Math" panose="02040503050406030204" pitchFamily="18" charset="0"/>
                          </a:rPr>
                        </m:ctrlPr>
                      </m:dPr>
                      <m:e>
                        <m:r>
                          <a:rPr lang="en-US">
                            <a:latin typeface="Cambria Math" panose="02040503050406030204" pitchFamily="18" charset="0"/>
                          </a:rPr>
                          <m:t>0.9×−0.0376</m:t>
                        </m:r>
                      </m:e>
                    </m:d>
                    <m:r>
                      <a:rPr lang="en-US">
                        <a:latin typeface="Cambria Math" panose="02040503050406030204" pitchFamily="18" charset="0"/>
                      </a:rPr>
                      <m:t>=−0.00819</m:t>
                    </m:r>
                  </m:oMath>
                </a14:m>
                <a:endParaRPr lang="en-US" dirty="0">
                  <a:effectLst/>
                </a:endParaRPr>
              </a:p>
              <a:p>
                <a:endParaRPr lang="en-US" dirty="0"/>
              </a:p>
            </p:txBody>
          </p:sp>
        </mc:Choice>
        <mc:Fallback xmlns="">
          <p:sp>
            <p:nvSpPr>
              <p:cNvPr id="3" name="Content Placeholder 2">
                <a:extLst>
                  <a:ext uri="{FF2B5EF4-FFF2-40B4-BE49-F238E27FC236}">
                    <a16:creationId xmlns:a16="http://schemas.microsoft.com/office/drawing/2014/main" id="{2F350E28-C983-9B89-9BED-60C6D6173E72}"/>
                  </a:ext>
                </a:extLst>
              </p:cNvPr>
              <p:cNvSpPr>
                <a:spLocks noGrp="1" noRot="1" noChangeAspect="1" noMove="1" noResize="1" noEditPoints="1" noAdjustHandles="1" noChangeArrowheads="1" noChangeShapeType="1" noTextEdit="1"/>
              </p:cNvSpPr>
              <p:nvPr>
                <p:ph idx="1"/>
              </p:nvPr>
            </p:nvSpPr>
            <p:spPr>
              <a:blipFill>
                <a:blip r:embed="rId2"/>
                <a:stretch>
                  <a:fillRect l="-108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A5C5B79-0C84-431D-462C-2A19CA430606}"/>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9CDCB073-8BC8-905A-EF3A-4C88984F6ED2}"/>
              </a:ext>
            </a:extLst>
          </p:cNvPr>
          <p:cNvSpPr>
            <a:spLocks noGrp="1"/>
          </p:cNvSpPr>
          <p:nvPr>
            <p:ph type="sldNum" sz="quarter" idx="12"/>
          </p:nvPr>
        </p:nvSpPr>
        <p:spPr/>
        <p:txBody>
          <a:bodyPr/>
          <a:lstStyle/>
          <a:p>
            <a:fld id="{10A4AB6E-1AC4-C44F-A0CC-883A0306AF8B}" type="slidenum">
              <a:rPr lang="en-US" smtClean="0"/>
              <a:t>36</a:t>
            </a:fld>
            <a:endParaRPr lang="en-US"/>
          </a:p>
        </p:txBody>
      </p:sp>
      <p:pic>
        <p:nvPicPr>
          <p:cNvPr id="6" name="Picture 5" descr="Neural-network diagram shows inputs x₁=0.35 and x₂=0.7 feeding hidden nodes h₁ and h₂ through weighted connections. Hidden outputs y₃=0.57 and y₄=0.59, plus weights w₁,₃=0.3 and w₂,₃=0.9, lead toward output node O₃ with y₅=0.67.&#10;">
            <a:extLst>
              <a:ext uri="{FF2B5EF4-FFF2-40B4-BE49-F238E27FC236}">
                <a16:creationId xmlns:a16="http://schemas.microsoft.com/office/drawing/2014/main" id="{A6422A88-F4CA-DE24-2005-A624E2736816}"/>
              </a:ext>
            </a:extLst>
          </p:cNvPr>
          <p:cNvPicPr>
            <a:picLocks noChangeAspect="1"/>
          </p:cNvPicPr>
          <p:nvPr/>
        </p:nvPicPr>
        <p:blipFill>
          <a:blip r:embed="rId3"/>
          <a:stretch>
            <a:fillRect/>
          </a:stretch>
        </p:blipFill>
        <p:spPr>
          <a:xfrm>
            <a:off x="8138984" y="0"/>
            <a:ext cx="4053016" cy="2026508"/>
          </a:xfrm>
          <a:prstGeom prst="rect">
            <a:avLst/>
          </a:prstGeom>
        </p:spPr>
      </p:pic>
    </p:spTree>
    <p:extLst>
      <p:ext uri="{BB962C8B-B14F-4D97-AF65-F5344CB8AC3E}">
        <p14:creationId xmlns:p14="http://schemas.microsoft.com/office/powerpoint/2010/main" val="3979109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766A-F78A-57E4-9FA1-F233464F2847}"/>
              </a:ext>
            </a:extLst>
          </p:cNvPr>
          <p:cNvSpPr>
            <a:spLocks noGrp="1"/>
          </p:cNvSpPr>
          <p:nvPr>
            <p:ph type="title"/>
          </p:nvPr>
        </p:nvSpPr>
        <p:spPr/>
        <p:txBody>
          <a:bodyPr>
            <a:normAutofit fontScale="90000"/>
          </a:bodyPr>
          <a:lstStyle/>
          <a:p>
            <a:r>
              <a:rPr lang="en-US" dirty="0"/>
              <a:t>Weight Updates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17C2E2-A381-4841-68F8-DD298A7A7707}"/>
                  </a:ext>
                </a:extLst>
              </p:cNvPr>
              <p:cNvSpPr>
                <a:spLocks noGrp="1"/>
              </p:cNvSpPr>
              <p:nvPr>
                <p:ph idx="1"/>
              </p:nvPr>
            </p:nvSpPr>
            <p:spPr/>
            <p:txBody>
              <a:bodyPr>
                <a:normAutofit/>
              </a:bodyPr>
              <a:lstStyle/>
              <a:p>
                <a:r>
                  <a:rPr lang="en-US" dirty="0"/>
                  <a:t>For the weights from hidden to output layer: </a:t>
                </a:r>
              </a:p>
              <a:p>
                <a:pPr marL="0" indent="0">
                  <a:buNone/>
                </a:pPr>
                <a14:m>
                  <m:oMathPara xmlns:m="http://schemas.openxmlformats.org/officeDocument/2006/math">
                    <m:oMath>
                      <m:r>
                        <m:rPr>
                          <m:sty m:val="p"/>
                        </m:rPr>
                        <a:rPr lang="en-US">
                          <a:latin typeface="Cambria Math" panose="02040503050406030204" pitchFamily="18" charset="0"/>
                        </a:rPr>
                        <m:t>Δ</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𝑖𝑗</m:t>
                          </m:r>
                        </m:sub>
                      </m:sSub>
                      <m:r>
                        <a:rPr lang="en-US">
                          <a:latin typeface="Cambria Math" panose="02040503050406030204" pitchFamily="18" charset="0"/>
                        </a:rPr>
                        <m:t>=</m:t>
                      </m:r>
                      <m:r>
                        <a:rPr lang="en-US" i="1">
                          <a:latin typeface="Cambria Math" panose="02040503050406030204" pitchFamily="18" charset="0"/>
                        </a:rPr>
                        <m:t>𝜂</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𝛿</m:t>
                          </m:r>
                        </m:e>
                        <m:sub>
                          <m:r>
                            <a:rPr lang="en-US" i="1">
                              <a:latin typeface="Cambria Math" panose="02040503050406030204" pitchFamily="18" charset="0"/>
                            </a:rPr>
                            <m:t>𝑗</m:t>
                          </m:r>
                        </m:sub>
                      </m:sSub>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𝑂</m:t>
                          </m:r>
                        </m:e>
                        <m:sub>
                          <m:r>
                            <a:rPr lang="en-US" i="1">
                              <a:latin typeface="Cambria Math" panose="02040503050406030204" pitchFamily="18" charset="0"/>
                            </a:rPr>
                            <m:t>𝑗</m:t>
                          </m:r>
                        </m:sub>
                      </m:sSub>
                    </m:oMath>
                  </m:oMathPara>
                </a14:m>
                <a:endParaRPr lang="en-US" dirty="0"/>
              </a:p>
              <a:p>
                <a:pPr marL="0" indent="0">
                  <a:buNone/>
                </a:pPr>
                <a14:m>
                  <m:oMathPara xmlns:m="http://schemas.openxmlformats.org/officeDocument/2006/math">
                    <m:oMath>
                      <m:r>
                        <m:rPr>
                          <m:sty m:val="p"/>
                        </m:rPr>
                        <a:rPr lang="en-US">
                          <a:latin typeface="Cambria Math" panose="02040503050406030204" pitchFamily="18" charset="0"/>
                        </a:rPr>
                        <m:t>Δ</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2,3</m:t>
                          </m:r>
                        </m:sub>
                      </m:sSub>
                      <m:r>
                        <a:rPr lang="en-US">
                          <a:latin typeface="Cambria Math" panose="02040503050406030204" pitchFamily="18" charset="0"/>
                        </a:rPr>
                        <m:t>=1×</m:t>
                      </m:r>
                      <m:d>
                        <m:dPr>
                          <m:ctrlPr>
                            <a:rPr lang="en-US">
                              <a:latin typeface="Cambria Math" panose="02040503050406030204" pitchFamily="18" charset="0"/>
                            </a:rPr>
                          </m:ctrlPr>
                        </m:dPr>
                        <m:e>
                          <m:r>
                            <a:rPr lang="en-US">
                              <a:latin typeface="Cambria Math" panose="02040503050406030204" pitchFamily="18" charset="0"/>
                            </a:rPr>
                            <m:t>−0.0376</m:t>
                          </m:r>
                        </m:e>
                      </m:d>
                      <m:r>
                        <a:rPr lang="en-US">
                          <a:latin typeface="Cambria Math" panose="02040503050406030204" pitchFamily="18" charset="0"/>
                        </a:rPr>
                        <m:t>×0.59=−0.022184</m:t>
                      </m:r>
                    </m:oMath>
                  </m:oMathPara>
                </a14:m>
                <a:endParaRPr lang="en-US" dirty="0">
                  <a:effectLst/>
                </a:endParaRPr>
              </a:p>
              <a:p>
                <a:r>
                  <a:rPr lang="en-US" dirty="0"/>
                  <a:t>New weight: </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2,3</m:t>
                          </m:r>
                        </m:sub>
                      </m:sSub>
                      <m:d>
                        <m:dPr>
                          <m:ctrlPr>
                            <a:rPr lang="en-US" i="0"/>
                          </m:ctrlPr>
                        </m:dPr>
                        <m:e>
                          <m:r>
                            <m:rPr>
                              <m:nor/>
                            </m:rPr>
                            <a:rPr lang="en-US" i="0"/>
                            <m:t>new</m:t>
                          </m:r>
                        </m:e>
                      </m:d>
                      <m:r>
                        <a:rPr lang="en-US">
                          <a:latin typeface="Cambria Math" panose="02040503050406030204" pitchFamily="18" charset="0"/>
                        </a:rPr>
                        <m:t>=−0.022184+0.9=0.877816</m:t>
                      </m:r>
                    </m:oMath>
                  </m:oMathPara>
                </a14:m>
                <a:endParaRPr lang="en-US" dirty="0">
                  <a:effectLst/>
                </a:endParaRPr>
              </a:p>
              <a:p>
                <a:r>
                  <a:rPr lang="en-US" dirty="0"/>
                  <a:t>For weights from input to hidden layer: </a:t>
                </a:r>
              </a:p>
              <a:p>
                <a:pPr marL="0" indent="0">
                  <a:buNone/>
                </a:pPr>
                <a14:m>
                  <m:oMathPara xmlns:m="http://schemas.openxmlformats.org/officeDocument/2006/math">
                    <m:oMath>
                      <m:r>
                        <m:rPr>
                          <m:sty m:val="p"/>
                        </m:rPr>
                        <a:rPr lang="en-US">
                          <a:latin typeface="Cambria Math" panose="02040503050406030204" pitchFamily="18" charset="0"/>
                        </a:rPr>
                        <m:t>Δ</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1,1</m:t>
                          </m:r>
                        </m:sub>
                      </m:sSub>
                      <m:r>
                        <a:rPr lang="en-US">
                          <a:latin typeface="Cambria Math" panose="02040503050406030204" pitchFamily="18" charset="0"/>
                        </a:rPr>
                        <m:t>=1×</m:t>
                      </m:r>
                      <m:d>
                        <m:dPr>
                          <m:ctrlPr>
                            <a:rPr lang="en-US">
                              <a:latin typeface="Cambria Math" panose="02040503050406030204" pitchFamily="18" charset="0"/>
                            </a:rPr>
                          </m:ctrlPr>
                        </m:dPr>
                        <m:e>
                          <m:r>
                            <a:rPr lang="en-US">
                              <a:latin typeface="Cambria Math" panose="02040503050406030204" pitchFamily="18" charset="0"/>
                            </a:rPr>
                            <m:t>−0.0027</m:t>
                          </m:r>
                        </m:e>
                      </m:d>
                      <m:r>
                        <a:rPr lang="en-US">
                          <a:latin typeface="Cambria Math" panose="02040503050406030204" pitchFamily="18" charset="0"/>
                        </a:rPr>
                        <m:t>×0.35=−0.000945</m:t>
                      </m:r>
                    </m:oMath>
                  </m:oMathPara>
                </a14:m>
                <a:endParaRPr lang="en-US" dirty="0">
                  <a:effectLst/>
                </a:endParaRPr>
              </a:p>
              <a:p>
                <a:r>
                  <a:rPr lang="en-US" dirty="0"/>
                  <a:t>New weight: </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a:latin typeface="Cambria Math" panose="02040503050406030204" pitchFamily="18" charset="0"/>
                            </a:rPr>
                            <m:t>1,1</m:t>
                          </m:r>
                        </m:sub>
                      </m:sSub>
                      <m:d>
                        <m:dPr>
                          <m:ctrlPr>
                            <a:rPr lang="en-US" i="0"/>
                          </m:ctrlPr>
                        </m:dPr>
                        <m:e>
                          <m:r>
                            <m:rPr>
                              <m:nor/>
                            </m:rPr>
                            <a:rPr lang="en-US" i="0"/>
                            <m:t>new</m:t>
                          </m:r>
                        </m:e>
                      </m:d>
                      <m:r>
                        <a:rPr lang="en-US">
                          <a:latin typeface="Cambria Math" panose="02040503050406030204" pitchFamily="18" charset="0"/>
                        </a:rPr>
                        <m:t>=−0.000945+0.2=0.199055</m:t>
                      </m:r>
                    </m:oMath>
                  </m:oMathPara>
                </a14:m>
                <a:endParaRPr lang="en-US" dirty="0">
                  <a:effectLst/>
                </a:endParaRPr>
              </a:p>
              <a:p>
                <a:r>
                  <a:rPr lang="en-US" dirty="0"/>
                  <a:t>Similarly other weights are updated</a:t>
                </a:r>
              </a:p>
            </p:txBody>
          </p:sp>
        </mc:Choice>
        <mc:Fallback xmlns="">
          <p:sp>
            <p:nvSpPr>
              <p:cNvPr id="3" name="Content Placeholder 2">
                <a:extLst>
                  <a:ext uri="{FF2B5EF4-FFF2-40B4-BE49-F238E27FC236}">
                    <a16:creationId xmlns:a16="http://schemas.microsoft.com/office/drawing/2014/main" id="{7917C2E2-A381-4841-68F8-DD298A7A7707}"/>
                  </a:ext>
                </a:extLst>
              </p:cNvPr>
              <p:cNvSpPr>
                <a:spLocks noGrp="1" noRot="1" noChangeAspect="1" noMove="1" noResize="1" noEditPoints="1" noAdjustHandles="1" noChangeArrowheads="1" noChangeShapeType="1" noTextEdit="1"/>
              </p:cNvSpPr>
              <p:nvPr>
                <p:ph idx="1"/>
              </p:nvPr>
            </p:nvSpPr>
            <p:spPr>
              <a:blipFill>
                <a:blip r:embed="rId3"/>
                <a:stretch>
                  <a:fillRect l="-1086" t="-2025"/>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B721A492-29F5-3D3B-884A-C677AD7F955B}"/>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E8D85D75-EDE1-1350-B83B-2B553D10C448}"/>
              </a:ext>
            </a:extLst>
          </p:cNvPr>
          <p:cNvSpPr>
            <a:spLocks noGrp="1"/>
          </p:cNvSpPr>
          <p:nvPr>
            <p:ph type="sldNum" sz="quarter" idx="12"/>
          </p:nvPr>
        </p:nvSpPr>
        <p:spPr/>
        <p:txBody>
          <a:bodyPr/>
          <a:lstStyle/>
          <a:p>
            <a:fld id="{10A4AB6E-1AC4-C44F-A0CC-883A0306AF8B}" type="slidenum">
              <a:rPr lang="en-US" smtClean="0"/>
              <a:t>37</a:t>
            </a:fld>
            <a:endParaRPr lang="en-US"/>
          </a:p>
        </p:txBody>
      </p:sp>
      <p:pic>
        <p:nvPicPr>
          <p:cNvPr id="6" name="Picture 5" descr="Neural-network diagram illustrating forward propagation from inputs x₁=0.35 and x₂=0.7 through hidden nodes h₁ and h₂ to output node o₃. Yellow inputs, green hidden and output nodes, labeled arrows show weights 0.2, 0.3, and 0.9; red values mark Y₃=0.57, Y₄=0.56, and final Y₅=0.61.&#10;&#10;">
            <a:extLst>
              <a:ext uri="{FF2B5EF4-FFF2-40B4-BE49-F238E27FC236}">
                <a16:creationId xmlns:a16="http://schemas.microsoft.com/office/drawing/2014/main" id="{DEFF594D-CC4E-B3F3-5986-0A0B18B7FD0E}"/>
              </a:ext>
            </a:extLst>
          </p:cNvPr>
          <p:cNvPicPr>
            <a:picLocks noChangeAspect="1"/>
          </p:cNvPicPr>
          <p:nvPr/>
        </p:nvPicPr>
        <p:blipFill>
          <a:blip r:embed="rId4"/>
          <a:stretch>
            <a:fillRect/>
          </a:stretch>
        </p:blipFill>
        <p:spPr>
          <a:xfrm>
            <a:off x="8610600" y="0"/>
            <a:ext cx="3615036" cy="1807518"/>
          </a:xfrm>
          <a:prstGeom prst="rect">
            <a:avLst/>
          </a:prstGeom>
        </p:spPr>
      </p:pic>
    </p:spTree>
    <p:extLst>
      <p:ext uri="{BB962C8B-B14F-4D97-AF65-F5344CB8AC3E}">
        <p14:creationId xmlns:p14="http://schemas.microsoft.com/office/powerpoint/2010/main" val="246883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3A7B2-BE71-D214-0FF0-58D524D56A66}"/>
              </a:ext>
            </a:extLst>
          </p:cNvPr>
          <p:cNvSpPr>
            <a:spLocks noGrp="1"/>
          </p:cNvSpPr>
          <p:nvPr>
            <p:ph type="title"/>
          </p:nvPr>
        </p:nvSpPr>
        <p:spPr/>
        <p:txBody>
          <a:bodyPr>
            <a:normAutofit fontScale="90000"/>
          </a:bodyPr>
          <a:lstStyle/>
          <a:p>
            <a:r>
              <a:rPr lang="en-US" dirty="0"/>
              <a:t>Combating Overfitting</a:t>
            </a:r>
          </a:p>
        </p:txBody>
      </p:sp>
      <p:graphicFrame>
        <p:nvGraphicFramePr>
          <p:cNvPr id="6" name="Content Placeholder 5">
            <a:extLst>
              <a:ext uri="{FF2B5EF4-FFF2-40B4-BE49-F238E27FC236}">
                <a16:creationId xmlns:a16="http://schemas.microsoft.com/office/drawing/2014/main" id="{5C6C204D-6AC8-121E-F5CE-D4182196180E}"/>
              </a:ext>
            </a:extLst>
          </p:cNvPr>
          <p:cNvGraphicFramePr>
            <a:graphicFrameLocks noGrp="1"/>
          </p:cNvGraphicFramePr>
          <p:nvPr>
            <p:ph idx="1"/>
            <p:extLst>
              <p:ext uri="{D42A27DB-BD31-4B8C-83A1-F6EECF244321}">
                <p14:modId xmlns:p14="http://schemas.microsoft.com/office/powerpoint/2010/main" val="2750239093"/>
              </p:ext>
            </p:extLst>
          </p:nvPr>
        </p:nvGraphicFramePr>
        <p:xfrm>
          <a:off x="725959" y="3205653"/>
          <a:ext cx="10740081" cy="2987040"/>
        </p:xfrm>
        <a:graphic>
          <a:graphicData uri="http://schemas.openxmlformats.org/drawingml/2006/table">
            <a:tbl>
              <a:tblPr firstRow="1">
                <a:tableStyleId>{073A0DAA-6AF3-43AB-8588-CEC1D06C72B9}</a:tableStyleId>
              </a:tblPr>
              <a:tblGrid>
                <a:gridCol w="2993172">
                  <a:extLst>
                    <a:ext uri="{9D8B030D-6E8A-4147-A177-3AD203B41FA5}">
                      <a16:colId xmlns:a16="http://schemas.microsoft.com/office/drawing/2014/main" val="29809633"/>
                    </a:ext>
                  </a:extLst>
                </a:gridCol>
                <a:gridCol w="7746909">
                  <a:extLst>
                    <a:ext uri="{9D8B030D-6E8A-4147-A177-3AD203B41FA5}">
                      <a16:colId xmlns:a16="http://schemas.microsoft.com/office/drawing/2014/main" val="2839863346"/>
                    </a:ext>
                  </a:extLst>
                </a:gridCol>
              </a:tblGrid>
              <a:tr h="0">
                <a:tc>
                  <a:txBody>
                    <a:bodyPr/>
                    <a:lstStyle/>
                    <a:p>
                      <a:pPr>
                        <a:buNone/>
                      </a:pPr>
                      <a:r>
                        <a:rPr lang="en-US" sz="2200"/>
                        <a:t>Strategy</a:t>
                      </a:r>
                    </a:p>
                  </a:txBody>
                  <a:tcPr anchor="ctr"/>
                </a:tc>
                <a:tc>
                  <a:txBody>
                    <a:bodyPr/>
                    <a:lstStyle/>
                    <a:p>
                      <a:pPr>
                        <a:buNone/>
                      </a:pPr>
                      <a:r>
                        <a:rPr lang="en-US" sz="2200"/>
                        <a:t>What It Does</a:t>
                      </a:r>
                    </a:p>
                  </a:txBody>
                  <a:tcPr anchor="ctr"/>
                </a:tc>
                <a:extLst>
                  <a:ext uri="{0D108BD9-81ED-4DB2-BD59-A6C34878D82A}">
                    <a16:rowId xmlns:a16="http://schemas.microsoft.com/office/drawing/2014/main" val="4028982110"/>
                  </a:ext>
                </a:extLst>
              </a:tr>
              <a:tr h="0">
                <a:tc>
                  <a:txBody>
                    <a:bodyPr/>
                    <a:lstStyle/>
                    <a:p>
                      <a:pPr>
                        <a:buNone/>
                      </a:pPr>
                      <a:r>
                        <a:rPr lang="en-US" sz="2200"/>
                        <a:t>More data</a:t>
                      </a:r>
                    </a:p>
                  </a:txBody>
                  <a:tcPr anchor="ctr"/>
                </a:tc>
                <a:tc>
                  <a:txBody>
                    <a:bodyPr/>
                    <a:lstStyle/>
                    <a:p>
                      <a:pPr>
                        <a:buNone/>
                      </a:pPr>
                      <a:r>
                        <a:rPr lang="en-US" sz="2200"/>
                        <a:t>Gives model more examples</a:t>
                      </a:r>
                    </a:p>
                  </a:txBody>
                  <a:tcPr anchor="ctr"/>
                </a:tc>
                <a:extLst>
                  <a:ext uri="{0D108BD9-81ED-4DB2-BD59-A6C34878D82A}">
                    <a16:rowId xmlns:a16="http://schemas.microsoft.com/office/drawing/2014/main" val="2807169791"/>
                  </a:ext>
                </a:extLst>
              </a:tr>
              <a:tr h="0">
                <a:tc>
                  <a:txBody>
                    <a:bodyPr/>
                    <a:lstStyle/>
                    <a:p>
                      <a:pPr>
                        <a:buNone/>
                      </a:pPr>
                      <a:r>
                        <a:rPr lang="en-US" sz="2200" dirty="0"/>
                        <a:t>Data augmentation</a:t>
                      </a:r>
                    </a:p>
                  </a:txBody>
                  <a:tcPr anchor="ctr"/>
                </a:tc>
                <a:tc>
                  <a:txBody>
                    <a:bodyPr/>
                    <a:lstStyle/>
                    <a:p>
                      <a:pPr>
                        <a:buNone/>
                      </a:pPr>
                      <a:r>
                        <a:rPr lang="en-US" sz="2200"/>
                        <a:t>Creates realistic variation</a:t>
                      </a:r>
                    </a:p>
                  </a:txBody>
                  <a:tcPr anchor="ctr"/>
                </a:tc>
                <a:extLst>
                  <a:ext uri="{0D108BD9-81ED-4DB2-BD59-A6C34878D82A}">
                    <a16:rowId xmlns:a16="http://schemas.microsoft.com/office/drawing/2014/main" val="2911006142"/>
                  </a:ext>
                </a:extLst>
              </a:tr>
              <a:tr h="0">
                <a:tc>
                  <a:txBody>
                    <a:bodyPr/>
                    <a:lstStyle/>
                    <a:p>
                      <a:pPr>
                        <a:buNone/>
                      </a:pPr>
                      <a:r>
                        <a:rPr lang="en-US" sz="2200"/>
                        <a:t>Dropout</a:t>
                      </a:r>
                    </a:p>
                  </a:txBody>
                  <a:tcPr anchor="ctr"/>
                </a:tc>
                <a:tc>
                  <a:txBody>
                    <a:bodyPr/>
                    <a:lstStyle/>
                    <a:p>
                      <a:pPr>
                        <a:buNone/>
                      </a:pPr>
                      <a:r>
                        <a:rPr lang="en-US" sz="2200"/>
                        <a:t>Randomly removes neurons during training</a:t>
                      </a:r>
                    </a:p>
                  </a:txBody>
                  <a:tcPr anchor="ctr"/>
                </a:tc>
                <a:extLst>
                  <a:ext uri="{0D108BD9-81ED-4DB2-BD59-A6C34878D82A}">
                    <a16:rowId xmlns:a16="http://schemas.microsoft.com/office/drawing/2014/main" val="881795097"/>
                  </a:ext>
                </a:extLst>
              </a:tr>
              <a:tr h="0">
                <a:tc>
                  <a:txBody>
                    <a:bodyPr/>
                    <a:lstStyle/>
                    <a:p>
                      <a:pPr>
                        <a:buNone/>
                      </a:pPr>
                      <a:r>
                        <a:rPr lang="en-US" sz="2200"/>
                        <a:t>Weight decay</a:t>
                      </a:r>
                    </a:p>
                  </a:txBody>
                  <a:tcPr anchor="ctr"/>
                </a:tc>
                <a:tc>
                  <a:txBody>
                    <a:bodyPr/>
                    <a:lstStyle/>
                    <a:p>
                      <a:pPr>
                        <a:buNone/>
                      </a:pPr>
                      <a:r>
                        <a:rPr lang="en-US" sz="2200"/>
                        <a:t>Penalizes large weights</a:t>
                      </a:r>
                    </a:p>
                  </a:txBody>
                  <a:tcPr anchor="ctr"/>
                </a:tc>
                <a:extLst>
                  <a:ext uri="{0D108BD9-81ED-4DB2-BD59-A6C34878D82A}">
                    <a16:rowId xmlns:a16="http://schemas.microsoft.com/office/drawing/2014/main" val="3678049701"/>
                  </a:ext>
                </a:extLst>
              </a:tr>
              <a:tr h="0">
                <a:tc>
                  <a:txBody>
                    <a:bodyPr/>
                    <a:lstStyle/>
                    <a:p>
                      <a:pPr>
                        <a:buNone/>
                      </a:pPr>
                      <a:r>
                        <a:rPr lang="en-US" sz="2200"/>
                        <a:t>Early stopping</a:t>
                      </a:r>
                    </a:p>
                  </a:txBody>
                  <a:tcPr anchor="ctr"/>
                </a:tc>
                <a:tc>
                  <a:txBody>
                    <a:bodyPr/>
                    <a:lstStyle/>
                    <a:p>
                      <a:pPr>
                        <a:buNone/>
                      </a:pPr>
                      <a:r>
                        <a:rPr lang="en-US" sz="2200"/>
                        <a:t>Stops training when validation performance stops improving</a:t>
                      </a:r>
                    </a:p>
                  </a:txBody>
                  <a:tcPr anchor="ctr"/>
                </a:tc>
                <a:extLst>
                  <a:ext uri="{0D108BD9-81ED-4DB2-BD59-A6C34878D82A}">
                    <a16:rowId xmlns:a16="http://schemas.microsoft.com/office/drawing/2014/main" val="3889590175"/>
                  </a:ext>
                </a:extLst>
              </a:tr>
              <a:tr h="0">
                <a:tc>
                  <a:txBody>
                    <a:bodyPr/>
                    <a:lstStyle/>
                    <a:p>
                      <a:pPr>
                        <a:buNone/>
                      </a:pPr>
                      <a:r>
                        <a:rPr lang="en-US" sz="2200"/>
                        <a:t>Smaller model</a:t>
                      </a:r>
                    </a:p>
                  </a:txBody>
                  <a:tcPr anchor="ctr"/>
                </a:tc>
                <a:tc>
                  <a:txBody>
                    <a:bodyPr/>
                    <a:lstStyle/>
                    <a:p>
                      <a:pPr>
                        <a:buNone/>
                      </a:pPr>
                      <a:r>
                        <a:rPr lang="en-US" sz="2200" dirty="0"/>
                        <a:t>Reduces flexibility</a:t>
                      </a:r>
                    </a:p>
                  </a:txBody>
                  <a:tcPr anchor="ctr"/>
                </a:tc>
                <a:extLst>
                  <a:ext uri="{0D108BD9-81ED-4DB2-BD59-A6C34878D82A}">
                    <a16:rowId xmlns:a16="http://schemas.microsoft.com/office/drawing/2014/main" val="2126440963"/>
                  </a:ext>
                </a:extLst>
              </a:tr>
            </a:tbl>
          </a:graphicData>
        </a:graphic>
      </p:graphicFrame>
      <p:sp>
        <p:nvSpPr>
          <p:cNvPr id="4" name="Footer Placeholder 3">
            <a:extLst>
              <a:ext uri="{FF2B5EF4-FFF2-40B4-BE49-F238E27FC236}">
                <a16:creationId xmlns:a16="http://schemas.microsoft.com/office/drawing/2014/main" id="{DBFEB86A-E1F2-31B2-431D-7819C13E0F01}"/>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5F7AFFA1-FF94-7B48-1523-4A14557E0C0D}"/>
              </a:ext>
            </a:extLst>
          </p:cNvPr>
          <p:cNvSpPr>
            <a:spLocks noGrp="1"/>
          </p:cNvSpPr>
          <p:nvPr>
            <p:ph type="sldNum" sz="quarter" idx="12"/>
          </p:nvPr>
        </p:nvSpPr>
        <p:spPr/>
        <p:txBody>
          <a:bodyPr/>
          <a:lstStyle/>
          <a:p>
            <a:fld id="{10A4AB6E-1AC4-C44F-A0CC-883A0306AF8B}" type="slidenum">
              <a:rPr lang="en-US" smtClean="0"/>
              <a:t>38</a:t>
            </a:fld>
            <a:endParaRPr lang="en-US"/>
          </a:p>
        </p:txBody>
      </p:sp>
      <p:sp>
        <p:nvSpPr>
          <p:cNvPr id="8" name="TextBox 7">
            <a:extLst>
              <a:ext uri="{FF2B5EF4-FFF2-40B4-BE49-F238E27FC236}">
                <a16:creationId xmlns:a16="http://schemas.microsoft.com/office/drawing/2014/main" id="{892DF978-008B-1987-8B35-B52672A50DB7}"/>
              </a:ext>
            </a:extLst>
          </p:cNvPr>
          <p:cNvSpPr txBox="1"/>
          <p:nvPr/>
        </p:nvSpPr>
        <p:spPr>
          <a:xfrm>
            <a:off x="838200" y="1081995"/>
            <a:ext cx="10258168" cy="2123658"/>
          </a:xfrm>
          <a:prstGeom prst="rect">
            <a:avLst/>
          </a:prstGeom>
          <a:noFill/>
        </p:spPr>
        <p:txBody>
          <a:bodyPr wrap="square">
            <a:spAutoFit/>
          </a:bodyPr>
          <a:lstStyle/>
          <a:p>
            <a:pPr marL="285750" indent="-285750" algn="l">
              <a:buFont typeface="Arial" panose="020B0604020202020204" pitchFamily="34" charset="0"/>
              <a:buChar char="•"/>
            </a:pPr>
            <a:r>
              <a:rPr lang="en-US" sz="2200" b="0" i="0" dirty="0">
                <a:solidFill>
                  <a:schemeClr val="tx1"/>
                </a:solidFill>
                <a:effectLst/>
              </a:rPr>
              <a:t>Deep learning models can have millions of parameters (weights and biases). </a:t>
            </a:r>
          </a:p>
          <a:p>
            <a:pPr marL="742950" lvl="1" indent="-285750">
              <a:buFont typeface="Arial" panose="020B0604020202020204" pitchFamily="34" charset="0"/>
              <a:buChar char="•"/>
            </a:pPr>
            <a:r>
              <a:rPr lang="en-US" sz="2200" b="0" i="0" dirty="0">
                <a:solidFill>
                  <a:schemeClr val="tx1"/>
                </a:solidFill>
                <a:effectLst/>
              </a:rPr>
              <a:t>That makes them powerful, but also easy to overfit.</a:t>
            </a:r>
          </a:p>
          <a:p>
            <a:pPr marL="285750" indent="-285750" algn="l">
              <a:buFont typeface="Arial" panose="020B0604020202020204" pitchFamily="34" charset="0"/>
              <a:buChar char="•"/>
            </a:pPr>
            <a:r>
              <a:rPr lang="en-US" sz="2200" b="0" i="0" dirty="0">
                <a:solidFill>
                  <a:schemeClr val="tx1"/>
                </a:solidFill>
                <a:effectLst/>
              </a:rPr>
              <a:t>Signs of overfitting:</a:t>
            </a:r>
          </a:p>
          <a:p>
            <a:pPr marL="742950" lvl="1" indent="-285750">
              <a:buFont typeface="Arial" panose="020B0604020202020204" pitchFamily="34" charset="0"/>
              <a:buChar char="•"/>
            </a:pPr>
            <a:r>
              <a:rPr lang="en-US" sz="2200" b="0" i="0" dirty="0">
                <a:solidFill>
                  <a:schemeClr val="tx1"/>
                </a:solidFill>
                <a:effectLst/>
              </a:rPr>
              <a:t>Training loss keeps decreasing</a:t>
            </a:r>
          </a:p>
          <a:p>
            <a:pPr marL="800100" lvl="1" indent="-342900">
              <a:buFont typeface="Arial" panose="020B0604020202020204" pitchFamily="34" charset="0"/>
              <a:buChar char="•"/>
            </a:pPr>
            <a:r>
              <a:rPr lang="en-US" sz="2200" b="0" i="0" dirty="0">
                <a:solidFill>
                  <a:schemeClr val="tx1"/>
                </a:solidFill>
                <a:effectLst/>
              </a:rPr>
              <a:t>Validation loss stops improving or gets worse</a:t>
            </a:r>
          </a:p>
          <a:p>
            <a:pPr marL="800100" lvl="1" indent="-342900">
              <a:buFont typeface="Arial" panose="020B0604020202020204" pitchFamily="34" charset="0"/>
              <a:buChar char="•"/>
            </a:pPr>
            <a:r>
              <a:rPr lang="en-US" sz="2200" b="0" i="0" dirty="0">
                <a:solidFill>
                  <a:schemeClr val="tx1"/>
                </a:solidFill>
                <a:effectLst/>
              </a:rPr>
              <a:t>Training accuracy is much higher than validation accuracy</a:t>
            </a:r>
            <a:endParaRPr lang="en-US" sz="2200" dirty="0"/>
          </a:p>
        </p:txBody>
      </p:sp>
    </p:spTree>
    <p:extLst>
      <p:ext uri="{BB962C8B-B14F-4D97-AF65-F5344CB8AC3E}">
        <p14:creationId xmlns:p14="http://schemas.microsoft.com/office/powerpoint/2010/main" val="2188642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5287B-6D13-30BF-F9E2-74D5079CD2C9}"/>
              </a:ext>
            </a:extLst>
          </p:cNvPr>
          <p:cNvSpPr>
            <a:spLocks noGrp="1"/>
          </p:cNvSpPr>
          <p:nvPr>
            <p:ph type="title"/>
          </p:nvPr>
        </p:nvSpPr>
        <p:spPr/>
        <p:txBody>
          <a:bodyPr>
            <a:normAutofit fontScale="90000"/>
          </a:bodyPr>
          <a:lstStyle/>
          <a:p>
            <a:r>
              <a:rPr lang="en-US" dirty="0"/>
              <a:t>Dense Layers</a:t>
            </a:r>
          </a:p>
        </p:txBody>
      </p:sp>
      <p:sp>
        <p:nvSpPr>
          <p:cNvPr id="3" name="Content Placeholder 2">
            <a:extLst>
              <a:ext uri="{FF2B5EF4-FFF2-40B4-BE49-F238E27FC236}">
                <a16:creationId xmlns:a16="http://schemas.microsoft.com/office/drawing/2014/main" id="{8ECEA0CA-AFC0-131F-5702-7EE41ED81767}"/>
              </a:ext>
            </a:extLst>
          </p:cNvPr>
          <p:cNvSpPr>
            <a:spLocks noGrp="1"/>
          </p:cNvSpPr>
          <p:nvPr>
            <p:ph idx="1"/>
          </p:nvPr>
        </p:nvSpPr>
        <p:spPr/>
        <p:txBody>
          <a:bodyPr>
            <a:normAutofit/>
          </a:bodyPr>
          <a:lstStyle/>
          <a:p>
            <a:r>
              <a:rPr lang="en-US" dirty="0"/>
              <a:t>Hidden layers can be of different types, each designed to perform specific computations and improve learning.</a:t>
            </a:r>
          </a:p>
          <a:p>
            <a:r>
              <a:rPr lang="en-US" b="1" dirty="0"/>
              <a:t>Dense (Fully Connected) Layer</a:t>
            </a:r>
          </a:p>
          <a:p>
            <a:pPr lvl="1"/>
            <a:r>
              <a:rPr lang="en-US" dirty="0"/>
              <a:t>most common hidden layer where each neuron is connected to every neuron in the previous layer. </a:t>
            </a:r>
          </a:p>
          <a:p>
            <a:pPr lvl="1"/>
            <a:r>
              <a:rPr lang="en-US" dirty="0"/>
              <a:t>It performs a weighted sum of inputs followed by an activation function to learn complex patterns.</a:t>
            </a:r>
          </a:p>
          <a:p>
            <a:endParaRPr lang="en-US" dirty="0"/>
          </a:p>
        </p:txBody>
      </p:sp>
      <p:sp>
        <p:nvSpPr>
          <p:cNvPr id="4" name="Footer Placeholder 3">
            <a:extLst>
              <a:ext uri="{FF2B5EF4-FFF2-40B4-BE49-F238E27FC236}">
                <a16:creationId xmlns:a16="http://schemas.microsoft.com/office/drawing/2014/main" id="{D959CB82-3861-0D05-F077-807CBD5DDDF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1611F746-8AFF-F56B-852E-DDDA73212985}"/>
              </a:ext>
            </a:extLst>
          </p:cNvPr>
          <p:cNvSpPr>
            <a:spLocks noGrp="1"/>
          </p:cNvSpPr>
          <p:nvPr>
            <p:ph type="sldNum" sz="quarter" idx="12"/>
          </p:nvPr>
        </p:nvSpPr>
        <p:spPr/>
        <p:txBody>
          <a:bodyPr/>
          <a:lstStyle/>
          <a:p>
            <a:fld id="{10A4AB6E-1AC4-C44F-A0CC-883A0306AF8B}" type="slidenum">
              <a:rPr lang="en-US" smtClean="0"/>
              <a:t>39</a:t>
            </a:fld>
            <a:endParaRPr lang="en-US"/>
          </a:p>
        </p:txBody>
      </p:sp>
      <p:pic>
        <p:nvPicPr>
          <p:cNvPr id="6" name="Picture 5" descr="Neural-network diagram illustrating connections from a previous layer through a dense unit layer to a next layer. Green vertical layers contain three nodes, while central layer contains four pale-green dense units linked by solid and dotted lines.&#10;">
            <a:extLst>
              <a:ext uri="{FF2B5EF4-FFF2-40B4-BE49-F238E27FC236}">
                <a16:creationId xmlns:a16="http://schemas.microsoft.com/office/drawing/2014/main" id="{40297F4F-A76E-0D21-8CD2-3EEC8F3CF2BE}"/>
              </a:ext>
            </a:extLst>
          </p:cNvPr>
          <p:cNvPicPr>
            <a:picLocks noChangeAspect="1"/>
          </p:cNvPicPr>
          <p:nvPr/>
        </p:nvPicPr>
        <p:blipFill>
          <a:blip r:embed="rId2"/>
          <a:stretch>
            <a:fillRect/>
          </a:stretch>
        </p:blipFill>
        <p:spPr>
          <a:xfrm>
            <a:off x="3530600" y="4197350"/>
            <a:ext cx="5080000" cy="2159000"/>
          </a:xfrm>
          <a:prstGeom prst="rect">
            <a:avLst/>
          </a:prstGeom>
        </p:spPr>
      </p:pic>
    </p:spTree>
    <p:extLst>
      <p:ext uri="{BB962C8B-B14F-4D97-AF65-F5344CB8AC3E}">
        <p14:creationId xmlns:p14="http://schemas.microsoft.com/office/powerpoint/2010/main" val="3705124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AECB-482E-B7F1-4431-DC7117B15151}"/>
              </a:ext>
            </a:extLst>
          </p:cNvPr>
          <p:cNvSpPr>
            <a:spLocks noGrp="1"/>
          </p:cNvSpPr>
          <p:nvPr>
            <p:ph type="title"/>
          </p:nvPr>
        </p:nvSpPr>
        <p:spPr/>
        <p:txBody>
          <a:bodyPr>
            <a:normAutofit fontScale="90000"/>
          </a:bodyPr>
          <a:lstStyle/>
          <a:p>
            <a:r>
              <a:rPr lang="en-US" dirty="0"/>
              <a:t>Dropout Layer</a:t>
            </a:r>
          </a:p>
        </p:txBody>
      </p:sp>
      <p:sp>
        <p:nvSpPr>
          <p:cNvPr id="3" name="Content Placeholder 2">
            <a:extLst>
              <a:ext uri="{FF2B5EF4-FFF2-40B4-BE49-F238E27FC236}">
                <a16:creationId xmlns:a16="http://schemas.microsoft.com/office/drawing/2014/main" id="{3CB1BCED-6C00-E462-4392-43CE766814CC}"/>
              </a:ext>
            </a:extLst>
          </p:cNvPr>
          <p:cNvSpPr>
            <a:spLocks noGrp="1"/>
          </p:cNvSpPr>
          <p:nvPr>
            <p:ph idx="1"/>
          </p:nvPr>
        </p:nvSpPr>
        <p:spPr/>
        <p:txBody>
          <a:bodyPr/>
          <a:lstStyle/>
          <a:p>
            <a:r>
              <a:rPr lang="en-US" dirty="0"/>
              <a:t>A regularization technique to reduce overfitting by randomly deactivating some neurons during training</a:t>
            </a:r>
          </a:p>
          <a:p>
            <a:pPr lvl="1"/>
            <a:r>
              <a:rPr lang="en-US" dirty="0"/>
              <a:t>Helps prevent overfitting</a:t>
            </a:r>
          </a:p>
          <a:p>
            <a:pPr lvl="1"/>
            <a:r>
              <a:rPr lang="en-US" dirty="0"/>
              <a:t>Reduces dependency on specific neurons</a:t>
            </a:r>
          </a:p>
          <a:p>
            <a:pPr lvl="1"/>
            <a:r>
              <a:rPr lang="en-US" dirty="0"/>
              <a:t>Improves generalization of the model</a:t>
            </a:r>
          </a:p>
          <a:p>
            <a:endParaRPr lang="en-US" dirty="0"/>
          </a:p>
        </p:txBody>
      </p:sp>
      <p:sp>
        <p:nvSpPr>
          <p:cNvPr id="4" name="Footer Placeholder 3">
            <a:extLst>
              <a:ext uri="{FF2B5EF4-FFF2-40B4-BE49-F238E27FC236}">
                <a16:creationId xmlns:a16="http://schemas.microsoft.com/office/drawing/2014/main" id="{0164EDCA-C129-0FAB-231A-D625B1405D0C}"/>
              </a:ext>
            </a:extLst>
          </p:cNvPr>
          <p:cNvSpPr>
            <a:spLocks noGrp="1"/>
          </p:cNvSpPr>
          <p:nvPr>
            <p:ph type="ftr" sz="quarter" idx="11"/>
          </p:nvPr>
        </p:nvSpPr>
        <p:spPr/>
        <p:txBody>
          <a:bodyPr/>
          <a:lstStyle/>
          <a:p>
            <a:r>
              <a:rPr lang="en-US"/>
              <a:t>GEOL 599</a:t>
            </a:r>
          </a:p>
        </p:txBody>
      </p:sp>
      <p:sp>
        <p:nvSpPr>
          <p:cNvPr id="5" name="Slide Number Placeholder 4">
            <a:extLst>
              <a:ext uri="{FF2B5EF4-FFF2-40B4-BE49-F238E27FC236}">
                <a16:creationId xmlns:a16="http://schemas.microsoft.com/office/drawing/2014/main" id="{38FD14CA-9A6A-EFF0-CF92-8217C4E193F0}"/>
              </a:ext>
            </a:extLst>
          </p:cNvPr>
          <p:cNvSpPr>
            <a:spLocks noGrp="1"/>
          </p:cNvSpPr>
          <p:nvPr>
            <p:ph type="sldNum" sz="quarter" idx="12"/>
          </p:nvPr>
        </p:nvSpPr>
        <p:spPr/>
        <p:txBody>
          <a:bodyPr/>
          <a:lstStyle/>
          <a:p>
            <a:fld id="{10A4AB6E-1AC4-C44F-A0CC-883A0306AF8B}" type="slidenum">
              <a:rPr lang="en-US" smtClean="0"/>
              <a:t>40</a:t>
            </a:fld>
            <a:endParaRPr lang="en-US"/>
          </a:p>
        </p:txBody>
      </p:sp>
      <p:pic>
        <p:nvPicPr>
          <p:cNvPr id="8" name="Picture 7" descr="Grid diagram showing dropout during training, with hidden units 1–8 arranged by rows and training steps 1–10 by columns. Blue cells mark active units, while gray cells indicate randomly ignored units, creating a sparse, irregular dropout pattern across steps.&#10;">
            <a:extLst>
              <a:ext uri="{FF2B5EF4-FFF2-40B4-BE49-F238E27FC236}">
                <a16:creationId xmlns:a16="http://schemas.microsoft.com/office/drawing/2014/main" id="{3CDA6D23-E939-5DC0-6312-0F13345B269A}"/>
              </a:ext>
            </a:extLst>
          </p:cNvPr>
          <p:cNvPicPr>
            <a:picLocks noChangeAspect="1"/>
          </p:cNvPicPr>
          <p:nvPr/>
        </p:nvPicPr>
        <p:blipFill>
          <a:blip r:embed="rId2"/>
          <a:stretch>
            <a:fillRect/>
          </a:stretch>
        </p:blipFill>
        <p:spPr>
          <a:xfrm>
            <a:off x="3055122" y="3124252"/>
            <a:ext cx="6081756" cy="3245881"/>
          </a:xfrm>
          <a:prstGeom prst="rect">
            <a:avLst/>
          </a:prstGeom>
        </p:spPr>
      </p:pic>
    </p:spTree>
    <p:extLst>
      <p:ext uri="{BB962C8B-B14F-4D97-AF65-F5344CB8AC3E}">
        <p14:creationId xmlns:p14="http://schemas.microsoft.com/office/powerpoint/2010/main" val="4078046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6120</TotalTime>
  <Words>2265</Words>
  <Application>Microsoft Macintosh PowerPoint</Application>
  <PresentationFormat>Widescreen</PresentationFormat>
  <Paragraphs>379</Paragraphs>
  <Slides>40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Aptos Display</vt:lpstr>
      <vt:lpstr>Arial</vt:lpstr>
      <vt:lpstr>Cambria Math</vt:lpstr>
      <vt:lpstr>Courier New</vt:lpstr>
      <vt:lpstr>Office Theme</vt:lpstr>
      <vt:lpstr>GEOL 599 Applied Machine Learning for Geoscience Data</vt:lpstr>
      <vt:lpstr>Traditional ML vs Deep Learning</vt:lpstr>
      <vt:lpstr>What is deep learning</vt:lpstr>
      <vt:lpstr>Why deep learning</vt:lpstr>
      <vt:lpstr>What deep learning needs</vt:lpstr>
      <vt:lpstr>Parts of a deep learning model</vt:lpstr>
      <vt:lpstr>Terminology</vt:lpstr>
      <vt:lpstr>Neural Network Overview</vt:lpstr>
      <vt:lpstr>Input Layer</vt:lpstr>
      <vt:lpstr>Hidden Layers</vt:lpstr>
      <vt:lpstr>Output Layer</vt:lpstr>
      <vt:lpstr>Activation Function</vt:lpstr>
      <vt:lpstr>Sigmoid Function</vt:lpstr>
      <vt:lpstr>Tanh Activation Function </vt:lpstr>
      <vt:lpstr>ReLU (Rectified Linear Unit) Function </vt:lpstr>
      <vt:lpstr>SoftPlus Function </vt:lpstr>
      <vt:lpstr>Leaky ReLU</vt:lpstr>
      <vt:lpstr>Neural Network Overview</vt:lpstr>
      <vt:lpstr>Loss function</vt:lpstr>
      <vt:lpstr>Training a neural network</vt:lpstr>
      <vt:lpstr>Model Training</vt:lpstr>
      <vt:lpstr>Forward Pass Work</vt:lpstr>
      <vt:lpstr>Backward Pass </vt:lpstr>
      <vt:lpstr>Learning Rate</vt:lpstr>
      <vt:lpstr>Learning Rate Example</vt:lpstr>
      <vt:lpstr>Iteration</vt:lpstr>
      <vt:lpstr>Classification Example</vt:lpstr>
      <vt:lpstr>Hidden Layer Calculation:</vt:lpstr>
      <vt:lpstr>Applying the ReLU activation function</vt:lpstr>
      <vt:lpstr>Final Classification</vt:lpstr>
      <vt:lpstr>Second Example</vt:lpstr>
      <vt:lpstr>Forward Propagation</vt:lpstr>
      <vt:lpstr>Computing Outputs</vt:lpstr>
      <vt:lpstr>Error Calculation </vt:lpstr>
      <vt:lpstr>Back Propagation </vt:lpstr>
      <vt:lpstr>Hidden Unit Error</vt:lpstr>
      <vt:lpstr>Weight Updates</vt:lpstr>
      <vt:lpstr>Combating Overfitting</vt:lpstr>
      <vt:lpstr>Dense Layers</vt:lpstr>
      <vt:lpstr>Dropout Layer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Blaskey, Dylan</dc:creator>
  <cp:lastModifiedBy>Blaskey, Dylan</cp:lastModifiedBy>
  <cp:revision>32</cp:revision>
  <dcterms:created xsi:type="dcterms:W3CDTF">2026-04-30T17:26:45Z</dcterms:created>
  <dcterms:modified xsi:type="dcterms:W3CDTF">2026-09-28T11:49:56Z</dcterms:modified>
</cp:coreProperties>
</file>