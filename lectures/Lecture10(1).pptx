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451" r:id="rId3"/>
    <p:sldId id="459" r:id="rId4"/>
    <p:sldId id="452" r:id="rId5"/>
    <p:sldId id="453" r:id="rId6"/>
    <p:sldId id="455" r:id="rId7"/>
    <p:sldId id="456" r:id="rId8"/>
    <p:sldId id="458" r:id="rId9"/>
    <p:sldId id="457" r:id="rId10"/>
    <p:sldId id="4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00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01"/>
    <p:restoredTop sz="89409"/>
  </p:normalViewPr>
  <p:slideViewPr>
    <p:cSldViewPr snapToGrid="0">
      <p:cViewPr varScale="1">
        <p:scale>
          <a:sx n="102" d="100"/>
          <a:sy n="102" d="100"/>
        </p:scale>
        <p:origin x="1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49FDC-47A8-F54E-9812-4874F92A1A9F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F3C1A-D9C4-F241-9E29-49D7A16F9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3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88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21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27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74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91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7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F3C1A-D9C4-F241-9E29-49D7A16F97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9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B01AE6-E8E1-85B2-DE89-19A7E3AB6D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252209"/>
            <a:ext cx="9144000" cy="588963"/>
          </a:xfrm>
        </p:spPr>
        <p:txBody>
          <a:bodyPr/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Lecture</a:t>
            </a:r>
          </a:p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3DDF7-4F23-7FC1-A6F1-B9ACB649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GEOL 599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EBF45-1E3C-5639-6B06-6CF54D95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A4AB6E-1AC4-C44F-A0CC-883A0306AF8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DB6341-93E9-1E69-609E-73BBFB4BA579}"/>
              </a:ext>
            </a:extLst>
          </p:cNvPr>
          <p:cNvCxnSpPr>
            <a:cxnSpLocks/>
          </p:cNvCxnSpPr>
          <p:nvPr userDrawn="1"/>
        </p:nvCxnSpPr>
        <p:spPr>
          <a:xfrm>
            <a:off x="990600" y="3058886"/>
            <a:ext cx="10156371" cy="0"/>
          </a:xfrm>
          <a:prstGeom prst="line">
            <a:avLst/>
          </a:prstGeom>
          <a:ln>
            <a:solidFill>
              <a:srgbClr val="7300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522C522C-189E-E345-55A5-F92D4350F77D}"/>
              </a:ext>
            </a:extLst>
          </p:cNvPr>
          <p:cNvSpPr txBox="1">
            <a:spLocks/>
          </p:cNvSpPr>
          <p:nvPr userDrawn="1"/>
        </p:nvSpPr>
        <p:spPr>
          <a:xfrm>
            <a:off x="1518557" y="3276601"/>
            <a:ext cx="9144000" cy="2862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Today’s Objectives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BD97F3-4925-C570-5514-2E8A7F901638}"/>
              </a:ext>
            </a:extLst>
          </p:cNvPr>
          <p:cNvSpPr/>
          <p:nvPr userDrawn="1"/>
        </p:nvSpPr>
        <p:spPr>
          <a:xfrm>
            <a:off x="0" y="0"/>
            <a:ext cx="12192000" cy="1034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E6434-D3C5-35B8-2A5B-12571E53B4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5443" y="-244251"/>
            <a:ext cx="12192000" cy="2387600"/>
          </a:xfrm>
        </p:spPr>
        <p:txBody>
          <a:bodyPr anchor="b"/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GEOL 599</a:t>
            </a:r>
            <a:br>
              <a:rPr lang="en-US" dirty="0"/>
            </a:br>
            <a:r>
              <a:rPr lang="en-US" dirty="0"/>
              <a:t>Applied Machine Learning for Geoscience Data</a:t>
            </a:r>
          </a:p>
        </p:txBody>
      </p:sp>
    </p:spTree>
    <p:extLst>
      <p:ext uri="{BB962C8B-B14F-4D97-AF65-F5344CB8AC3E}">
        <p14:creationId xmlns:p14="http://schemas.microsoft.com/office/powerpoint/2010/main" val="296911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05B7-09A3-CD35-0F48-F6AC4FE0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CA42-DE5B-A0F5-7D42-23509A2D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DB7EA-5BEF-6A60-8C8C-EE99F86D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418D03-48AA-CB49-A132-AF8A2DA0E64B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F1026-75B7-EFCA-1EB7-A6D8B3B4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2B28F-DC4B-2CAA-D736-7042BDD1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5A5D-6083-49E0-EB07-46E46705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94158-D0ED-B328-7FB6-8508C50E7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A2D35-2853-8EB1-AFAE-2A9E5C2B4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64778-0B2B-73D7-BD5C-AE37BF503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6A1EE-6D0F-02A2-34F3-06FAF29A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1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D206-18F2-9CE1-11FE-5F7FD5C7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E4094-9CD9-970B-A183-C9901E31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FBD965-6108-7945-883E-024EB22FF9F9}" type="datetime1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55C67-D7DD-F09A-B00B-A801CAB6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01E41-A874-FA58-18A5-EA60211D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9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F5D95-40F0-0635-C904-7E748079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5880B-0B4C-2E4A-B266-E0FE9A68D62F}" type="datetime1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B12B9-C9F2-BACD-A839-913B604B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29665-3410-49BB-1D7A-41AF60024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4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3C0E-7FC5-B6FD-1C83-A481576B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655D9-2AF1-203E-B440-CA1770A50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E54E5-7F53-5749-117E-C89326971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3D668-5A6A-2815-6A54-44B974F0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EC2D56-32BF-9F41-918E-49D0AA578943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3E52E-D8F4-5313-1B36-98674855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80849-1A56-0383-E5C4-97DDE048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1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B588-3C09-D5CF-2676-6FC7737E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66BE-5A12-67D9-057B-1BBF23736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1E22-66C9-B589-0129-498B002A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722F35-E892-0345-AB79-C0946392D699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1508-762A-D53F-C7EC-9D9BF416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0CDCB-37FC-4C2D-A3D2-0DD3FFEC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5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F802EE-C334-A1A8-98B8-350093E9A97B}"/>
              </a:ext>
            </a:extLst>
          </p:cNvPr>
          <p:cNvSpPr/>
          <p:nvPr userDrawn="1"/>
        </p:nvSpPr>
        <p:spPr>
          <a:xfrm>
            <a:off x="0" y="0"/>
            <a:ext cx="12192000" cy="1001486"/>
          </a:xfrm>
          <a:prstGeom prst="rect">
            <a:avLst/>
          </a:prstGeom>
          <a:solidFill>
            <a:srgbClr val="7300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9E362-3E7B-106E-C26F-017E025D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687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616FF-4C58-32D3-4174-A5F9887DA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5094"/>
            <a:ext cx="10515600" cy="5011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2BC8C-1205-6412-7DF1-F9370BF63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GEOL 599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F6326-AC4E-DA41-3F99-70C0F1118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0A4AB6E-1AC4-C44F-A0CC-883A0306AF8B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96C53DE-F0FB-6345-E263-C4CF73370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8922" y="6036159"/>
            <a:ext cx="3159579" cy="9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9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  <p:sldLayoutId id="2147483658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blaskey/ML_Course_Co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D74B-1267-62B5-F4B9-8B9EE90CE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GEOL 599</a:t>
            </a:r>
            <a:br>
              <a:rPr lang="en-US" dirty="0"/>
            </a:br>
            <a:r>
              <a:rPr lang="en-US" dirty="0"/>
              <a:t>Applied Machine Learning for Geoscience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B06DC-E070-314E-1C1A-F8B257144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CA0F4-200B-9DEE-1D44-C6B1B44327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49124" y="3703898"/>
            <a:ext cx="10232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Hyperparameters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Dealing with imbalanced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Practice with boosting and bagging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939D3-C906-D27A-E627-E49703BA5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GEOL 599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ED953-1DCE-B252-D7D6-5DDFEE915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711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0B29-449C-B699-7AE2-1132D46B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Panel Review (October 5 –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52F5F-17A0-55E5-CAA8-27CA15A84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students will read all project proposals </a:t>
            </a:r>
          </a:p>
          <a:p>
            <a:r>
              <a:rPr lang="en-US" dirty="0"/>
              <a:t>Serve as lead reviewer on three proposals</a:t>
            </a:r>
          </a:p>
          <a:p>
            <a:pPr lvl="1"/>
            <a:r>
              <a:rPr lang="en-US" dirty="0"/>
              <a:t>You lead the discussion on one and assist on two</a:t>
            </a:r>
          </a:p>
          <a:p>
            <a:r>
              <a:rPr lang="en-US" dirty="0"/>
              <a:t>Lead reviewers should summarize the project, identify its strongest and weakest aspects, and guide a constructive discussion.</a:t>
            </a:r>
          </a:p>
          <a:p>
            <a:pPr lvl="1"/>
            <a:r>
              <a:rPr lang="en-US" dirty="0"/>
              <a:t>Everyone should also contribute through questions and discussion points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The review should be rigorous but constructive. The goal is not to rank classmates or “approve” or “reject” projects; it is to identify the scientific and methodological changes that will make each project stronger.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6F191-E74E-6CCE-247C-228E8FAD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D449B-2EC9-F560-3480-EF0FC29BD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3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50CE-A8D7-8250-1366-11508030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46CC75-C42E-9DE7-3373-FAED2292A4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958937"/>
              </p:ext>
            </p:extLst>
          </p:nvPr>
        </p:nvGraphicFramePr>
        <p:xfrm>
          <a:off x="3191435" y="1289229"/>
          <a:ext cx="5809130" cy="45203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9768">
                  <a:extLst>
                    <a:ext uri="{9D8B030D-6E8A-4147-A177-3AD203B41FA5}">
                      <a16:colId xmlns:a16="http://schemas.microsoft.com/office/drawing/2014/main" val="1436938400"/>
                    </a:ext>
                  </a:extLst>
                </a:gridCol>
                <a:gridCol w="983966">
                  <a:extLst>
                    <a:ext uri="{9D8B030D-6E8A-4147-A177-3AD203B41FA5}">
                      <a16:colId xmlns:a16="http://schemas.microsoft.com/office/drawing/2014/main" val="2866458577"/>
                    </a:ext>
                  </a:extLst>
                </a:gridCol>
                <a:gridCol w="1837698">
                  <a:extLst>
                    <a:ext uri="{9D8B030D-6E8A-4147-A177-3AD203B41FA5}">
                      <a16:colId xmlns:a16="http://schemas.microsoft.com/office/drawing/2014/main" val="880301572"/>
                    </a:ext>
                  </a:extLst>
                </a:gridCol>
                <a:gridCol w="1837698">
                  <a:extLst>
                    <a:ext uri="{9D8B030D-6E8A-4147-A177-3AD203B41FA5}">
                      <a16:colId xmlns:a16="http://schemas.microsoft.com/office/drawing/2014/main" val="3814100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Assistant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Panel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500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Ala, 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53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Gela, Soraya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75064"/>
                  </a:ext>
                </a:extLst>
              </a:tr>
              <a:tr h="441085">
                <a:tc>
                  <a:txBody>
                    <a:bodyPr/>
                    <a:lstStyle/>
                    <a:p>
                      <a:r>
                        <a:rPr lang="en-US" dirty="0"/>
                        <a:t>Gela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Remi, Dami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54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Ala, Dami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Patrick, Gela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7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Abby, Lydia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85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Ryan, Natalie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66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Soraya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Lydia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Patrick, Abby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113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Lydia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Natalie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Ryan, Asher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84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Lydia, Natalie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Oct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84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Natalie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Soraya, Asher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9059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4E0AA-1EE4-E1EB-79B7-779452CD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E08DB-0C4E-EFBC-B81A-7E4F65F9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8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08B9-557F-3E17-3CC8-82D0BC94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Hyperparameters – Random Forest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B26D8D-9DEC-3DA3-B4BD-4CDC3C107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34965"/>
              </p:ext>
            </p:extLst>
          </p:nvPr>
        </p:nvGraphicFramePr>
        <p:xfrm>
          <a:off x="838200" y="1720691"/>
          <a:ext cx="10515600" cy="38404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582789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85410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96820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Hyperparameter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What It Controls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Practical Effect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136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n_estimators / trees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Number of trees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More trees usually improve stability, but increase runtime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234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max_features / mtry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Number of predictors considered at each split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Smaller values make trees more different; larger values make trees more similar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75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max_depth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Maximum depth of each tree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Deeper trees capture more complexity but can overfit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292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min_samples_leaf / min_n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Minimum observations in a terminal node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Larger values make smoother, less complex trees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005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bootstrap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Whether trees use bootstrap samples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Usually TRUE; creates diversity among trees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20982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B7250-C866-3EF8-C13C-EF089C59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39AED-451C-41F9-89EF-0D53CFB2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4EBD-AF9B-C582-481B-8214CF4E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Hyperparameters: </a:t>
            </a:r>
            <a:r>
              <a:rPr lang="en-US" dirty="0" err="1"/>
              <a:t>XGBoost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760C8B-7E6C-0104-39E2-0C18DC4A67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065847"/>
              </p:ext>
            </p:extLst>
          </p:nvPr>
        </p:nvGraphicFramePr>
        <p:xfrm>
          <a:off x="838200" y="1217771"/>
          <a:ext cx="10515600" cy="484632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5894668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827537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94715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Hyperparameter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What It Controls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Practical Effect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335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n_estimators / trees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Number of boosting rounds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More trees can improve fit but can overfit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39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learning_rate / learn_rate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How much each tree contributes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Smaller values learn slowly and usually need more trees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86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max_depth / tree_depth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Maximum depth of each tree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Deeper trees capture interactions but can overfit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768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subsample / sample_size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Fraction of rows used per tree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Lower values add randomness and can reduce overfitting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336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colsample_bytree / mtry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Fraction or number of predictors used per tree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Lower values add randomness and can improve generalization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505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min_child_weight / min_n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Minimum data needed in a leaf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Larger values make the model more conservative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80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gamma / loss_reduction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Minimum improvement needed to split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Larger values reduce unnecessary splits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53800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3B9FB-A579-291F-78D5-BE6F5F77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049DA-25CB-04C2-E5A4-4D292D4C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3159-0CB8-792E-A62F-B4CF0F14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21A8-1168-17A3-0CF7-28C0ADE76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learning rate controls how much each new model update changes the overall model.</a:t>
            </a:r>
          </a:p>
          <a:p>
            <a:pPr lvl="1"/>
            <a:r>
              <a:rPr lang="en-US" dirty="0"/>
              <a:t>In boosting methods like </a:t>
            </a:r>
            <a:r>
              <a:rPr lang="en-US" dirty="0" err="1"/>
              <a:t>XGBoost</a:t>
            </a:r>
            <a:r>
              <a:rPr lang="en-US" dirty="0"/>
              <a:t>, each new tree tries to correct the errors from the trees before it. The learning rate decides how much that new tree contributes.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258D6-E941-AA29-D5BA-330FE163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AB069-C22A-7F84-CA86-3BFA396B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23C545-65D6-8D96-FEF8-C1A75CA5C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670375"/>
              </p:ext>
            </p:extLst>
          </p:nvPr>
        </p:nvGraphicFramePr>
        <p:xfrm>
          <a:off x="838200" y="3244819"/>
          <a:ext cx="10515600" cy="24688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481303">
                  <a:extLst>
                    <a:ext uri="{9D8B030D-6E8A-4147-A177-3AD203B41FA5}">
                      <a16:colId xmlns:a16="http://schemas.microsoft.com/office/drawing/2014/main" val="3055617035"/>
                    </a:ext>
                  </a:extLst>
                </a:gridCol>
                <a:gridCol w="8034297">
                  <a:extLst>
                    <a:ext uri="{9D8B030D-6E8A-4147-A177-3AD203B41FA5}">
                      <a16:colId xmlns:a16="http://schemas.microsoft.com/office/drawing/2014/main" val="390268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Learning Rate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Effect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63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High learning rate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Larger updates, faster learning, higher risk of overfitting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49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Low learning rate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Smaller updates, slower learning, often better generalization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05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Too high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Model may overfit or miss the best solution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0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Too low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Model may need many trees and can underfit if training stops too early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339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11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069C-3113-F60D-203B-B6F34BA4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rate – tree number tradeoff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ED3EEA3-BDE4-FBED-9D6B-3880E74D9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76398"/>
              </p:ext>
            </p:extLst>
          </p:nvPr>
        </p:nvGraphicFramePr>
        <p:xfrm>
          <a:off x="769043" y="1319585"/>
          <a:ext cx="10515600" cy="161544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988449">
                  <a:extLst>
                    <a:ext uri="{9D8B030D-6E8A-4147-A177-3AD203B41FA5}">
                      <a16:colId xmlns:a16="http://schemas.microsoft.com/office/drawing/2014/main" val="3321739461"/>
                    </a:ext>
                  </a:extLst>
                </a:gridCol>
                <a:gridCol w="7527151">
                  <a:extLst>
                    <a:ext uri="{9D8B030D-6E8A-4147-A177-3AD203B41FA5}">
                      <a16:colId xmlns:a16="http://schemas.microsoft.com/office/drawing/2014/main" val="2507667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Learning Rate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What Happens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64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Larger learning rate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Learns faster, needs fewer trees, higher risk of overfitting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11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Smaller learning rate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Learns more slowly, usually needs more trees, often generalizes better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56042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9DDFF-50DC-879C-49B9-383DCFD9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3A9C8-5DCE-98D3-8B06-EE383505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2B062-CCC5-E33E-25CC-7817760C015A}"/>
              </a:ext>
            </a:extLst>
          </p:cNvPr>
          <p:cNvSpPr txBox="1"/>
          <p:nvPr/>
        </p:nvSpPr>
        <p:spPr>
          <a:xfrm>
            <a:off x="624967" y="3266030"/>
            <a:ext cx="10803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Therefore, learning rate and tree number should be tuned together</a:t>
            </a:r>
          </a:p>
        </p:txBody>
      </p:sp>
    </p:spTree>
    <p:extLst>
      <p:ext uri="{BB962C8B-B14F-4D97-AF65-F5344CB8AC3E}">
        <p14:creationId xmlns:p14="http://schemas.microsoft.com/office/powerpoint/2010/main" val="188329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155E-2F73-FD12-0FB0-B2565DF99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Dealing with imbalanced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95BEC-B919-6131-4302-DCBF6DE6C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class weights to tell the model that mistakes on the minority class should count more.</a:t>
            </a:r>
          </a:p>
          <a:p>
            <a:pPr lvl="1"/>
            <a:r>
              <a:rPr lang="en-US" dirty="0"/>
              <a:t>Different methods in random forest and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 Resample the training data </a:t>
            </a:r>
          </a:p>
          <a:p>
            <a:pPr lvl="1"/>
            <a:r>
              <a:rPr lang="en-US" dirty="0"/>
              <a:t>Oversampling</a:t>
            </a:r>
          </a:p>
          <a:p>
            <a:pPr lvl="1"/>
            <a:r>
              <a:rPr lang="en-US" dirty="0" err="1"/>
              <a:t>Undersampling</a:t>
            </a:r>
            <a:endParaRPr lang="en-US" dirty="0"/>
          </a:p>
          <a:p>
            <a:pPr lvl="1"/>
            <a:r>
              <a:rPr lang="en-US" dirty="0"/>
              <a:t>Synthetic sampling</a:t>
            </a:r>
          </a:p>
          <a:p>
            <a:r>
              <a:rPr lang="en-US" dirty="0"/>
              <a:t>Stratify Train/Test splits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9CD02-93DB-C1B5-7FDD-5AA89105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BCB7D-4501-DC0C-96D4-9F1E9747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7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65AB-D136-97E5-E78A-75D70FBA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Dealing with imbalanced classes - metrics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0E62E-6E26-04B4-2574-07AE2124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C80EF-BD91-97A8-DA99-0935A90E9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899AAF-C143-0E9A-BEEE-F7E00A1B0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552837"/>
              </p:ext>
            </p:extLst>
          </p:nvPr>
        </p:nvGraphicFramePr>
        <p:xfrm>
          <a:off x="838200" y="1436530"/>
          <a:ext cx="10515600" cy="332232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341914">
                  <a:extLst>
                    <a:ext uri="{9D8B030D-6E8A-4147-A177-3AD203B41FA5}">
                      <a16:colId xmlns:a16="http://schemas.microsoft.com/office/drawing/2014/main" val="2094838711"/>
                    </a:ext>
                  </a:extLst>
                </a:gridCol>
                <a:gridCol w="7173686">
                  <a:extLst>
                    <a:ext uri="{9D8B030D-6E8A-4147-A177-3AD203B41FA5}">
                      <a16:colId xmlns:a16="http://schemas.microsoft.com/office/drawing/2014/main" val="4220481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Metric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Why It Helps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442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Recall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Measures how many true rare cases the model finds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085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Precision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Measures how many predicted rare cases are actually rare cases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910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F1 score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Balances precision and recall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5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Balanced accuracy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Averages performance across classes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859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PR-AUC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</a:rPr>
                        <a:t>Useful when the positive class is rare</a:t>
                      </a:r>
                      <a:endParaRPr lang="en-US" sz="2200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04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Confusion matrix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</a:rPr>
                        <a:t>Shows which classes are being missed</a:t>
                      </a:r>
                      <a:endParaRPr lang="en-US" sz="22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429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39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51D3B-2277-1D98-FF37-6A3B5DBD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Class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8EF9-3BDC-675F-C4C2-0F252CD9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In Class Assignment 6 found on Blackboard or in the course </a:t>
            </a:r>
            <a:r>
              <a:rPr lang="en-US" dirty="0">
                <a:hlinkClick r:id="rId2"/>
              </a:rPr>
              <a:t>GitHub Repo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D381A-A232-66F9-8317-EDB47A28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GEOL 599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011E8-95C1-499C-2A3E-DA038CA8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AB6E-1AC4-C44F-A0CC-883A0306AF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46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4938</TotalTime>
  <Words>760</Words>
  <Application>Microsoft Macintosh PowerPoint</Application>
  <PresentationFormat>Widescreen</PresentationFormat>
  <Paragraphs>180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GEOL 599 Applied Machine Learning for Geoscience Data</vt:lpstr>
      <vt:lpstr>Panel Review (October 5 – 7)</vt:lpstr>
      <vt:lpstr>Assignments</vt:lpstr>
      <vt:lpstr>Hyperparameters – Random Forest</vt:lpstr>
      <vt:lpstr>Hyperparameters: XGBoost</vt:lpstr>
      <vt:lpstr>Learning Rate</vt:lpstr>
      <vt:lpstr>Learning rate – tree number tradeoff</vt:lpstr>
      <vt:lpstr>Dealing with imbalanced classes</vt:lpstr>
      <vt:lpstr>Dealing with imbalanced classes - metrics</vt:lpstr>
      <vt:lpstr>In Class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Blaskey, Dylan</dc:creator>
  <cp:lastModifiedBy>Blaskey, Dylan</cp:lastModifiedBy>
  <cp:revision>28</cp:revision>
  <dcterms:created xsi:type="dcterms:W3CDTF">2026-04-30T17:26:45Z</dcterms:created>
  <dcterms:modified xsi:type="dcterms:W3CDTF">2026-09-23T14:34:59Z</dcterms:modified>
</cp:coreProperties>
</file>