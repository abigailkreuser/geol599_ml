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431" r:id="rId3"/>
    <p:sldId id="432" r:id="rId4"/>
    <p:sldId id="433" r:id="rId5"/>
    <p:sldId id="434" r:id="rId6"/>
    <p:sldId id="436" r:id="rId7"/>
    <p:sldId id="437" r:id="rId8"/>
    <p:sldId id="435" r:id="rId9"/>
    <p:sldId id="438" r:id="rId10"/>
    <p:sldId id="439" r:id="rId11"/>
    <p:sldId id="440" r:id="rId12"/>
    <p:sldId id="441" r:id="rId13"/>
    <p:sldId id="442" r:id="rId14"/>
    <p:sldId id="443" r:id="rId15"/>
    <p:sldId id="444" r:id="rId16"/>
    <p:sldId id="452" r:id="rId17"/>
    <p:sldId id="446" r:id="rId18"/>
    <p:sldId id="447" r:id="rId19"/>
    <p:sldId id="448" r:id="rId20"/>
    <p:sldId id="449" r:id="rId21"/>
    <p:sldId id="450" r:id="rId22"/>
    <p:sldId id="45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00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77"/>
    <p:restoredTop sz="56358"/>
  </p:normalViewPr>
  <p:slideViewPr>
    <p:cSldViewPr snapToGrid="0">
      <p:cViewPr varScale="1">
        <p:scale>
          <a:sx n="60" d="100"/>
          <a:sy n="60" d="100"/>
        </p:scale>
        <p:origin x="30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A49FDC-47A8-F54E-9812-4874F92A1A9F}" type="datetimeFigureOut">
              <a:rPr lang="en-US" smtClean="0"/>
              <a:t>9/21/26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F3C1A-D9C4-F241-9E29-49D7A16F9780}" type="slidenum">
              <a:rPr lang="en-US" smtClean="0"/>
              <a:t>‹#›</a:t>
            </a:fld>
            <a:endParaRPr lang="en-US"/>
          </a:p>
        </p:txBody>
      </p:sp>
    </p:spTree>
    <p:extLst>
      <p:ext uri="{BB962C8B-B14F-4D97-AF65-F5344CB8AC3E}">
        <p14:creationId xmlns:p14="http://schemas.microsoft.com/office/powerpoint/2010/main" val="2590339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a:t>
            </a:fld>
            <a:endParaRPr lang="en-US"/>
          </a:p>
        </p:txBody>
      </p:sp>
    </p:spTree>
    <p:extLst>
      <p:ext uri="{BB962C8B-B14F-4D97-AF65-F5344CB8AC3E}">
        <p14:creationId xmlns:p14="http://schemas.microsoft.com/office/powerpoint/2010/main" val="565088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a:t>
            </a:fld>
            <a:endParaRPr lang="en-US"/>
          </a:p>
        </p:txBody>
      </p:sp>
    </p:spTree>
    <p:extLst>
      <p:ext uri="{BB962C8B-B14F-4D97-AF65-F5344CB8AC3E}">
        <p14:creationId xmlns:p14="http://schemas.microsoft.com/office/powerpoint/2010/main" val="48987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5</a:t>
            </a:fld>
            <a:endParaRPr lang="en-US"/>
          </a:p>
        </p:txBody>
      </p:sp>
    </p:spTree>
    <p:extLst>
      <p:ext uri="{BB962C8B-B14F-4D97-AF65-F5344CB8AC3E}">
        <p14:creationId xmlns:p14="http://schemas.microsoft.com/office/powerpoint/2010/main" val="1627807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8</a:t>
            </a:fld>
            <a:endParaRPr lang="en-US"/>
          </a:p>
        </p:txBody>
      </p:sp>
    </p:spTree>
    <p:extLst>
      <p:ext uri="{BB962C8B-B14F-4D97-AF65-F5344CB8AC3E}">
        <p14:creationId xmlns:p14="http://schemas.microsoft.com/office/powerpoint/2010/main" val="1292820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12</a:t>
            </a:fld>
            <a:endParaRPr lang="en-US"/>
          </a:p>
        </p:txBody>
      </p:sp>
    </p:spTree>
    <p:extLst>
      <p:ext uri="{BB962C8B-B14F-4D97-AF65-F5344CB8AC3E}">
        <p14:creationId xmlns:p14="http://schemas.microsoft.com/office/powerpoint/2010/main" val="101699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15</a:t>
            </a:fld>
            <a:endParaRPr lang="en-US"/>
          </a:p>
        </p:txBody>
      </p:sp>
    </p:spTree>
    <p:extLst>
      <p:ext uri="{BB962C8B-B14F-4D97-AF65-F5344CB8AC3E}">
        <p14:creationId xmlns:p14="http://schemas.microsoft.com/office/powerpoint/2010/main" val="1011120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16</a:t>
            </a:fld>
            <a:endParaRPr lang="en-US"/>
          </a:p>
        </p:txBody>
      </p:sp>
    </p:spTree>
    <p:extLst>
      <p:ext uri="{BB962C8B-B14F-4D97-AF65-F5344CB8AC3E}">
        <p14:creationId xmlns:p14="http://schemas.microsoft.com/office/powerpoint/2010/main" val="2695237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20</a:t>
            </a:fld>
            <a:endParaRPr lang="en-US"/>
          </a:p>
        </p:txBody>
      </p:sp>
    </p:spTree>
    <p:extLst>
      <p:ext uri="{BB962C8B-B14F-4D97-AF65-F5344CB8AC3E}">
        <p14:creationId xmlns:p14="http://schemas.microsoft.com/office/powerpoint/2010/main" val="4121051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21</a:t>
            </a:fld>
            <a:endParaRPr lang="en-US"/>
          </a:p>
        </p:txBody>
      </p:sp>
    </p:spTree>
    <p:extLst>
      <p:ext uri="{BB962C8B-B14F-4D97-AF65-F5344CB8AC3E}">
        <p14:creationId xmlns:p14="http://schemas.microsoft.com/office/powerpoint/2010/main" val="825904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B01AE6-E8E1-85B2-DE89-19A7E3AB6DE1}"/>
              </a:ext>
            </a:extLst>
          </p:cNvPr>
          <p:cNvSpPr>
            <a:spLocks noGrp="1"/>
          </p:cNvSpPr>
          <p:nvPr>
            <p:ph type="subTitle" idx="1" hasCustomPrompt="1"/>
          </p:nvPr>
        </p:nvSpPr>
        <p:spPr>
          <a:xfrm>
            <a:off x="1524000" y="2252209"/>
            <a:ext cx="9144000" cy="588963"/>
          </a:xfrm>
        </p:spPr>
        <p:txBody>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Lecture</a:t>
            </a:r>
          </a:p>
          <a:p>
            <a:r>
              <a:rPr lang="en-US" dirty="0"/>
              <a:t> </a:t>
            </a:r>
          </a:p>
        </p:txBody>
      </p:sp>
      <p:sp>
        <p:nvSpPr>
          <p:cNvPr id="8" name="Footer Placeholder 7">
            <a:extLst>
              <a:ext uri="{FF2B5EF4-FFF2-40B4-BE49-F238E27FC236}">
                <a16:creationId xmlns:a16="http://schemas.microsoft.com/office/drawing/2014/main" id="{FEA3DDF7-4F23-7FC1-A6F1-B9ACB64996C4}"/>
              </a:ext>
            </a:extLst>
          </p:cNvPr>
          <p:cNvSpPr>
            <a:spLocks noGrp="1"/>
          </p:cNvSpPr>
          <p:nvPr>
            <p:ph type="ftr" sz="quarter" idx="11"/>
          </p:nvPr>
        </p:nvSpPr>
        <p:spPr/>
        <p:txBody>
          <a:bodyPr/>
          <a:lstStyle>
            <a:lvl1pPr>
              <a:defRPr>
                <a:solidFill>
                  <a:schemeClr val="tx1"/>
                </a:solidFill>
              </a:defRPr>
            </a:lvl1pPr>
          </a:lstStyle>
          <a:p>
            <a:r>
              <a:rPr lang="en-US" dirty="0">
                <a:solidFill>
                  <a:schemeClr val="tx1"/>
                </a:solidFill>
              </a:rPr>
              <a:t>GEOL 599</a:t>
            </a:r>
          </a:p>
        </p:txBody>
      </p:sp>
      <p:sp>
        <p:nvSpPr>
          <p:cNvPr id="9" name="Slide Number Placeholder 8">
            <a:extLst>
              <a:ext uri="{FF2B5EF4-FFF2-40B4-BE49-F238E27FC236}">
                <a16:creationId xmlns:a16="http://schemas.microsoft.com/office/drawing/2014/main" id="{0C1EBF45-1E3C-5639-6B06-6CF54D95E03F}"/>
              </a:ext>
            </a:extLst>
          </p:cNvPr>
          <p:cNvSpPr>
            <a:spLocks noGrp="1"/>
          </p:cNvSpPr>
          <p:nvPr>
            <p:ph type="sldNum" sz="quarter" idx="12"/>
          </p:nvPr>
        </p:nvSpPr>
        <p:spPr/>
        <p:txBody>
          <a:bodyPr/>
          <a:lstStyle>
            <a:lvl1pPr>
              <a:defRPr>
                <a:solidFill>
                  <a:schemeClr val="tx1"/>
                </a:solidFill>
              </a:defRPr>
            </a:lvl1pPr>
          </a:lstStyle>
          <a:p>
            <a:fld id="{10A4AB6E-1AC4-C44F-A0CC-883A0306AF8B}" type="slidenum">
              <a:rPr lang="en-US" smtClean="0"/>
              <a:pPr/>
              <a:t>‹#›</a:t>
            </a:fld>
            <a:endParaRPr lang="en-US" dirty="0"/>
          </a:p>
        </p:txBody>
      </p:sp>
      <p:cxnSp>
        <p:nvCxnSpPr>
          <p:cNvPr id="11" name="Straight Connector 10">
            <a:extLst>
              <a:ext uri="{FF2B5EF4-FFF2-40B4-BE49-F238E27FC236}">
                <a16:creationId xmlns:a16="http://schemas.microsoft.com/office/drawing/2014/main" id="{00DB6341-93E9-1E69-609E-73BBFB4BA579}"/>
              </a:ext>
            </a:extLst>
          </p:cNvPr>
          <p:cNvCxnSpPr>
            <a:cxnSpLocks/>
          </p:cNvCxnSpPr>
          <p:nvPr userDrawn="1"/>
        </p:nvCxnSpPr>
        <p:spPr>
          <a:xfrm>
            <a:off x="990600" y="3058886"/>
            <a:ext cx="10156371" cy="0"/>
          </a:xfrm>
          <a:prstGeom prst="line">
            <a:avLst/>
          </a:prstGeom>
          <a:ln>
            <a:solidFill>
              <a:srgbClr val="73000A"/>
            </a:solidFill>
          </a:ln>
        </p:spPr>
        <p:style>
          <a:lnRef idx="2">
            <a:schemeClr val="accent1"/>
          </a:lnRef>
          <a:fillRef idx="0">
            <a:schemeClr val="accent1"/>
          </a:fillRef>
          <a:effectRef idx="1">
            <a:schemeClr val="accent1"/>
          </a:effectRef>
          <a:fontRef idx="minor">
            <a:schemeClr val="tx1"/>
          </a:fontRef>
        </p:style>
      </p:cxnSp>
      <p:sp>
        <p:nvSpPr>
          <p:cNvPr id="12" name="Subtitle 2">
            <a:extLst>
              <a:ext uri="{FF2B5EF4-FFF2-40B4-BE49-F238E27FC236}">
                <a16:creationId xmlns:a16="http://schemas.microsoft.com/office/drawing/2014/main" id="{522C522C-189E-E345-55A5-F92D4350F77D}"/>
              </a:ext>
            </a:extLst>
          </p:cNvPr>
          <p:cNvSpPr txBox="1">
            <a:spLocks/>
          </p:cNvSpPr>
          <p:nvPr userDrawn="1"/>
        </p:nvSpPr>
        <p:spPr>
          <a:xfrm>
            <a:off x="1518557" y="3276601"/>
            <a:ext cx="9144000" cy="28620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Today’s Objectives</a:t>
            </a: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3800" dirty="0">
              <a:solidFill>
                <a:schemeClr val="tx1"/>
              </a:solidFill>
            </a:endParaRPr>
          </a:p>
        </p:txBody>
      </p:sp>
      <p:sp>
        <p:nvSpPr>
          <p:cNvPr id="13" name="Rectangle 12">
            <a:extLst>
              <a:ext uri="{FF2B5EF4-FFF2-40B4-BE49-F238E27FC236}">
                <a16:creationId xmlns:a16="http://schemas.microsoft.com/office/drawing/2014/main" id="{BFBD97F3-4925-C570-5514-2E8A7F901638}"/>
              </a:ext>
            </a:extLst>
          </p:cNvPr>
          <p:cNvSpPr/>
          <p:nvPr userDrawn="1"/>
        </p:nvSpPr>
        <p:spPr>
          <a:xfrm>
            <a:off x="0" y="0"/>
            <a:ext cx="12192000" cy="1034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E6434-D3C5-35B8-2A5B-12571E53B479}"/>
              </a:ext>
            </a:extLst>
          </p:cNvPr>
          <p:cNvSpPr>
            <a:spLocks noGrp="1"/>
          </p:cNvSpPr>
          <p:nvPr>
            <p:ph type="ctrTitle" hasCustomPrompt="1"/>
          </p:nvPr>
        </p:nvSpPr>
        <p:spPr>
          <a:xfrm>
            <a:off x="-5443" y="-244251"/>
            <a:ext cx="12192000" cy="2387600"/>
          </a:xfrm>
        </p:spPr>
        <p:txBody>
          <a:bodyPr anchor="b"/>
          <a:lstStyle>
            <a:lvl1pPr algn="ctr">
              <a:defRPr sz="4800">
                <a:solidFill>
                  <a:schemeClr val="tx1"/>
                </a:solidFill>
              </a:defRPr>
            </a:lvl1pPr>
          </a:lstStyle>
          <a:p>
            <a:r>
              <a:rPr lang="en-US" dirty="0"/>
              <a:t>GEOL 599</a:t>
            </a:r>
            <a:br>
              <a:rPr lang="en-US" dirty="0"/>
            </a:br>
            <a:r>
              <a:rPr lang="en-US" dirty="0"/>
              <a:t>Applied Machine Learning for Geoscience Data</a:t>
            </a:r>
          </a:p>
        </p:txBody>
      </p:sp>
    </p:spTree>
    <p:extLst>
      <p:ext uri="{BB962C8B-B14F-4D97-AF65-F5344CB8AC3E}">
        <p14:creationId xmlns:p14="http://schemas.microsoft.com/office/powerpoint/2010/main" val="2969113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05B7-09A3-CD35-0F48-F6AC4FE002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8CA42-DE5B-A0F5-7D42-23509A2DDD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DB7EA-5BEF-6A60-8C8C-EE99F86D730B}"/>
              </a:ext>
            </a:extLst>
          </p:cNvPr>
          <p:cNvSpPr>
            <a:spLocks noGrp="1"/>
          </p:cNvSpPr>
          <p:nvPr>
            <p:ph type="dt" sz="half" idx="10"/>
          </p:nvPr>
        </p:nvSpPr>
        <p:spPr>
          <a:xfrm>
            <a:off x="838200" y="6356350"/>
            <a:ext cx="2743200" cy="365125"/>
          </a:xfrm>
          <a:prstGeom prst="rect">
            <a:avLst/>
          </a:prstGeom>
        </p:spPr>
        <p:txBody>
          <a:bodyPr/>
          <a:lstStyle/>
          <a:p>
            <a:fld id="{09418D03-48AA-CB49-A132-AF8A2DA0E64B}" type="datetime1">
              <a:rPr lang="en-US" smtClean="0"/>
              <a:t>9/21/26</a:t>
            </a:fld>
            <a:endParaRPr lang="en-US"/>
          </a:p>
        </p:txBody>
      </p:sp>
      <p:sp>
        <p:nvSpPr>
          <p:cNvPr id="5" name="Footer Placeholder 4">
            <a:extLst>
              <a:ext uri="{FF2B5EF4-FFF2-40B4-BE49-F238E27FC236}">
                <a16:creationId xmlns:a16="http://schemas.microsoft.com/office/drawing/2014/main" id="{DAEF1026-75B7-EFCA-1EB7-A6D8B3B464D5}"/>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FCE2B28F-DC4B-2CAA-D736-7042BDD156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204787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5A5D-6083-49E0-EB07-46E46705D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94158-D0ED-B328-7FB6-8508C50E7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EA2D35-2853-8EB1-AFAE-2A9E5C2B43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F664778-0B2B-73D7-BD5C-AE37BF503074}"/>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77B6A1EE-6D0F-02A2-34F3-06FAF29A1888}"/>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3066510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D206-18F2-9CE1-11FE-5F7FD5C753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1E4094-9CD9-970B-A183-C9901E31D423}"/>
              </a:ext>
            </a:extLst>
          </p:cNvPr>
          <p:cNvSpPr>
            <a:spLocks noGrp="1"/>
          </p:cNvSpPr>
          <p:nvPr>
            <p:ph type="dt" sz="half" idx="10"/>
          </p:nvPr>
        </p:nvSpPr>
        <p:spPr>
          <a:xfrm>
            <a:off x="838200" y="6356350"/>
            <a:ext cx="2743200" cy="365125"/>
          </a:xfrm>
          <a:prstGeom prst="rect">
            <a:avLst/>
          </a:prstGeom>
        </p:spPr>
        <p:txBody>
          <a:bodyPr/>
          <a:lstStyle/>
          <a:p>
            <a:fld id="{22FBD965-6108-7945-883E-024EB22FF9F9}" type="datetime1">
              <a:rPr lang="en-US" smtClean="0"/>
              <a:t>9/21/26</a:t>
            </a:fld>
            <a:endParaRPr lang="en-US"/>
          </a:p>
        </p:txBody>
      </p:sp>
      <p:sp>
        <p:nvSpPr>
          <p:cNvPr id="4" name="Footer Placeholder 3">
            <a:extLst>
              <a:ext uri="{FF2B5EF4-FFF2-40B4-BE49-F238E27FC236}">
                <a16:creationId xmlns:a16="http://schemas.microsoft.com/office/drawing/2014/main" id="{78655C67-D7DD-F09A-B00B-A801CAB65AC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4401E41-A874-FA58-18A5-EA60211D0E7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50219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F5D95-40F0-0635-C904-7E748079148B}"/>
              </a:ext>
            </a:extLst>
          </p:cNvPr>
          <p:cNvSpPr>
            <a:spLocks noGrp="1"/>
          </p:cNvSpPr>
          <p:nvPr>
            <p:ph type="dt" sz="half" idx="10"/>
          </p:nvPr>
        </p:nvSpPr>
        <p:spPr>
          <a:xfrm>
            <a:off x="838200" y="6356350"/>
            <a:ext cx="2743200" cy="365125"/>
          </a:xfrm>
          <a:prstGeom prst="rect">
            <a:avLst/>
          </a:prstGeom>
        </p:spPr>
        <p:txBody>
          <a:bodyPr/>
          <a:lstStyle/>
          <a:p>
            <a:fld id="{0275880B-0B4C-2E4A-B266-E0FE9A68D62F}" type="datetime1">
              <a:rPr lang="en-US" smtClean="0"/>
              <a:t>9/21/26</a:t>
            </a:fld>
            <a:endParaRPr lang="en-US"/>
          </a:p>
        </p:txBody>
      </p:sp>
      <p:sp>
        <p:nvSpPr>
          <p:cNvPr id="3" name="Footer Placeholder 2">
            <a:extLst>
              <a:ext uri="{FF2B5EF4-FFF2-40B4-BE49-F238E27FC236}">
                <a16:creationId xmlns:a16="http://schemas.microsoft.com/office/drawing/2014/main" id="{74DB12B9-C9F2-BACD-A839-913B604B56CD}"/>
              </a:ext>
            </a:extLst>
          </p:cNvPr>
          <p:cNvSpPr>
            <a:spLocks noGrp="1"/>
          </p:cNvSpPr>
          <p:nvPr>
            <p:ph type="ftr" sz="quarter" idx="11"/>
          </p:nvPr>
        </p:nvSpPr>
        <p:spPr/>
        <p:txBody>
          <a:bodyPr/>
          <a:lstStyle/>
          <a:p>
            <a:r>
              <a:rPr lang="en-US"/>
              <a:t>GEOL 599</a:t>
            </a:r>
          </a:p>
        </p:txBody>
      </p:sp>
      <p:sp>
        <p:nvSpPr>
          <p:cNvPr id="4" name="Slide Number Placeholder 3">
            <a:extLst>
              <a:ext uri="{FF2B5EF4-FFF2-40B4-BE49-F238E27FC236}">
                <a16:creationId xmlns:a16="http://schemas.microsoft.com/office/drawing/2014/main" id="{84A29665-3410-49BB-1D7A-41AF6002487A}"/>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92484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3C0E-7FC5-B6FD-1C83-A481576B9B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A655D9-2AF1-203E-B440-CA1770A50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0E54E5-7F53-5749-117E-C89326971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A3D668-5A6A-2815-6A54-44B974F023FF}"/>
              </a:ext>
            </a:extLst>
          </p:cNvPr>
          <p:cNvSpPr>
            <a:spLocks noGrp="1"/>
          </p:cNvSpPr>
          <p:nvPr>
            <p:ph type="dt" sz="half" idx="10"/>
          </p:nvPr>
        </p:nvSpPr>
        <p:spPr>
          <a:xfrm>
            <a:off x="838200" y="6356350"/>
            <a:ext cx="2743200" cy="365125"/>
          </a:xfrm>
          <a:prstGeom prst="rect">
            <a:avLst/>
          </a:prstGeom>
        </p:spPr>
        <p:txBody>
          <a:bodyPr/>
          <a:lstStyle/>
          <a:p>
            <a:fld id="{12EC2D56-32BF-9F41-918E-49D0AA578943}" type="datetime1">
              <a:rPr lang="en-US" smtClean="0"/>
              <a:t>9/21/26</a:t>
            </a:fld>
            <a:endParaRPr lang="en-US"/>
          </a:p>
        </p:txBody>
      </p:sp>
      <p:sp>
        <p:nvSpPr>
          <p:cNvPr id="6" name="Footer Placeholder 5">
            <a:extLst>
              <a:ext uri="{FF2B5EF4-FFF2-40B4-BE49-F238E27FC236}">
                <a16:creationId xmlns:a16="http://schemas.microsoft.com/office/drawing/2014/main" id="{8053E52E-D8F4-5313-1B36-986748552080}"/>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2BC80849-1A56-0383-E5C4-97DDE048872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85741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B588-3C09-D5CF-2676-6FC7737E3C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D266BE-5A12-67D9-057B-1BBF237367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61E22-66C9-B589-0129-498B002A0EC5}"/>
              </a:ext>
            </a:extLst>
          </p:cNvPr>
          <p:cNvSpPr>
            <a:spLocks noGrp="1"/>
          </p:cNvSpPr>
          <p:nvPr>
            <p:ph type="dt" sz="half" idx="10"/>
          </p:nvPr>
        </p:nvSpPr>
        <p:spPr>
          <a:xfrm>
            <a:off x="838200" y="6356350"/>
            <a:ext cx="2743200" cy="365125"/>
          </a:xfrm>
          <a:prstGeom prst="rect">
            <a:avLst/>
          </a:prstGeom>
        </p:spPr>
        <p:txBody>
          <a:bodyPr/>
          <a:lstStyle/>
          <a:p>
            <a:fld id="{59722F35-E892-0345-AB79-C0946392D699}" type="datetime1">
              <a:rPr lang="en-US" smtClean="0"/>
              <a:t>9/21/26</a:t>
            </a:fld>
            <a:endParaRPr lang="en-US"/>
          </a:p>
        </p:txBody>
      </p:sp>
      <p:sp>
        <p:nvSpPr>
          <p:cNvPr id="5" name="Footer Placeholder 4">
            <a:extLst>
              <a:ext uri="{FF2B5EF4-FFF2-40B4-BE49-F238E27FC236}">
                <a16:creationId xmlns:a16="http://schemas.microsoft.com/office/drawing/2014/main" id="{67AE1508-762A-D53F-C7EC-9D9BF416BA06}"/>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3410CDCB-37FC-4C2D-A3D2-0DD3FFECEA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32305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F802EE-C334-A1A8-98B8-350093E9A97B}"/>
              </a:ext>
            </a:extLst>
          </p:cNvPr>
          <p:cNvSpPr/>
          <p:nvPr userDrawn="1"/>
        </p:nvSpPr>
        <p:spPr>
          <a:xfrm>
            <a:off x="0" y="0"/>
            <a:ext cx="12192000" cy="1001486"/>
          </a:xfrm>
          <a:prstGeom prst="rect">
            <a:avLst/>
          </a:prstGeom>
          <a:solidFill>
            <a:srgbClr val="7300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DE59E362-3E7B-106E-C26F-017E025D026C}"/>
              </a:ext>
            </a:extLst>
          </p:cNvPr>
          <p:cNvSpPr>
            <a:spLocks noGrp="1"/>
          </p:cNvSpPr>
          <p:nvPr>
            <p:ph type="title"/>
          </p:nvPr>
        </p:nvSpPr>
        <p:spPr>
          <a:xfrm>
            <a:off x="838200" y="223611"/>
            <a:ext cx="10515600" cy="6878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DB616FF-4C58-32D3-4174-A5F9887DA9DC}"/>
              </a:ext>
            </a:extLst>
          </p:cNvPr>
          <p:cNvSpPr>
            <a:spLocks noGrp="1"/>
          </p:cNvSpPr>
          <p:nvPr>
            <p:ph type="body" idx="1"/>
          </p:nvPr>
        </p:nvSpPr>
        <p:spPr>
          <a:xfrm>
            <a:off x="838200" y="1135094"/>
            <a:ext cx="10515600" cy="50114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A32BC8C-1205-6412-7DF1-F9370BF63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solidFill>
                  <a:schemeClr val="tx1"/>
                </a:solidFill>
              </a:rPr>
              <a:t>GEOL 599</a:t>
            </a:r>
          </a:p>
        </p:txBody>
      </p:sp>
      <p:sp>
        <p:nvSpPr>
          <p:cNvPr id="6" name="Slide Number Placeholder 5">
            <a:extLst>
              <a:ext uri="{FF2B5EF4-FFF2-40B4-BE49-F238E27FC236}">
                <a16:creationId xmlns:a16="http://schemas.microsoft.com/office/drawing/2014/main" id="{DADF6326-AC4E-DA41-3F99-70C0F11188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10A4AB6E-1AC4-C44F-A0CC-883A0306AF8B}" type="slidenum">
              <a:rPr lang="en-US" smtClean="0"/>
              <a:pPr/>
              <a:t>‹#›</a:t>
            </a:fld>
            <a:endParaRPr lang="en-US" dirty="0">
              <a:solidFill>
                <a:schemeClr val="tx1"/>
              </a:solidFill>
            </a:endParaRPr>
          </a:p>
        </p:txBody>
      </p:sp>
      <p:pic>
        <p:nvPicPr>
          <p:cNvPr id="8" name="Graphic 7">
            <a:extLst>
              <a:ext uri="{FF2B5EF4-FFF2-40B4-BE49-F238E27FC236}">
                <a16:creationId xmlns:a16="http://schemas.microsoft.com/office/drawing/2014/main" id="{896C53DE-F0FB-6345-E263-C4CF733709AE}"/>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922" y="6036159"/>
            <a:ext cx="3159579" cy="913432"/>
          </a:xfrm>
          <a:prstGeom prst="rect">
            <a:avLst/>
          </a:prstGeom>
        </p:spPr>
      </p:pic>
    </p:spTree>
    <p:extLst>
      <p:ext uri="{BB962C8B-B14F-4D97-AF65-F5344CB8AC3E}">
        <p14:creationId xmlns:p14="http://schemas.microsoft.com/office/powerpoint/2010/main" val="404149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7" r:id="rId6"/>
    <p:sldLayoutId id="2147483658" r:id="rId7"/>
  </p:sldLayoutIdLst>
  <p:hf hd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D74B-1267-62B5-F4B9-8B9EE90CEDDD}"/>
              </a:ext>
            </a:extLst>
          </p:cNvPr>
          <p:cNvSpPr>
            <a:spLocks noGrp="1"/>
          </p:cNvSpPr>
          <p:nvPr>
            <p:ph type="ctrTitle"/>
          </p:nvPr>
        </p:nvSpPr>
        <p:spPr/>
        <p:txBody>
          <a:bodyPr/>
          <a:lstStyle/>
          <a:p>
            <a:r>
              <a:rPr lang="en-US" dirty="0"/>
              <a:t>GEOL 599</a:t>
            </a:r>
            <a:br>
              <a:rPr lang="en-US" dirty="0"/>
            </a:br>
            <a:r>
              <a:rPr lang="en-US" dirty="0"/>
              <a:t>Applied Machine Learning for Geoscience Data</a:t>
            </a:r>
          </a:p>
        </p:txBody>
      </p:sp>
      <p:sp>
        <p:nvSpPr>
          <p:cNvPr id="3" name="Subtitle 2">
            <a:extLst>
              <a:ext uri="{FF2B5EF4-FFF2-40B4-BE49-F238E27FC236}">
                <a16:creationId xmlns:a16="http://schemas.microsoft.com/office/drawing/2014/main" id="{D9FB06DC-E070-314E-1C1A-F8B257144CDD}"/>
              </a:ext>
            </a:extLst>
          </p:cNvPr>
          <p:cNvSpPr>
            <a:spLocks noGrp="1"/>
          </p:cNvSpPr>
          <p:nvPr>
            <p:ph type="subTitle" idx="1"/>
          </p:nvPr>
        </p:nvSpPr>
        <p:spPr/>
        <p:txBody>
          <a:bodyPr/>
          <a:lstStyle/>
          <a:p>
            <a:r>
              <a:rPr lang="en-US" dirty="0"/>
              <a:t>Lecture 9</a:t>
            </a:r>
          </a:p>
        </p:txBody>
      </p:sp>
      <p:sp>
        <p:nvSpPr>
          <p:cNvPr id="10" name="TextBox 9">
            <a:extLst>
              <a:ext uri="{FF2B5EF4-FFF2-40B4-BE49-F238E27FC236}">
                <a16:creationId xmlns:a16="http://schemas.microsoft.com/office/drawing/2014/main" id="{F1FCA0F4-200B-9DEE-1D44-C6B1B4432703}"/>
              </a:ext>
              <a:ext uri="{C183D7F6-B498-43B3-948B-1728B52AA6E4}">
                <adec:decorative xmlns:adec="http://schemas.microsoft.com/office/drawing/2017/decorative" val="0"/>
              </a:ext>
            </a:extLst>
          </p:cNvPr>
          <p:cNvSpPr txBox="1"/>
          <p:nvPr/>
        </p:nvSpPr>
        <p:spPr>
          <a:xfrm>
            <a:off x="949124" y="3703898"/>
            <a:ext cx="10232020" cy="1200329"/>
          </a:xfrm>
          <a:prstGeom prst="rect">
            <a:avLst/>
          </a:prstGeom>
          <a:noFill/>
        </p:spPr>
        <p:txBody>
          <a:bodyPr wrap="square" rtlCol="0">
            <a:spAutoFit/>
          </a:bodyPr>
          <a:lstStyle/>
          <a:p>
            <a:pPr marL="342900" indent="-342900">
              <a:buFont typeface="+mj-lt"/>
              <a:buAutoNum type="arabicPeriod"/>
            </a:pPr>
            <a:r>
              <a:rPr lang="en-US" sz="2400" dirty="0"/>
              <a:t>Decision Trees</a:t>
            </a:r>
          </a:p>
          <a:p>
            <a:pPr marL="342900" indent="-342900">
              <a:buFont typeface="+mj-lt"/>
              <a:buAutoNum type="arabicPeriod"/>
            </a:pPr>
            <a:r>
              <a:rPr lang="en-US" sz="2400" dirty="0"/>
              <a:t>Bagging and Random Forest </a:t>
            </a:r>
          </a:p>
          <a:p>
            <a:pPr marL="342900" indent="-342900">
              <a:buFont typeface="+mj-lt"/>
              <a:buAutoNum type="arabicPeriod"/>
            </a:pPr>
            <a:r>
              <a:rPr lang="en-US" sz="2400" dirty="0"/>
              <a:t>Boosting Methods</a:t>
            </a:r>
          </a:p>
        </p:txBody>
      </p:sp>
      <p:sp>
        <p:nvSpPr>
          <p:cNvPr id="4" name="Footer Placeholder 3">
            <a:extLst>
              <a:ext uri="{FF2B5EF4-FFF2-40B4-BE49-F238E27FC236}">
                <a16:creationId xmlns:a16="http://schemas.microsoft.com/office/drawing/2014/main" id="{496939D3-C906-D27A-E627-E49703BA5AE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solidFill>
                  <a:schemeClr val="tx1"/>
                </a:solidFill>
              </a:rPr>
              <a:t>GEOL 599</a:t>
            </a:r>
            <a:endParaRPr lang="en-US" dirty="0">
              <a:solidFill>
                <a:schemeClr val="tx1"/>
              </a:solidFill>
            </a:endParaRPr>
          </a:p>
        </p:txBody>
      </p:sp>
      <p:sp>
        <p:nvSpPr>
          <p:cNvPr id="5" name="Slide Number Placeholder 4">
            <a:extLst>
              <a:ext uri="{FF2B5EF4-FFF2-40B4-BE49-F238E27FC236}">
                <a16:creationId xmlns:a16="http://schemas.microsoft.com/office/drawing/2014/main" id="{BE1ED953-1DCE-B252-D7D6-5DDFEE91540D}"/>
              </a:ext>
              <a:ext uri="{C183D7F6-B498-43B3-948B-1728B52AA6E4}">
                <adec:decorative xmlns:adec="http://schemas.microsoft.com/office/drawing/2017/decorative" val="1"/>
              </a:ext>
            </a:extLst>
          </p:cNvPr>
          <p:cNvSpPr>
            <a:spLocks noGrp="1"/>
          </p:cNvSpPr>
          <p:nvPr>
            <p:ph type="sldNum" sz="quarter" idx="12"/>
          </p:nvPr>
        </p:nvSpPr>
        <p:spPr/>
        <p:txBody>
          <a:bodyPr/>
          <a:lstStyle/>
          <a:p>
            <a:fld id="{10A4AB6E-1AC4-C44F-A0CC-883A0306AF8B}" type="slidenum">
              <a:rPr lang="en-US" smtClean="0"/>
              <a:pPr/>
              <a:t>1</a:t>
            </a:fld>
            <a:endParaRPr lang="en-US" dirty="0"/>
          </a:p>
        </p:txBody>
      </p:sp>
    </p:spTree>
    <p:extLst>
      <p:ext uri="{BB962C8B-B14F-4D97-AF65-F5344CB8AC3E}">
        <p14:creationId xmlns:p14="http://schemas.microsoft.com/office/powerpoint/2010/main" val="3198711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D6040-0742-E0D1-9D9C-9724795C7D0A}"/>
              </a:ext>
            </a:extLst>
          </p:cNvPr>
          <p:cNvSpPr>
            <a:spLocks noGrp="1"/>
          </p:cNvSpPr>
          <p:nvPr>
            <p:ph type="title"/>
          </p:nvPr>
        </p:nvSpPr>
        <p:spPr/>
        <p:txBody>
          <a:bodyPr>
            <a:normAutofit fontScale="90000"/>
          </a:bodyPr>
          <a:lstStyle/>
          <a:p>
            <a:r>
              <a:rPr lang="en-US" dirty="0"/>
              <a:t>Decision Trees</a:t>
            </a:r>
          </a:p>
        </p:txBody>
      </p:sp>
      <p:pic>
        <p:nvPicPr>
          <p:cNvPr id="7" name="Content Placeholder 6">
            <a:extLst>
              <a:ext uri="{FF2B5EF4-FFF2-40B4-BE49-F238E27FC236}">
                <a16:creationId xmlns:a16="http://schemas.microsoft.com/office/drawing/2014/main" id="{79600F26-387E-F5E6-2B7A-CB80CAE7D9FB}"/>
              </a:ext>
              <a:ext uri="{C183D7F6-B498-43B3-948B-1728B52AA6E4}">
                <adec:decorative xmlns:adec="http://schemas.microsoft.com/office/drawing/2017/decorative" val="1"/>
              </a:ext>
            </a:extLst>
          </p:cNvPr>
          <p:cNvPicPr>
            <a:picLocks noGrp="1" noChangeAspect="1"/>
          </p:cNvPicPr>
          <p:nvPr>
            <p:ph idx="1"/>
          </p:nvPr>
        </p:nvPicPr>
        <p:blipFill>
          <a:blip r:embed="rId3"/>
          <a:stretch>
            <a:fillRect/>
          </a:stretch>
        </p:blipFill>
        <p:spPr>
          <a:xfrm>
            <a:off x="7772400" y="3280385"/>
            <a:ext cx="4114800" cy="3075965"/>
          </a:xfrm>
          <a:prstGeom prst="rect">
            <a:avLst/>
          </a:prstGeom>
        </p:spPr>
      </p:pic>
      <p:sp>
        <p:nvSpPr>
          <p:cNvPr id="4" name="Footer Placeholder 3">
            <a:extLst>
              <a:ext uri="{FF2B5EF4-FFF2-40B4-BE49-F238E27FC236}">
                <a16:creationId xmlns:a16="http://schemas.microsoft.com/office/drawing/2014/main" id="{A1DAC87F-B308-B7C1-8FF7-76D4A9DC9EE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D0233A48-7AF7-0802-2DCC-3650A6B6D529}"/>
              </a:ext>
            </a:extLst>
          </p:cNvPr>
          <p:cNvSpPr>
            <a:spLocks noGrp="1"/>
          </p:cNvSpPr>
          <p:nvPr>
            <p:ph type="sldNum" sz="quarter" idx="12"/>
          </p:nvPr>
        </p:nvSpPr>
        <p:spPr/>
        <p:txBody>
          <a:bodyPr/>
          <a:lstStyle/>
          <a:p>
            <a:fld id="{10A4AB6E-1AC4-C44F-A0CC-883A0306AF8B}" type="slidenum">
              <a:rPr lang="en-US" smtClean="0"/>
              <a:t>2</a:t>
            </a:fld>
            <a:endParaRPr lang="en-US"/>
          </a:p>
        </p:txBody>
      </p:sp>
      <p:pic>
        <p:nvPicPr>
          <p:cNvPr id="9" name="Picture 8" descr="A decision-tree diagram classifies a guest’s meal preference using sequential yes-or-no questions. Blue-outlined nodes show root question “Did the guest eat chicken?”, followed by “Did the guest eat mutton?” and “Did the guest eat sea-food?”, with branches ending in Non-Veg or Veg leaf labels.&#10;&#10;">
            <a:extLst>
              <a:ext uri="{FF2B5EF4-FFF2-40B4-BE49-F238E27FC236}">
                <a16:creationId xmlns:a16="http://schemas.microsoft.com/office/drawing/2014/main" id="{D85A2CFB-AD47-F2A6-D98B-749B782B6802}"/>
              </a:ext>
            </a:extLst>
          </p:cNvPr>
          <p:cNvPicPr>
            <a:picLocks noChangeAspect="1"/>
          </p:cNvPicPr>
          <p:nvPr/>
        </p:nvPicPr>
        <p:blipFill>
          <a:blip r:embed="rId4"/>
          <a:stretch>
            <a:fillRect/>
          </a:stretch>
        </p:blipFill>
        <p:spPr>
          <a:xfrm>
            <a:off x="0" y="1263511"/>
            <a:ext cx="7772400" cy="4330978"/>
          </a:xfrm>
          <a:prstGeom prst="rect">
            <a:avLst/>
          </a:prstGeom>
        </p:spPr>
      </p:pic>
      <p:sp>
        <p:nvSpPr>
          <p:cNvPr id="3" name="Rectangle 2">
            <a:extLst>
              <a:ext uri="{FF2B5EF4-FFF2-40B4-BE49-F238E27FC236}">
                <a16:creationId xmlns:a16="http://schemas.microsoft.com/office/drawing/2014/main" id="{453738C7-0272-34DA-B035-2959B0C40997}"/>
              </a:ext>
              <a:ext uri="{C183D7F6-B498-43B3-948B-1728B52AA6E4}">
                <adec:decorative xmlns:adec="http://schemas.microsoft.com/office/drawing/2017/decorative" val="1"/>
              </a:ext>
            </a:extLst>
          </p:cNvPr>
          <p:cNvSpPr/>
          <p:nvPr/>
        </p:nvSpPr>
        <p:spPr>
          <a:xfrm>
            <a:off x="62653" y="5005493"/>
            <a:ext cx="1551094" cy="5280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0956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C1D3D-CAAD-6739-D854-400D98B915B8}"/>
              </a:ext>
            </a:extLst>
          </p:cNvPr>
          <p:cNvSpPr>
            <a:spLocks noGrp="1"/>
          </p:cNvSpPr>
          <p:nvPr>
            <p:ph type="title"/>
          </p:nvPr>
        </p:nvSpPr>
        <p:spPr/>
        <p:txBody>
          <a:bodyPr>
            <a:normAutofit fontScale="90000"/>
          </a:bodyPr>
          <a:lstStyle/>
          <a:p>
            <a:r>
              <a:rPr lang="en-US" dirty="0"/>
              <a:t>How to Create a Decision Tree</a:t>
            </a:r>
          </a:p>
        </p:txBody>
      </p:sp>
      <p:sp>
        <p:nvSpPr>
          <p:cNvPr id="3" name="Content Placeholder 2">
            <a:extLst>
              <a:ext uri="{FF2B5EF4-FFF2-40B4-BE49-F238E27FC236}">
                <a16:creationId xmlns:a16="http://schemas.microsoft.com/office/drawing/2014/main" id="{2E48E640-6601-C69A-CF1D-42204D2CD37B}"/>
              </a:ext>
            </a:extLst>
          </p:cNvPr>
          <p:cNvSpPr>
            <a:spLocks noGrp="1"/>
          </p:cNvSpPr>
          <p:nvPr>
            <p:ph idx="1"/>
          </p:nvPr>
        </p:nvSpPr>
        <p:spPr/>
        <p:txBody>
          <a:bodyPr/>
          <a:lstStyle/>
          <a:p>
            <a:r>
              <a:rPr lang="en-US" dirty="0"/>
              <a:t>We first make a list of attributes that we can measure</a:t>
            </a:r>
          </a:p>
          <a:p>
            <a:r>
              <a:rPr lang="en-US" dirty="0"/>
              <a:t>We then choose a </a:t>
            </a:r>
            <a:r>
              <a:rPr lang="en-US" i="1" dirty="0"/>
              <a:t>target attribute </a:t>
            </a:r>
            <a:r>
              <a:rPr lang="en-US" dirty="0"/>
              <a:t>that we want to predict</a:t>
            </a:r>
          </a:p>
          <a:p>
            <a:r>
              <a:rPr lang="en-US" dirty="0"/>
              <a:t>Then create an </a:t>
            </a:r>
            <a:r>
              <a:rPr lang="en-US" i="1" dirty="0"/>
              <a:t>experience table </a:t>
            </a:r>
            <a:r>
              <a:rPr lang="en-US" dirty="0"/>
              <a:t>that lists what we have seen in the past</a:t>
            </a:r>
          </a:p>
          <a:p>
            <a:endParaRPr lang="en-US" dirty="0"/>
          </a:p>
          <a:p>
            <a:endParaRPr lang="en-US" dirty="0"/>
          </a:p>
        </p:txBody>
      </p:sp>
      <p:sp>
        <p:nvSpPr>
          <p:cNvPr id="4" name="Footer Placeholder 3">
            <a:extLst>
              <a:ext uri="{FF2B5EF4-FFF2-40B4-BE49-F238E27FC236}">
                <a16:creationId xmlns:a16="http://schemas.microsoft.com/office/drawing/2014/main" id="{77E4B609-D869-ADFF-3226-1BD3ABDDFBD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939ECF1B-19D0-055D-EC18-C6F0F8122F79}"/>
              </a:ext>
            </a:extLst>
          </p:cNvPr>
          <p:cNvSpPr>
            <a:spLocks noGrp="1"/>
          </p:cNvSpPr>
          <p:nvPr>
            <p:ph type="sldNum" sz="quarter" idx="12"/>
          </p:nvPr>
        </p:nvSpPr>
        <p:spPr/>
        <p:txBody>
          <a:bodyPr/>
          <a:lstStyle/>
          <a:p>
            <a:fld id="{10A4AB6E-1AC4-C44F-A0CC-883A0306AF8B}" type="slidenum">
              <a:rPr lang="en-US" smtClean="0"/>
              <a:t>3</a:t>
            </a:fld>
            <a:endParaRPr lang="en-US"/>
          </a:p>
        </p:txBody>
      </p:sp>
      <p:graphicFrame>
        <p:nvGraphicFramePr>
          <p:cNvPr id="7" name="Table 6">
            <a:extLst>
              <a:ext uri="{FF2B5EF4-FFF2-40B4-BE49-F238E27FC236}">
                <a16:creationId xmlns:a16="http://schemas.microsoft.com/office/drawing/2014/main" id="{D055E9A8-6E9D-44EE-7BBC-C68C426CA6BE}"/>
              </a:ext>
            </a:extLst>
          </p:cNvPr>
          <p:cNvGraphicFramePr>
            <a:graphicFrameLocks noGrp="1"/>
          </p:cNvGraphicFramePr>
          <p:nvPr>
            <p:extLst>
              <p:ext uri="{D42A27DB-BD31-4B8C-83A1-F6EECF244321}">
                <p14:modId xmlns:p14="http://schemas.microsoft.com/office/powerpoint/2010/main" val="2533369659"/>
              </p:ext>
            </p:extLst>
          </p:nvPr>
        </p:nvGraphicFramePr>
        <p:xfrm>
          <a:off x="2032000" y="3429000"/>
          <a:ext cx="8128000" cy="222504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219223679"/>
                    </a:ext>
                  </a:extLst>
                </a:gridCol>
                <a:gridCol w="1625600">
                  <a:extLst>
                    <a:ext uri="{9D8B030D-6E8A-4147-A177-3AD203B41FA5}">
                      <a16:colId xmlns:a16="http://schemas.microsoft.com/office/drawing/2014/main" val="766992830"/>
                    </a:ext>
                  </a:extLst>
                </a:gridCol>
                <a:gridCol w="1625600">
                  <a:extLst>
                    <a:ext uri="{9D8B030D-6E8A-4147-A177-3AD203B41FA5}">
                      <a16:colId xmlns:a16="http://schemas.microsoft.com/office/drawing/2014/main" val="4236843891"/>
                    </a:ext>
                  </a:extLst>
                </a:gridCol>
                <a:gridCol w="1625600">
                  <a:extLst>
                    <a:ext uri="{9D8B030D-6E8A-4147-A177-3AD203B41FA5}">
                      <a16:colId xmlns:a16="http://schemas.microsoft.com/office/drawing/2014/main" val="2889324754"/>
                    </a:ext>
                  </a:extLst>
                </a:gridCol>
                <a:gridCol w="1625600">
                  <a:extLst>
                    <a:ext uri="{9D8B030D-6E8A-4147-A177-3AD203B41FA5}">
                      <a16:colId xmlns:a16="http://schemas.microsoft.com/office/drawing/2014/main" val="3288351494"/>
                    </a:ext>
                  </a:extLst>
                </a:gridCol>
              </a:tblGrid>
              <a:tr h="370840">
                <a:tc>
                  <a:txBody>
                    <a:bodyPr/>
                    <a:lstStyle/>
                    <a:p>
                      <a:r>
                        <a:rPr lang="en-US" dirty="0"/>
                        <a:t>Guest</a:t>
                      </a:r>
                    </a:p>
                  </a:txBody>
                  <a:tcPr/>
                </a:tc>
                <a:tc>
                  <a:txBody>
                    <a:bodyPr/>
                    <a:lstStyle/>
                    <a:p>
                      <a:r>
                        <a:rPr lang="en-US" dirty="0"/>
                        <a:t>Chicken</a:t>
                      </a:r>
                    </a:p>
                  </a:txBody>
                  <a:tcPr/>
                </a:tc>
                <a:tc>
                  <a:txBody>
                    <a:bodyPr/>
                    <a:lstStyle/>
                    <a:p>
                      <a:r>
                        <a:rPr lang="en-US" dirty="0"/>
                        <a:t>Mutton</a:t>
                      </a:r>
                    </a:p>
                  </a:txBody>
                  <a:tcPr/>
                </a:tc>
                <a:tc>
                  <a:txBody>
                    <a:bodyPr/>
                    <a:lstStyle/>
                    <a:p>
                      <a:r>
                        <a:rPr lang="en-US" dirty="0"/>
                        <a:t>Sea food</a:t>
                      </a:r>
                    </a:p>
                  </a:txBody>
                  <a:tcPr/>
                </a:tc>
                <a:tc>
                  <a:txBody>
                    <a:bodyPr/>
                    <a:lstStyle/>
                    <a:p>
                      <a:r>
                        <a:rPr lang="en-US" dirty="0"/>
                        <a:t>Vegetarian</a:t>
                      </a:r>
                    </a:p>
                  </a:txBody>
                  <a:tcPr/>
                </a:tc>
                <a:extLst>
                  <a:ext uri="{0D108BD9-81ED-4DB2-BD59-A6C34878D82A}">
                    <a16:rowId xmlns:a16="http://schemas.microsoft.com/office/drawing/2014/main" val="3719939119"/>
                  </a:ext>
                </a:extLst>
              </a:tr>
              <a:tr h="370840">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866813152"/>
                  </a:ext>
                </a:extLst>
              </a:tr>
              <a:tr h="370840">
                <a:tc>
                  <a:txBody>
                    <a:bodyPr/>
                    <a:lstStyle/>
                    <a:p>
                      <a:r>
                        <a:rPr lang="en-US" dirty="0"/>
                        <a:t>2</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2094889070"/>
                  </a:ext>
                </a:extLst>
              </a:tr>
              <a:tr h="370840">
                <a:tc>
                  <a:txBody>
                    <a:bodyPr/>
                    <a:lstStyle/>
                    <a:p>
                      <a:r>
                        <a:rPr lang="en-US" dirty="0"/>
                        <a:t>3</a:t>
                      </a:r>
                    </a:p>
                  </a:txBody>
                  <a:tcPr/>
                </a:tc>
                <a:tc>
                  <a:txBody>
                    <a:bodyPr/>
                    <a:lstStyle/>
                    <a:p>
                      <a:r>
                        <a:rPr lang="en-US" dirty="0"/>
                        <a:t>0</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249434013"/>
                  </a:ext>
                </a:extLst>
              </a:tr>
              <a:tr h="370840">
                <a:tc>
                  <a:txBody>
                    <a:bodyPr/>
                    <a:lstStyle/>
                    <a:p>
                      <a:r>
                        <a:rPr lang="en-US" dirty="0"/>
                        <a:t>4</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2474123114"/>
                  </a:ext>
                </a:extLst>
              </a:tr>
              <a:tr h="370840">
                <a:tc>
                  <a:txBody>
                    <a:bodyPr/>
                    <a:lstStyle/>
                    <a:p>
                      <a:r>
                        <a:rPr lang="en-US" dirty="0"/>
                        <a:t>5</a:t>
                      </a:r>
                    </a:p>
                  </a:txBody>
                  <a:tcPr/>
                </a:tc>
                <a:tc>
                  <a:txBody>
                    <a:bodyPr/>
                    <a:lstStyle/>
                    <a:p>
                      <a:r>
                        <a:rPr lang="en-US" dirty="0"/>
                        <a:t>0</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4015747754"/>
                  </a:ext>
                </a:extLst>
              </a:tr>
            </a:tbl>
          </a:graphicData>
        </a:graphic>
      </p:graphicFrame>
    </p:spTree>
    <p:extLst>
      <p:ext uri="{BB962C8B-B14F-4D97-AF65-F5344CB8AC3E}">
        <p14:creationId xmlns:p14="http://schemas.microsoft.com/office/powerpoint/2010/main" val="3251700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CA30-5635-3A29-9B92-B09A495D2A81}"/>
              </a:ext>
            </a:extLst>
          </p:cNvPr>
          <p:cNvSpPr>
            <a:spLocks noGrp="1"/>
          </p:cNvSpPr>
          <p:nvPr>
            <p:ph type="title"/>
          </p:nvPr>
        </p:nvSpPr>
        <p:spPr/>
        <p:txBody>
          <a:bodyPr>
            <a:normAutofit fontScale="90000"/>
          </a:bodyPr>
          <a:lstStyle/>
          <a:p>
            <a:r>
              <a:rPr lang="en-US" dirty="0"/>
              <a:t>Decision Tree Algorithms</a:t>
            </a:r>
          </a:p>
        </p:txBody>
      </p:sp>
      <p:sp>
        <p:nvSpPr>
          <p:cNvPr id="3" name="Content Placeholder 2">
            <a:extLst>
              <a:ext uri="{FF2B5EF4-FFF2-40B4-BE49-F238E27FC236}">
                <a16:creationId xmlns:a16="http://schemas.microsoft.com/office/drawing/2014/main" id="{D58FFCCB-187B-E488-472E-78CC388CF4D2}"/>
              </a:ext>
            </a:extLst>
          </p:cNvPr>
          <p:cNvSpPr>
            <a:spLocks noGrp="1"/>
          </p:cNvSpPr>
          <p:nvPr>
            <p:ph idx="1"/>
          </p:nvPr>
        </p:nvSpPr>
        <p:spPr/>
        <p:txBody>
          <a:bodyPr/>
          <a:lstStyle/>
          <a:p>
            <a:r>
              <a:rPr lang="en-US" dirty="0"/>
              <a:t>The basic idea behind any decision tree algorithm is as follows:</a:t>
            </a:r>
          </a:p>
          <a:p>
            <a:pPr lvl="1"/>
            <a:r>
              <a:rPr lang="en-US" dirty="0"/>
              <a:t>Choose the </a:t>
            </a:r>
            <a:r>
              <a:rPr lang="en-US" i="1" dirty="0"/>
              <a:t>best </a:t>
            </a:r>
            <a:r>
              <a:rPr lang="en-US" dirty="0"/>
              <a:t>attribute(s) to split the remaining instances and make that attribute a decision node</a:t>
            </a:r>
          </a:p>
          <a:p>
            <a:pPr lvl="1"/>
            <a:r>
              <a:rPr lang="en-US" dirty="0"/>
              <a:t>Repeat this process recursively for each child</a:t>
            </a:r>
          </a:p>
          <a:p>
            <a:pPr lvl="1"/>
            <a:r>
              <a:rPr lang="en-US" dirty="0"/>
              <a:t>Stop when:</a:t>
            </a:r>
          </a:p>
          <a:p>
            <a:pPr lvl="2"/>
            <a:r>
              <a:rPr lang="en-US" dirty="0"/>
              <a:t>All the instances have the same target attribute value</a:t>
            </a:r>
          </a:p>
          <a:p>
            <a:pPr lvl="2"/>
            <a:r>
              <a:rPr lang="en-US" dirty="0"/>
              <a:t>There are no more attributes</a:t>
            </a:r>
          </a:p>
          <a:p>
            <a:pPr lvl="2"/>
            <a:r>
              <a:rPr lang="en-US" dirty="0"/>
              <a:t>There are no more instances</a:t>
            </a:r>
          </a:p>
          <a:p>
            <a:pPr lvl="1"/>
            <a:r>
              <a:rPr lang="en-US" dirty="0"/>
              <a:t>How do we know which one to split at first?</a:t>
            </a:r>
          </a:p>
          <a:p>
            <a:endParaRPr lang="en-US" dirty="0"/>
          </a:p>
        </p:txBody>
      </p:sp>
      <p:sp>
        <p:nvSpPr>
          <p:cNvPr id="4" name="Footer Placeholder 3">
            <a:extLst>
              <a:ext uri="{FF2B5EF4-FFF2-40B4-BE49-F238E27FC236}">
                <a16:creationId xmlns:a16="http://schemas.microsoft.com/office/drawing/2014/main" id="{579ADCC7-B458-95B7-EADD-7442B0DAF3F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DD276FB-ECCE-3BBE-FE5E-5578E2B7F8DF}"/>
              </a:ext>
            </a:extLst>
          </p:cNvPr>
          <p:cNvSpPr>
            <a:spLocks noGrp="1"/>
          </p:cNvSpPr>
          <p:nvPr>
            <p:ph type="sldNum" sz="quarter" idx="12"/>
          </p:nvPr>
        </p:nvSpPr>
        <p:spPr/>
        <p:txBody>
          <a:bodyPr/>
          <a:lstStyle/>
          <a:p>
            <a:fld id="{10A4AB6E-1AC4-C44F-A0CC-883A0306AF8B}" type="slidenum">
              <a:rPr lang="en-US" smtClean="0"/>
              <a:t>4</a:t>
            </a:fld>
            <a:endParaRPr lang="en-US"/>
          </a:p>
        </p:txBody>
      </p:sp>
      <p:pic>
        <p:nvPicPr>
          <p:cNvPr id="6" name="Picture 5" descr="A decision-tree diagram classifies a guest’s meal preference using sequential yes-or-no questions. Blue-outlined nodes show root question “Did the guest eat chicken?”, followed by “Did the guest eat mutton?” and “Did the guest eat sea-food?”, with branches ending in Non-Veg or Veg leaf labels.&#10;&#10;">
            <a:extLst>
              <a:ext uri="{FF2B5EF4-FFF2-40B4-BE49-F238E27FC236}">
                <a16:creationId xmlns:a16="http://schemas.microsoft.com/office/drawing/2014/main" id="{01AE8F62-962F-578C-23D0-C421C5665E7B}"/>
              </a:ext>
            </a:extLst>
          </p:cNvPr>
          <p:cNvPicPr>
            <a:picLocks noChangeAspect="1"/>
          </p:cNvPicPr>
          <p:nvPr/>
        </p:nvPicPr>
        <p:blipFill>
          <a:blip r:embed="rId2"/>
          <a:srcRect l="3466" t="4998" r="19853" b="22621"/>
          <a:stretch>
            <a:fillRect/>
          </a:stretch>
        </p:blipFill>
        <p:spPr>
          <a:xfrm>
            <a:off x="7903028" y="3624944"/>
            <a:ext cx="3988642" cy="2097962"/>
          </a:xfrm>
          <a:prstGeom prst="rect">
            <a:avLst/>
          </a:prstGeom>
        </p:spPr>
      </p:pic>
    </p:spTree>
    <p:extLst>
      <p:ext uri="{BB962C8B-B14F-4D97-AF65-F5344CB8AC3E}">
        <p14:creationId xmlns:p14="http://schemas.microsoft.com/office/powerpoint/2010/main" val="263901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9AE8E-7C1C-710F-7FF5-0A4D541F9EEA}"/>
              </a:ext>
            </a:extLst>
          </p:cNvPr>
          <p:cNvSpPr>
            <a:spLocks noGrp="1"/>
          </p:cNvSpPr>
          <p:nvPr>
            <p:ph type="title"/>
          </p:nvPr>
        </p:nvSpPr>
        <p:spPr/>
        <p:txBody>
          <a:bodyPr>
            <a:normAutofit fontScale="90000"/>
          </a:bodyPr>
          <a:lstStyle/>
          <a:p>
            <a:r>
              <a:rPr lang="en-US" dirty="0"/>
              <a:t>How to determine the best split</a:t>
            </a:r>
          </a:p>
        </p:txBody>
      </p:sp>
      <p:sp>
        <p:nvSpPr>
          <p:cNvPr id="3" name="Content Placeholder 2">
            <a:extLst>
              <a:ext uri="{FF2B5EF4-FFF2-40B4-BE49-F238E27FC236}">
                <a16:creationId xmlns:a16="http://schemas.microsoft.com/office/drawing/2014/main" id="{996F33C6-F63A-25A1-CA7F-73DCBA09C729}"/>
              </a:ext>
            </a:extLst>
          </p:cNvPr>
          <p:cNvSpPr>
            <a:spLocks noGrp="1"/>
          </p:cNvSpPr>
          <p:nvPr>
            <p:ph idx="1"/>
          </p:nvPr>
        </p:nvSpPr>
        <p:spPr/>
        <p:txBody>
          <a:bodyPr/>
          <a:lstStyle/>
          <a:p>
            <a:r>
              <a:rPr lang="en-US" dirty="0"/>
              <a:t>We can calculate the entropy of each attribute at the root node</a:t>
            </a:r>
          </a:p>
          <a:p>
            <a:pPr lvl="1"/>
            <a:r>
              <a:rPr lang="en-US" dirty="0"/>
              <a:t>Entropy is a measure of the amount of uncertainty in the data set</a:t>
            </a:r>
          </a:p>
          <a:p>
            <a:pPr lvl="1"/>
            <a:r>
              <a:rPr lang="en-US" dirty="0"/>
              <a:t>Information gain is the measure of the difference in entropy from before to after the split on an attribute. </a:t>
            </a:r>
          </a:p>
          <a:p>
            <a:pPr lvl="2"/>
            <a:r>
              <a:rPr lang="en-US" dirty="0"/>
              <a:t>In other words, how much uncertainty was reduced after splitting the set on the attribute</a:t>
            </a:r>
          </a:p>
          <a:p>
            <a:r>
              <a:rPr lang="en-US" dirty="0"/>
              <a:t>Entropy is calculated for each remaining attribute. </a:t>
            </a:r>
          </a:p>
          <a:p>
            <a:r>
              <a:rPr lang="en-US" dirty="0"/>
              <a:t>The attribute with the smallest entropy is used to split the dataset on this iteration. </a:t>
            </a:r>
          </a:p>
          <a:p>
            <a:r>
              <a:rPr lang="en-US" dirty="0"/>
              <a:t>This is a greedy approach</a:t>
            </a:r>
          </a:p>
          <a:p>
            <a:r>
              <a:rPr lang="en-US" dirty="0"/>
              <a:t>Gini can also be used a measure of impurity</a:t>
            </a:r>
          </a:p>
        </p:txBody>
      </p:sp>
      <p:sp>
        <p:nvSpPr>
          <p:cNvPr id="4" name="Footer Placeholder 3">
            <a:extLst>
              <a:ext uri="{FF2B5EF4-FFF2-40B4-BE49-F238E27FC236}">
                <a16:creationId xmlns:a16="http://schemas.microsoft.com/office/drawing/2014/main" id="{049216FF-2958-7A40-5B33-2CC49300CC2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DD6BA057-1079-CBE5-CF91-E3ACE7244DF9}"/>
              </a:ext>
            </a:extLst>
          </p:cNvPr>
          <p:cNvSpPr>
            <a:spLocks noGrp="1"/>
          </p:cNvSpPr>
          <p:nvPr>
            <p:ph type="sldNum" sz="quarter" idx="12"/>
          </p:nvPr>
        </p:nvSpPr>
        <p:spPr/>
        <p:txBody>
          <a:bodyPr/>
          <a:lstStyle/>
          <a:p>
            <a:fld id="{10A4AB6E-1AC4-C44F-A0CC-883A0306AF8B}" type="slidenum">
              <a:rPr lang="en-US" smtClean="0"/>
              <a:t>5</a:t>
            </a:fld>
            <a:endParaRPr lang="en-US"/>
          </a:p>
        </p:txBody>
      </p:sp>
    </p:spTree>
    <p:extLst>
      <p:ext uri="{BB962C8B-B14F-4D97-AF65-F5344CB8AC3E}">
        <p14:creationId xmlns:p14="http://schemas.microsoft.com/office/powerpoint/2010/main" val="281920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EBEA3-E6E5-C208-05D4-7B3255D67D15}"/>
              </a:ext>
            </a:extLst>
          </p:cNvPr>
          <p:cNvSpPr>
            <a:spLocks noGrp="1"/>
          </p:cNvSpPr>
          <p:nvPr>
            <p:ph type="title"/>
          </p:nvPr>
        </p:nvSpPr>
        <p:spPr/>
        <p:txBody>
          <a:bodyPr>
            <a:normAutofit fontScale="90000"/>
          </a:bodyPr>
          <a:lstStyle/>
          <a:p>
            <a:r>
              <a:rPr lang="en-US" dirty="0"/>
              <a:t>Stopping criteria for tree induction</a:t>
            </a:r>
          </a:p>
        </p:txBody>
      </p:sp>
      <p:sp>
        <p:nvSpPr>
          <p:cNvPr id="3" name="Content Placeholder 2">
            <a:extLst>
              <a:ext uri="{FF2B5EF4-FFF2-40B4-BE49-F238E27FC236}">
                <a16:creationId xmlns:a16="http://schemas.microsoft.com/office/drawing/2014/main" id="{987E1DF8-0162-0E77-8B13-8E3873C88410}"/>
              </a:ext>
            </a:extLst>
          </p:cNvPr>
          <p:cNvSpPr>
            <a:spLocks noGrp="1"/>
          </p:cNvSpPr>
          <p:nvPr>
            <p:ph idx="1"/>
          </p:nvPr>
        </p:nvSpPr>
        <p:spPr/>
        <p:txBody>
          <a:bodyPr>
            <a:normAutofit/>
          </a:bodyPr>
          <a:lstStyle/>
          <a:p>
            <a:r>
              <a:rPr lang="en-US" dirty="0"/>
              <a:t>Stop expanding a node when all the records </a:t>
            </a:r>
          </a:p>
          <a:p>
            <a:pPr lvl="1"/>
            <a:r>
              <a:rPr lang="en-US" dirty="0"/>
              <a:t>belong to the same class</a:t>
            </a:r>
          </a:p>
          <a:p>
            <a:pPr lvl="1"/>
            <a:r>
              <a:rPr lang="en-US" dirty="0"/>
              <a:t>have similar attribute values</a:t>
            </a:r>
          </a:p>
          <a:p>
            <a:r>
              <a:rPr lang="en-US" dirty="0"/>
              <a:t>Early termination (Pre-pruning)</a:t>
            </a:r>
          </a:p>
          <a:p>
            <a:pPr lvl="1"/>
            <a:r>
              <a:rPr lang="en-US" dirty="0"/>
              <a:t>Stop the algorithm before it becomes a fully-grown tree</a:t>
            </a:r>
          </a:p>
          <a:p>
            <a:pPr lvl="1"/>
            <a:r>
              <a:rPr lang="en-US" dirty="0"/>
              <a:t>More restrictive conditions:</a:t>
            </a:r>
          </a:p>
          <a:p>
            <a:pPr lvl="2"/>
            <a:r>
              <a:rPr lang="en-US" dirty="0"/>
              <a:t>Stop if number of instances is less than some user-specified threshold</a:t>
            </a:r>
          </a:p>
          <a:p>
            <a:pPr lvl="2"/>
            <a:r>
              <a:rPr lang="en-US" dirty="0"/>
              <a:t>Stop if class distribution of instances are independent of the available features</a:t>
            </a:r>
          </a:p>
          <a:p>
            <a:pPr lvl="2"/>
            <a:r>
              <a:rPr lang="en-US" dirty="0"/>
              <a:t>Stop if expanding the current node does not improve impurity measures (e.g., Gini or information gain).</a:t>
            </a:r>
          </a:p>
          <a:p>
            <a:endParaRPr lang="en-US" dirty="0"/>
          </a:p>
          <a:p>
            <a:pPr lvl="1"/>
            <a:endParaRPr lang="en-US" dirty="0"/>
          </a:p>
          <a:p>
            <a:endParaRPr lang="en-US" dirty="0"/>
          </a:p>
        </p:txBody>
      </p:sp>
      <p:sp>
        <p:nvSpPr>
          <p:cNvPr id="4" name="Footer Placeholder 3">
            <a:extLst>
              <a:ext uri="{FF2B5EF4-FFF2-40B4-BE49-F238E27FC236}">
                <a16:creationId xmlns:a16="http://schemas.microsoft.com/office/drawing/2014/main" id="{339C04A7-6E04-6A28-F57B-631D54CAA16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D58F277-0CCC-D392-F50D-A2B693FEC64F}"/>
              </a:ext>
            </a:extLst>
          </p:cNvPr>
          <p:cNvSpPr>
            <a:spLocks noGrp="1"/>
          </p:cNvSpPr>
          <p:nvPr>
            <p:ph type="sldNum" sz="quarter" idx="12"/>
          </p:nvPr>
        </p:nvSpPr>
        <p:spPr/>
        <p:txBody>
          <a:bodyPr/>
          <a:lstStyle/>
          <a:p>
            <a:fld id="{10A4AB6E-1AC4-C44F-A0CC-883A0306AF8B}" type="slidenum">
              <a:rPr lang="en-US" smtClean="0"/>
              <a:t>6</a:t>
            </a:fld>
            <a:endParaRPr lang="en-US"/>
          </a:p>
        </p:txBody>
      </p:sp>
    </p:spTree>
    <p:extLst>
      <p:ext uri="{BB962C8B-B14F-4D97-AF65-F5344CB8AC3E}">
        <p14:creationId xmlns:p14="http://schemas.microsoft.com/office/powerpoint/2010/main" val="1343252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6B5CB-4BD9-937F-3F51-3C0FB7718AD2}"/>
              </a:ext>
            </a:extLst>
          </p:cNvPr>
          <p:cNvSpPr>
            <a:spLocks noGrp="1"/>
          </p:cNvSpPr>
          <p:nvPr>
            <p:ph type="title"/>
          </p:nvPr>
        </p:nvSpPr>
        <p:spPr/>
        <p:txBody>
          <a:bodyPr>
            <a:normAutofit fontScale="90000"/>
          </a:bodyPr>
          <a:lstStyle/>
          <a:p>
            <a:r>
              <a:rPr lang="en-US" dirty="0"/>
              <a:t>Post Pruning</a:t>
            </a:r>
          </a:p>
        </p:txBody>
      </p:sp>
      <p:sp>
        <p:nvSpPr>
          <p:cNvPr id="3" name="Content Placeholder 2">
            <a:extLst>
              <a:ext uri="{FF2B5EF4-FFF2-40B4-BE49-F238E27FC236}">
                <a16:creationId xmlns:a16="http://schemas.microsoft.com/office/drawing/2014/main" id="{366D1081-E833-BB66-DFF1-4CC96C6FDD60}"/>
              </a:ext>
            </a:extLst>
          </p:cNvPr>
          <p:cNvSpPr>
            <a:spLocks noGrp="1"/>
          </p:cNvSpPr>
          <p:nvPr>
            <p:ph idx="1"/>
          </p:nvPr>
        </p:nvSpPr>
        <p:spPr/>
        <p:txBody>
          <a:bodyPr/>
          <a:lstStyle/>
          <a:p>
            <a:r>
              <a:rPr lang="en-US" dirty="0"/>
              <a:t>Grow decision tree to its entirety</a:t>
            </a:r>
          </a:p>
          <a:p>
            <a:r>
              <a:rPr lang="en-US" dirty="0"/>
              <a:t>Trim the nodes of the decision tree in a bottom-up fashion</a:t>
            </a:r>
          </a:p>
          <a:p>
            <a:r>
              <a:rPr lang="en-US" dirty="0"/>
              <a:t>If generalization error improves after trimming, replace sub-tree by a leaf node.</a:t>
            </a:r>
          </a:p>
          <a:p>
            <a:r>
              <a:rPr lang="en-US" dirty="0"/>
              <a:t>Class label of leaf node is determined from majority class of instances in the sub-tree</a:t>
            </a:r>
          </a:p>
          <a:p>
            <a:endParaRPr lang="en-US" dirty="0"/>
          </a:p>
        </p:txBody>
      </p:sp>
      <p:sp>
        <p:nvSpPr>
          <p:cNvPr id="4" name="Footer Placeholder 3">
            <a:extLst>
              <a:ext uri="{FF2B5EF4-FFF2-40B4-BE49-F238E27FC236}">
                <a16:creationId xmlns:a16="http://schemas.microsoft.com/office/drawing/2014/main" id="{3CEBED31-5CC6-A386-EBCB-11976425310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C252BD1-6D82-BE92-4B27-F9BB792D82CB}"/>
              </a:ext>
            </a:extLst>
          </p:cNvPr>
          <p:cNvSpPr>
            <a:spLocks noGrp="1"/>
          </p:cNvSpPr>
          <p:nvPr>
            <p:ph type="sldNum" sz="quarter" idx="12"/>
          </p:nvPr>
        </p:nvSpPr>
        <p:spPr/>
        <p:txBody>
          <a:bodyPr/>
          <a:lstStyle/>
          <a:p>
            <a:fld id="{10A4AB6E-1AC4-C44F-A0CC-883A0306AF8B}" type="slidenum">
              <a:rPr lang="en-US" smtClean="0"/>
              <a:t>7</a:t>
            </a:fld>
            <a:endParaRPr lang="en-US"/>
          </a:p>
        </p:txBody>
      </p:sp>
    </p:spTree>
    <p:extLst>
      <p:ext uri="{BB962C8B-B14F-4D97-AF65-F5344CB8AC3E}">
        <p14:creationId xmlns:p14="http://schemas.microsoft.com/office/powerpoint/2010/main" val="1999980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02E13-C102-2112-91BD-8F3AC12CB2E2}"/>
              </a:ext>
            </a:extLst>
          </p:cNvPr>
          <p:cNvSpPr>
            <a:spLocks noGrp="1"/>
          </p:cNvSpPr>
          <p:nvPr>
            <p:ph type="title"/>
          </p:nvPr>
        </p:nvSpPr>
        <p:spPr/>
        <p:txBody>
          <a:bodyPr>
            <a:normAutofit fontScale="90000"/>
          </a:bodyPr>
          <a:lstStyle/>
          <a:p>
            <a:r>
              <a:rPr lang="en-US" dirty="0"/>
              <a:t>Decision Tree Based Classification</a:t>
            </a:r>
          </a:p>
        </p:txBody>
      </p:sp>
      <p:sp>
        <p:nvSpPr>
          <p:cNvPr id="3" name="Content Placeholder 2">
            <a:extLst>
              <a:ext uri="{FF2B5EF4-FFF2-40B4-BE49-F238E27FC236}">
                <a16:creationId xmlns:a16="http://schemas.microsoft.com/office/drawing/2014/main" id="{38A8234C-E693-4E03-F568-A09F94D9A614}"/>
              </a:ext>
            </a:extLst>
          </p:cNvPr>
          <p:cNvSpPr>
            <a:spLocks noGrp="1"/>
          </p:cNvSpPr>
          <p:nvPr>
            <p:ph idx="1"/>
          </p:nvPr>
        </p:nvSpPr>
        <p:spPr/>
        <p:txBody>
          <a:bodyPr>
            <a:normAutofit/>
          </a:bodyPr>
          <a:lstStyle/>
          <a:p>
            <a:r>
              <a:rPr lang="en-US" dirty="0"/>
              <a:t>Advantages:</a:t>
            </a:r>
          </a:p>
          <a:p>
            <a:pPr lvl="1"/>
            <a:r>
              <a:rPr lang="en-US" dirty="0"/>
              <a:t>Inexpensive to construct</a:t>
            </a:r>
          </a:p>
          <a:p>
            <a:pPr lvl="1"/>
            <a:r>
              <a:rPr lang="en-US" dirty="0"/>
              <a:t>Extremely fast at classifying unknown records</a:t>
            </a:r>
          </a:p>
          <a:p>
            <a:pPr lvl="1"/>
            <a:r>
              <a:rPr lang="en-US" dirty="0"/>
              <a:t>Easy to interpret for small-sized trees</a:t>
            </a:r>
          </a:p>
          <a:p>
            <a:pPr lvl="1"/>
            <a:r>
              <a:rPr lang="en-US" dirty="0"/>
              <a:t>Accuracy is comparable to other classification techniques for many simple data sets</a:t>
            </a:r>
          </a:p>
          <a:p>
            <a:r>
              <a:rPr lang="en-US" dirty="0"/>
              <a:t>Disadvantage:</a:t>
            </a:r>
          </a:p>
          <a:p>
            <a:pPr lvl="1"/>
            <a:r>
              <a:rPr lang="en-US" dirty="0"/>
              <a:t>HUGE tendency to overfit</a:t>
            </a:r>
          </a:p>
          <a:p>
            <a:pPr lvl="1"/>
            <a:r>
              <a:rPr lang="en-US" dirty="0"/>
              <a:t>Error propagation</a:t>
            </a:r>
          </a:p>
          <a:p>
            <a:pPr lvl="2"/>
            <a:r>
              <a:rPr lang="en-US" dirty="0"/>
              <a:t>Since decision trees work by a series of local decisions, what happens when one of these local decisions is wrong?</a:t>
            </a:r>
          </a:p>
          <a:p>
            <a:pPr lvl="2"/>
            <a:endParaRPr lang="en-US" dirty="0"/>
          </a:p>
        </p:txBody>
      </p:sp>
      <p:sp>
        <p:nvSpPr>
          <p:cNvPr id="4" name="Footer Placeholder 3">
            <a:extLst>
              <a:ext uri="{FF2B5EF4-FFF2-40B4-BE49-F238E27FC236}">
                <a16:creationId xmlns:a16="http://schemas.microsoft.com/office/drawing/2014/main" id="{C0CDBC01-28AB-837B-4A21-297491B72A0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94C0CB3C-C1E8-9C45-9BFB-6C3853B7D82F}"/>
              </a:ext>
            </a:extLst>
          </p:cNvPr>
          <p:cNvSpPr>
            <a:spLocks noGrp="1"/>
          </p:cNvSpPr>
          <p:nvPr>
            <p:ph type="sldNum" sz="quarter" idx="12"/>
          </p:nvPr>
        </p:nvSpPr>
        <p:spPr/>
        <p:txBody>
          <a:bodyPr/>
          <a:lstStyle/>
          <a:p>
            <a:fld id="{10A4AB6E-1AC4-C44F-A0CC-883A0306AF8B}" type="slidenum">
              <a:rPr lang="en-US" smtClean="0"/>
              <a:t>8</a:t>
            </a:fld>
            <a:endParaRPr lang="en-US" dirty="0"/>
          </a:p>
        </p:txBody>
      </p:sp>
    </p:spTree>
    <p:extLst>
      <p:ext uri="{BB962C8B-B14F-4D97-AF65-F5344CB8AC3E}">
        <p14:creationId xmlns:p14="http://schemas.microsoft.com/office/powerpoint/2010/main" val="864607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2064E-C81C-9B0A-85B8-523F56246BB8}"/>
              </a:ext>
            </a:extLst>
          </p:cNvPr>
          <p:cNvSpPr>
            <a:spLocks noGrp="1"/>
          </p:cNvSpPr>
          <p:nvPr>
            <p:ph type="title"/>
          </p:nvPr>
        </p:nvSpPr>
        <p:spPr/>
        <p:txBody>
          <a:bodyPr>
            <a:normAutofit fontScale="90000"/>
          </a:bodyPr>
          <a:lstStyle/>
          <a:p>
            <a:r>
              <a:rPr lang="en-US" dirty="0"/>
              <a:t>Regression trees</a:t>
            </a:r>
          </a:p>
        </p:txBody>
      </p:sp>
      <p:sp>
        <p:nvSpPr>
          <p:cNvPr id="3" name="Content Placeholder 2">
            <a:extLst>
              <a:ext uri="{FF2B5EF4-FFF2-40B4-BE49-F238E27FC236}">
                <a16:creationId xmlns:a16="http://schemas.microsoft.com/office/drawing/2014/main" id="{13BB36D4-5257-95E3-F1F2-D0B276B7355B}"/>
              </a:ext>
            </a:extLst>
          </p:cNvPr>
          <p:cNvSpPr>
            <a:spLocks noGrp="1"/>
          </p:cNvSpPr>
          <p:nvPr>
            <p:ph idx="1"/>
          </p:nvPr>
        </p:nvSpPr>
        <p:spPr/>
        <p:txBody>
          <a:bodyPr>
            <a:normAutofit/>
          </a:bodyPr>
          <a:lstStyle/>
          <a:p>
            <a:r>
              <a:rPr lang="en-US" dirty="0"/>
              <a:t>Tree-based methods can also be used for regression!</a:t>
            </a:r>
          </a:p>
          <a:p>
            <a:r>
              <a:rPr lang="en-US" dirty="0"/>
              <a:t>Used with continuous outcome variable</a:t>
            </a:r>
          </a:p>
          <a:p>
            <a:r>
              <a:rPr lang="en-US" dirty="0"/>
              <a:t>Procedure similar to classification tree</a:t>
            </a:r>
          </a:p>
          <a:p>
            <a:r>
              <a:rPr lang="en-US" dirty="0"/>
              <a:t>Many splits attempted, choose the one that minimizes impurity</a:t>
            </a:r>
          </a:p>
          <a:p>
            <a:r>
              <a:rPr lang="en-US" dirty="0"/>
              <a:t>Prediction is computed as the average of numerical target variable in the node/leaf</a:t>
            </a:r>
          </a:p>
          <a:p>
            <a:r>
              <a:rPr lang="en-US" dirty="0"/>
              <a:t>Impurity measured by sum of squared deviations from leaf mean</a:t>
            </a:r>
          </a:p>
          <a:p>
            <a:r>
              <a:rPr lang="en-US" dirty="0"/>
              <a:t>Performance measured by RMSE</a:t>
            </a:r>
          </a:p>
          <a:p>
            <a:endParaRPr lang="en-US" dirty="0"/>
          </a:p>
          <a:p>
            <a:endParaRPr lang="en-US" dirty="0"/>
          </a:p>
        </p:txBody>
      </p:sp>
      <p:sp>
        <p:nvSpPr>
          <p:cNvPr id="4" name="Footer Placeholder 3">
            <a:extLst>
              <a:ext uri="{FF2B5EF4-FFF2-40B4-BE49-F238E27FC236}">
                <a16:creationId xmlns:a16="http://schemas.microsoft.com/office/drawing/2014/main" id="{209D073A-39DE-49B8-BF97-680E9DBE9EA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47E7CE4-78AC-CC6D-E730-F0A278416BCC}"/>
              </a:ext>
            </a:extLst>
          </p:cNvPr>
          <p:cNvSpPr>
            <a:spLocks noGrp="1"/>
          </p:cNvSpPr>
          <p:nvPr>
            <p:ph type="sldNum" sz="quarter" idx="12"/>
          </p:nvPr>
        </p:nvSpPr>
        <p:spPr/>
        <p:txBody>
          <a:bodyPr/>
          <a:lstStyle/>
          <a:p>
            <a:fld id="{10A4AB6E-1AC4-C44F-A0CC-883A0306AF8B}" type="slidenum">
              <a:rPr lang="en-US" smtClean="0"/>
              <a:t>9</a:t>
            </a:fld>
            <a:endParaRPr lang="en-US"/>
          </a:p>
        </p:txBody>
      </p:sp>
    </p:spTree>
    <p:extLst>
      <p:ext uri="{BB962C8B-B14F-4D97-AF65-F5344CB8AC3E}">
        <p14:creationId xmlns:p14="http://schemas.microsoft.com/office/powerpoint/2010/main" val="1912044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C23F0-51E5-CA1D-9D4F-F8D9D518F6E3}"/>
              </a:ext>
            </a:extLst>
          </p:cNvPr>
          <p:cNvSpPr>
            <a:spLocks noGrp="1"/>
          </p:cNvSpPr>
          <p:nvPr>
            <p:ph type="title"/>
          </p:nvPr>
        </p:nvSpPr>
        <p:spPr/>
        <p:txBody>
          <a:bodyPr>
            <a:normAutofit fontScale="90000"/>
          </a:bodyPr>
          <a:lstStyle/>
          <a:p>
            <a:r>
              <a:rPr lang="en-US" dirty="0"/>
              <a:t>Why (not) use regression trees</a:t>
            </a:r>
          </a:p>
        </p:txBody>
      </p:sp>
      <p:sp>
        <p:nvSpPr>
          <p:cNvPr id="3" name="Content Placeholder 2">
            <a:extLst>
              <a:ext uri="{FF2B5EF4-FFF2-40B4-BE49-F238E27FC236}">
                <a16:creationId xmlns:a16="http://schemas.microsoft.com/office/drawing/2014/main" id="{DCDD2834-4AAF-E7C3-FCFE-41709CCDE148}"/>
              </a:ext>
            </a:extLst>
          </p:cNvPr>
          <p:cNvSpPr>
            <a:spLocks noGrp="1"/>
          </p:cNvSpPr>
          <p:nvPr>
            <p:ph idx="1"/>
          </p:nvPr>
        </p:nvSpPr>
        <p:spPr/>
        <p:txBody>
          <a:bodyPr>
            <a:normAutofit fontScale="92500" lnSpcReduction="10000"/>
          </a:bodyPr>
          <a:lstStyle/>
          <a:p>
            <a:r>
              <a:rPr lang="en-US" dirty="0"/>
              <a:t>Advantages:</a:t>
            </a:r>
          </a:p>
          <a:p>
            <a:pPr lvl="1"/>
            <a:r>
              <a:rPr lang="en-US" dirty="0"/>
              <a:t>Easy to use, understand</a:t>
            </a:r>
          </a:p>
          <a:p>
            <a:pPr lvl="1"/>
            <a:r>
              <a:rPr lang="en-US" dirty="0"/>
              <a:t>Produce rules that are easy to interpret &amp; implement</a:t>
            </a:r>
          </a:p>
          <a:p>
            <a:pPr lvl="1"/>
            <a:r>
              <a:rPr lang="en-US" dirty="0"/>
              <a:t>Variable selection &amp; reduction is automatic</a:t>
            </a:r>
          </a:p>
          <a:p>
            <a:pPr lvl="1"/>
            <a:r>
              <a:rPr lang="en-US" dirty="0"/>
              <a:t>Do not require the assumptions of statistical models</a:t>
            </a:r>
          </a:p>
          <a:p>
            <a:pPr lvl="1"/>
            <a:r>
              <a:rPr lang="en-US" dirty="0"/>
              <a:t>Can work without extensive handling of missing data</a:t>
            </a:r>
          </a:p>
          <a:p>
            <a:r>
              <a:rPr lang="en-US" dirty="0"/>
              <a:t>Limitations:</a:t>
            </a:r>
          </a:p>
          <a:p>
            <a:pPr lvl="1"/>
            <a:r>
              <a:rPr lang="en-US" dirty="0"/>
              <a:t>Non-robust, so they are sensitive to small changes in the data</a:t>
            </a:r>
          </a:p>
          <a:p>
            <a:pPr lvl="1"/>
            <a:r>
              <a:rPr lang="en-US" dirty="0"/>
              <a:t>Trees generally do not have the same level of predictive accuracy as some of the other regression and classification approaches we have seen</a:t>
            </a:r>
          </a:p>
          <a:p>
            <a:pPr lvl="1"/>
            <a:r>
              <a:rPr lang="en-US" dirty="0"/>
              <a:t>Only axis aligned splits</a:t>
            </a:r>
          </a:p>
          <a:p>
            <a:pPr lvl="1"/>
            <a:r>
              <a:rPr lang="en-US" dirty="0"/>
              <a:t>May not perform well where there is structure in the data that is not well captured by horizontal or vertical splits</a:t>
            </a:r>
          </a:p>
          <a:p>
            <a:pPr lvl="1"/>
            <a:r>
              <a:rPr lang="en-US" dirty="0"/>
              <a:t>Since the process deals with one variable at a time, difficult to capture interactions between variables (without overfitting)</a:t>
            </a:r>
          </a:p>
          <a:p>
            <a:endParaRPr lang="en-US" dirty="0"/>
          </a:p>
        </p:txBody>
      </p:sp>
      <p:sp>
        <p:nvSpPr>
          <p:cNvPr id="4" name="Footer Placeholder 3">
            <a:extLst>
              <a:ext uri="{FF2B5EF4-FFF2-40B4-BE49-F238E27FC236}">
                <a16:creationId xmlns:a16="http://schemas.microsoft.com/office/drawing/2014/main" id="{F82BA1C3-F313-C14C-EAC6-A84C8E688EC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64FE9DA-F048-F475-F435-E3681F964B30}"/>
              </a:ext>
            </a:extLst>
          </p:cNvPr>
          <p:cNvSpPr>
            <a:spLocks noGrp="1"/>
          </p:cNvSpPr>
          <p:nvPr>
            <p:ph type="sldNum" sz="quarter" idx="12"/>
          </p:nvPr>
        </p:nvSpPr>
        <p:spPr/>
        <p:txBody>
          <a:bodyPr/>
          <a:lstStyle/>
          <a:p>
            <a:fld id="{10A4AB6E-1AC4-C44F-A0CC-883A0306AF8B}" type="slidenum">
              <a:rPr lang="en-US" smtClean="0"/>
              <a:t>10</a:t>
            </a:fld>
            <a:endParaRPr lang="en-US"/>
          </a:p>
        </p:txBody>
      </p:sp>
    </p:spTree>
    <p:extLst>
      <p:ext uri="{BB962C8B-B14F-4D97-AF65-F5344CB8AC3E}">
        <p14:creationId xmlns:p14="http://schemas.microsoft.com/office/powerpoint/2010/main" val="210124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7D460-E4F6-08E4-B7A8-1EC865B80856}"/>
              </a:ext>
            </a:extLst>
          </p:cNvPr>
          <p:cNvSpPr>
            <a:spLocks noGrp="1"/>
          </p:cNvSpPr>
          <p:nvPr>
            <p:ph type="title"/>
          </p:nvPr>
        </p:nvSpPr>
        <p:spPr/>
        <p:txBody>
          <a:bodyPr>
            <a:normAutofit fontScale="90000"/>
          </a:bodyPr>
          <a:lstStyle/>
          <a:p>
            <a:r>
              <a:rPr lang="en-US" dirty="0"/>
              <a:t>Ensemble methods</a:t>
            </a:r>
          </a:p>
        </p:txBody>
      </p:sp>
      <p:sp>
        <p:nvSpPr>
          <p:cNvPr id="3" name="Content Placeholder 2">
            <a:extLst>
              <a:ext uri="{FF2B5EF4-FFF2-40B4-BE49-F238E27FC236}">
                <a16:creationId xmlns:a16="http://schemas.microsoft.com/office/drawing/2014/main" id="{094A8ED9-D7E0-8BB9-E994-1C9D243F385D}"/>
              </a:ext>
            </a:extLst>
          </p:cNvPr>
          <p:cNvSpPr>
            <a:spLocks noGrp="1"/>
          </p:cNvSpPr>
          <p:nvPr>
            <p:ph idx="1"/>
          </p:nvPr>
        </p:nvSpPr>
        <p:spPr/>
        <p:txBody>
          <a:bodyPr/>
          <a:lstStyle/>
          <a:p>
            <a:r>
              <a:rPr lang="en-US" dirty="0"/>
              <a:t>A single decision tree does not perform well, but it is super fast</a:t>
            </a:r>
          </a:p>
          <a:p>
            <a:r>
              <a:rPr lang="en-US" dirty="0"/>
              <a:t>What if we learn multiple, imperfect trees and somehow combine the results?</a:t>
            </a:r>
          </a:p>
          <a:p>
            <a:endParaRPr lang="en-US" dirty="0"/>
          </a:p>
        </p:txBody>
      </p:sp>
      <p:sp>
        <p:nvSpPr>
          <p:cNvPr id="4" name="Footer Placeholder 3">
            <a:extLst>
              <a:ext uri="{FF2B5EF4-FFF2-40B4-BE49-F238E27FC236}">
                <a16:creationId xmlns:a16="http://schemas.microsoft.com/office/drawing/2014/main" id="{70DA5DEA-FA90-EF39-6F18-5BB4CDAAB45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D392C3C-4D86-2E60-2039-4188EE16D9D1}"/>
              </a:ext>
            </a:extLst>
          </p:cNvPr>
          <p:cNvSpPr>
            <a:spLocks noGrp="1"/>
          </p:cNvSpPr>
          <p:nvPr>
            <p:ph type="sldNum" sz="quarter" idx="12"/>
          </p:nvPr>
        </p:nvSpPr>
        <p:spPr/>
        <p:txBody>
          <a:bodyPr/>
          <a:lstStyle/>
          <a:p>
            <a:fld id="{10A4AB6E-1AC4-C44F-A0CC-883A0306AF8B}" type="slidenum">
              <a:rPr lang="en-US" smtClean="0"/>
              <a:t>11</a:t>
            </a:fld>
            <a:endParaRPr lang="en-US"/>
          </a:p>
        </p:txBody>
      </p:sp>
      <p:pic>
        <p:nvPicPr>
          <p:cNvPr id="7" name="Picture 6" descr="Flowchart illustrating Random Forest classification, from dataset sampling and feature selection through multiple decision trees to final prediction. Blue Class A and green Class B nodes show tree outputs, while gray nodes mark feature-based splits; majority voting or averaging combines Decision Trees 1, 2, and 3.&#10;&#10;">
            <a:extLst>
              <a:ext uri="{FF2B5EF4-FFF2-40B4-BE49-F238E27FC236}">
                <a16:creationId xmlns:a16="http://schemas.microsoft.com/office/drawing/2014/main" id="{263B469B-FA70-92B7-5B03-0015226AFCF0}"/>
              </a:ext>
            </a:extLst>
          </p:cNvPr>
          <p:cNvPicPr>
            <a:picLocks noChangeAspect="1"/>
          </p:cNvPicPr>
          <p:nvPr/>
        </p:nvPicPr>
        <p:blipFill>
          <a:blip r:embed="rId2"/>
          <a:stretch>
            <a:fillRect/>
          </a:stretch>
        </p:blipFill>
        <p:spPr>
          <a:xfrm>
            <a:off x="3875280" y="2290832"/>
            <a:ext cx="4278120" cy="3960604"/>
          </a:xfrm>
          <a:prstGeom prst="rect">
            <a:avLst/>
          </a:prstGeom>
        </p:spPr>
      </p:pic>
    </p:spTree>
    <p:extLst>
      <p:ext uri="{BB962C8B-B14F-4D97-AF65-F5344CB8AC3E}">
        <p14:creationId xmlns:p14="http://schemas.microsoft.com/office/powerpoint/2010/main" val="2884066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65B39-47AD-0A84-E9F4-F1C276C46E8B}"/>
              </a:ext>
            </a:extLst>
          </p:cNvPr>
          <p:cNvSpPr>
            <a:spLocks noGrp="1"/>
          </p:cNvSpPr>
          <p:nvPr>
            <p:ph type="title"/>
          </p:nvPr>
        </p:nvSpPr>
        <p:spPr/>
        <p:txBody>
          <a:bodyPr>
            <a:normAutofit fontScale="90000"/>
          </a:bodyPr>
          <a:lstStyle/>
          <a:p>
            <a:r>
              <a:rPr lang="en-US" dirty="0"/>
              <a:t>Bootstrap aggregating (Bagging)</a:t>
            </a:r>
          </a:p>
        </p:txBody>
      </p:sp>
      <p:sp>
        <p:nvSpPr>
          <p:cNvPr id="3" name="Content Placeholder 2">
            <a:extLst>
              <a:ext uri="{FF2B5EF4-FFF2-40B4-BE49-F238E27FC236}">
                <a16:creationId xmlns:a16="http://schemas.microsoft.com/office/drawing/2014/main" id="{E4CD1EB6-9B15-BAC6-C759-13E6E7F1B53F}"/>
              </a:ext>
            </a:extLst>
          </p:cNvPr>
          <p:cNvSpPr>
            <a:spLocks noGrp="1"/>
          </p:cNvSpPr>
          <p:nvPr>
            <p:ph idx="1"/>
          </p:nvPr>
        </p:nvSpPr>
        <p:spPr/>
        <p:txBody>
          <a:bodyPr>
            <a:normAutofit/>
          </a:bodyPr>
          <a:lstStyle/>
          <a:p>
            <a:r>
              <a:rPr lang="en-US" dirty="0"/>
              <a:t>If we split the data in random different ways, decision trees give different results -&gt; high variance.</a:t>
            </a:r>
          </a:p>
          <a:p>
            <a:r>
              <a:rPr lang="en-US" dirty="0"/>
              <a:t>Bagging</a:t>
            </a:r>
            <a:r>
              <a:rPr lang="en-US" b="1" dirty="0"/>
              <a:t> </a:t>
            </a:r>
            <a:r>
              <a:rPr lang="en-US" dirty="0"/>
              <a:t>is a method that results in low variance.</a:t>
            </a:r>
          </a:p>
          <a:p>
            <a:r>
              <a:rPr lang="en-US" dirty="0"/>
              <a:t>If we had multiple realizations of the data (or multiple samples) we could calculate the predictions multiple times, then averaging multiple estimations to produce less uncertain results.</a:t>
            </a:r>
          </a:p>
          <a:p>
            <a:pPr lvl="1"/>
            <a:r>
              <a:rPr lang="en-US" dirty="0"/>
              <a:t>Construct B number (usually hundreds) of trees (no pruning).</a:t>
            </a:r>
          </a:p>
          <a:p>
            <a:pPr lvl="1"/>
            <a:r>
              <a:rPr lang="en-US" dirty="0"/>
              <a:t>Learn a model for each bootstrap sample and average them for regression or majority vote for classification.</a:t>
            </a:r>
          </a:p>
          <a:p>
            <a:endParaRPr lang="en-US" dirty="0"/>
          </a:p>
        </p:txBody>
      </p:sp>
      <p:sp>
        <p:nvSpPr>
          <p:cNvPr id="4" name="Footer Placeholder 3">
            <a:extLst>
              <a:ext uri="{FF2B5EF4-FFF2-40B4-BE49-F238E27FC236}">
                <a16:creationId xmlns:a16="http://schemas.microsoft.com/office/drawing/2014/main" id="{95F407F8-677B-409E-E4D0-E771354BA31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E5364C2-D9BE-B894-DA66-11FB59B9DD84}"/>
              </a:ext>
            </a:extLst>
          </p:cNvPr>
          <p:cNvSpPr>
            <a:spLocks noGrp="1"/>
          </p:cNvSpPr>
          <p:nvPr>
            <p:ph type="sldNum" sz="quarter" idx="12"/>
          </p:nvPr>
        </p:nvSpPr>
        <p:spPr/>
        <p:txBody>
          <a:bodyPr/>
          <a:lstStyle/>
          <a:p>
            <a:fld id="{10A4AB6E-1AC4-C44F-A0CC-883A0306AF8B}" type="slidenum">
              <a:rPr lang="en-US" smtClean="0"/>
              <a:t>12</a:t>
            </a:fld>
            <a:endParaRPr lang="en-US"/>
          </a:p>
        </p:txBody>
      </p:sp>
    </p:spTree>
    <p:extLst>
      <p:ext uri="{BB962C8B-B14F-4D97-AF65-F5344CB8AC3E}">
        <p14:creationId xmlns:p14="http://schemas.microsoft.com/office/powerpoint/2010/main" val="5233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BC951-F7D5-C975-975A-83A4B5CDA94D}"/>
              </a:ext>
            </a:extLst>
          </p:cNvPr>
          <p:cNvSpPr>
            <a:spLocks noGrp="1"/>
          </p:cNvSpPr>
          <p:nvPr>
            <p:ph type="title"/>
          </p:nvPr>
        </p:nvSpPr>
        <p:spPr/>
        <p:txBody>
          <a:bodyPr>
            <a:normAutofit fontScale="90000"/>
          </a:bodyPr>
          <a:lstStyle/>
          <a:p>
            <a:r>
              <a:rPr lang="en-US" dirty="0"/>
              <a:t>Random Forest</a:t>
            </a:r>
          </a:p>
        </p:txBody>
      </p:sp>
      <p:sp>
        <p:nvSpPr>
          <p:cNvPr id="3" name="Content Placeholder 2">
            <a:extLst>
              <a:ext uri="{FF2B5EF4-FFF2-40B4-BE49-F238E27FC236}">
                <a16:creationId xmlns:a16="http://schemas.microsoft.com/office/drawing/2014/main" id="{FCAEB996-EB30-8C25-A9B8-888F480E69B4}"/>
              </a:ext>
            </a:extLst>
          </p:cNvPr>
          <p:cNvSpPr>
            <a:spLocks noGrp="1"/>
          </p:cNvSpPr>
          <p:nvPr>
            <p:ph idx="1"/>
          </p:nvPr>
        </p:nvSpPr>
        <p:spPr/>
        <p:txBody>
          <a:bodyPr/>
          <a:lstStyle/>
          <a:p>
            <a:r>
              <a:rPr lang="en-US" dirty="0"/>
              <a:t>Introducing more stochasticity (randomness) in the process to bagging</a:t>
            </a:r>
          </a:p>
          <a:p>
            <a:r>
              <a:rPr lang="en-US" dirty="0"/>
              <a:t>Not only a newly bootstrapped sample of observations for each tree, but also only a subset of features are used for each tree, (with replacement)</a:t>
            </a:r>
          </a:p>
          <a:p>
            <a:endParaRPr lang="en-US" dirty="0"/>
          </a:p>
        </p:txBody>
      </p:sp>
      <p:sp>
        <p:nvSpPr>
          <p:cNvPr id="4" name="Footer Placeholder 3">
            <a:extLst>
              <a:ext uri="{FF2B5EF4-FFF2-40B4-BE49-F238E27FC236}">
                <a16:creationId xmlns:a16="http://schemas.microsoft.com/office/drawing/2014/main" id="{F82D0B93-F902-0EBC-58F5-E46A37DFFDB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F50273C-50F9-06BF-B350-11609F46DE64}"/>
              </a:ext>
            </a:extLst>
          </p:cNvPr>
          <p:cNvSpPr>
            <a:spLocks noGrp="1"/>
          </p:cNvSpPr>
          <p:nvPr>
            <p:ph type="sldNum" sz="quarter" idx="12"/>
          </p:nvPr>
        </p:nvSpPr>
        <p:spPr/>
        <p:txBody>
          <a:bodyPr/>
          <a:lstStyle/>
          <a:p>
            <a:fld id="{10A4AB6E-1AC4-C44F-A0CC-883A0306AF8B}" type="slidenum">
              <a:rPr lang="en-US" smtClean="0"/>
              <a:t>13</a:t>
            </a:fld>
            <a:endParaRPr lang="en-US"/>
          </a:p>
        </p:txBody>
      </p:sp>
    </p:spTree>
    <p:extLst>
      <p:ext uri="{BB962C8B-B14F-4D97-AF65-F5344CB8AC3E}">
        <p14:creationId xmlns:p14="http://schemas.microsoft.com/office/powerpoint/2010/main" val="4172701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01C89-5E91-2273-F0A5-C89F3BAA2299}"/>
              </a:ext>
            </a:extLst>
          </p:cNvPr>
          <p:cNvSpPr>
            <a:spLocks noGrp="1"/>
          </p:cNvSpPr>
          <p:nvPr>
            <p:ph type="title"/>
          </p:nvPr>
        </p:nvSpPr>
        <p:spPr/>
        <p:txBody>
          <a:bodyPr>
            <a:normAutofit fontScale="90000"/>
          </a:bodyPr>
          <a:lstStyle/>
          <a:p>
            <a:r>
              <a:rPr lang="en-US" dirty="0"/>
              <a:t>Random Forest Classifier</a:t>
            </a:r>
          </a:p>
        </p:txBody>
      </p:sp>
      <p:pic>
        <p:nvPicPr>
          <p:cNvPr id="7" name="Content Placeholder 6" descr="Decision-tree diagram shows N examples represented by M features, with each node selecting one of fewer-than-M candidate split features. Orange input block feeds green feature blocks and a branching tree labeled Location Similarity, Gene Expression, Domain-motif, Neighbor Function Similarity, Interact, and Degree, ending in brown or gray Interact/Not interact outcomes.">
            <a:extLst>
              <a:ext uri="{FF2B5EF4-FFF2-40B4-BE49-F238E27FC236}">
                <a16:creationId xmlns:a16="http://schemas.microsoft.com/office/drawing/2014/main" id="{7382DFF6-7FC3-EDA0-BF82-59F7C5E77926}"/>
              </a:ext>
            </a:extLst>
          </p:cNvPr>
          <p:cNvPicPr>
            <a:picLocks noGrp="1" noChangeAspect="1"/>
          </p:cNvPicPr>
          <p:nvPr>
            <p:ph idx="1"/>
          </p:nvPr>
        </p:nvPicPr>
        <p:blipFill>
          <a:blip r:embed="rId2"/>
          <a:srcRect r="1760"/>
          <a:stretch>
            <a:fillRect/>
          </a:stretch>
        </p:blipFill>
        <p:spPr>
          <a:xfrm>
            <a:off x="127000" y="1937808"/>
            <a:ext cx="6167677" cy="3525966"/>
          </a:xfrm>
          <a:prstGeom prst="rect">
            <a:avLst/>
          </a:prstGeom>
        </p:spPr>
      </p:pic>
      <p:sp>
        <p:nvSpPr>
          <p:cNvPr id="4" name="Footer Placeholder 3">
            <a:extLst>
              <a:ext uri="{FF2B5EF4-FFF2-40B4-BE49-F238E27FC236}">
                <a16:creationId xmlns:a16="http://schemas.microsoft.com/office/drawing/2014/main" id="{0AC4CC66-7925-AF41-029F-8F563DECB282}"/>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FF9744F-E3A6-4A8D-F5DA-E5EA3C36E557}"/>
              </a:ext>
            </a:extLst>
          </p:cNvPr>
          <p:cNvSpPr>
            <a:spLocks noGrp="1"/>
          </p:cNvSpPr>
          <p:nvPr>
            <p:ph type="sldNum" sz="quarter" idx="12"/>
          </p:nvPr>
        </p:nvSpPr>
        <p:spPr/>
        <p:txBody>
          <a:bodyPr/>
          <a:lstStyle/>
          <a:p>
            <a:fld id="{10A4AB6E-1AC4-C44F-A0CC-883A0306AF8B}" type="slidenum">
              <a:rPr lang="en-US" smtClean="0"/>
              <a:t>14</a:t>
            </a:fld>
            <a:endParaRPr lang="en-US"/>
          </a:p>
        </p:txBody>
      </p:sp>
      <p:pic>
        <p:nvPicPr>
          <p:cNvPr id="9" name="Picture 8" descr="Diagram illustrating random forest classification: N examples with M features feed multiple green decision-tree models, each producing a prediction. A bracketed “Take the majority vote” step combines tree outputs, with yellow decision nodes and gray leaf labels showing individual classifications.&#10;">
            <a:extLst>
              <a:ext uri="{FF2B5EF4-FFF2-40B4-BE49-F238E27FC236}">
                <a16:creationId xmlns:a16="http://schemas.microsoft.com/office/drawing/2014/main" id="{53A62B20-7D77-88B8-DFC9-AD49F4C4EC04}"/>
              </a:ext>
            </a:extLst>
          </p:cNvPr>
          <p:cNvPicPr>
            <a:picLocks noChangeAspect="1"/>
          </p:cNvPicPr>
          <p:nvPr/>
        </p:nvPicPr>
        <p:blipFill>
          <a:blip r:embed="rId3"/>
          <a:stretch>
            <a:fillRect/>
          </a:stretch>
        </p:blipFill>
        <p:spPr>
          <a:xfrm>
            <a:off x="6294677" y="2007103"/>
            <a:ext cx="5897323" cy="3456671"/>
          </a:xfrm>
          <a:prstGeom prst="rect">
            <a:avLst/>
          </a:prstGeom>
        </p:spPr>
      </p:pic>
    </p:spTree>
    <p:extLst>
      <p:ext uri="{BB962C8B-B14F-4D97-AF65-F5344CB8AC3E}">
        <p14:creationId xmlns:p14="http://schemas.microsoft.com/office/powerpoint/2010/main" val="34845383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DBBA2-529C-DADA-2E4A-3A5337056DEF}"/>
              </a:ext>
            </a:extLst>
          </p:cNvPr>
          <p:cNvSpPr>
            <a:spLocks noGrp="1"/>
          </p:cNvSpPr>
          <p:nvPr>
            <p:ph type="title"/>
          </p:nvPr>
        </p:nvSpPr>
        <p:spPr/>
        <p:txBody>
          <a:bodyPr>
            <a:normAutofit fontScale="90000"/>
          </a:bodyPr>
          <a:lstStyle/>
          <a:p>
            <a:r>
              <a:rPr lang="en-US" dirty="0"/>
              <a:t>Boosting</a:t>
            </a:r>
          </a:p>
        </p:txBody>
      </p:sp>
      <p:sp>
        <p:nvSpPr>
          <p:cNvPr id="3" name="Content Placeholder 2">
            <a:extLst>
              <a:ext uri="{FF2B5EF4-FFF2-40B4-BE49-F238E27FC236}">
                <a16:creationId xmlns:a16="http://schemas.microsoft.com/office/drawing/2014/main" id="{20F1737B-6BF4-8EE1-D358-6E67C44769F0}"/>
              </a:ext>
            </a:extLst>
          </p:cNvPr>
          <p:cNvSpPr>
            <a:spLocks noGrp="1"/>
          </p:cNvSpPr>
          <p:nvPr>
            <p:ph idx="1"/>
          </p:nvPr>
        </p:nvSpPr>
        <p:spPr/>
        <p:txBody>
          <a:bodyPr>
            <a:normAutofit/>
          </a:bodyPr>
          <a:lstStyle/>
          <a:p>
            <a:r>
              <a:rPr lang="en-US" dirty="0"/>
              <a:t>Main Assumption:</a:t>
            </a:r>
          </a:p>
          <a:p>
            <a:pPr lvl="1"/>
            <a:r>
              <a:rPr lang="en-US" dirty="0"/>
              <a:t>Combining many weak predictors (e.g. tree stumps) to produce an ensemble predictor</a:t>
            </a:r>
          </a:p>
          <a:p>
            <a:r>
              <a:rPr lang="en-US" dirty="0"/>
              <a:t>Hypothesis (classifier) Space</a:t>
            </a:r>
          </a:p>
          <a:p>
            <a:pPr lvl="1"/>
            <a:r>
              <a:rPr lang="en-US" dirty="0"/>
              <a:t>Variable size (nonparametric):</a:t>
            </a:r>
          </a:p>
          <a:p>
            <a:pPr lvl="2"/>
            <a:r>
              <a:rPr lang="en-US" dirty="0"/>
              <a:t>Can model any function if you use an appropriate predictor (e.g. trees)</a:t>
            </a:r>
          </a:p>
          <a:p>
            <a:pPr lvl="2"/>
            <a:r>
              <a:rPr lang="en-US" dirty="0"/>
              <a:t>Commonly used weak predictor: A decision tree stump</a:t>
            </a:r>
          </a:p>
          <a:p>
            <a:r>
              <a:rPr lang="en-US" dirty="0"/>
              <a:t>Each predictor is created by using a biased sample of the training data</a:t>
            </a:r>
          </a:p>
          <a:p>
            <a:pPr lvl="1"/>
            <a:r>
              <a:rPr lang="en-US" dirty="0"/>
              <a:t>Instances (training examples) with high error are weighted higher than those with lower error</a:t>
            </a:r>
          </a:p>
          <a:p>
            <a:r>
              <a:rPr lang="en-US" dirty="0"/>
              <a:t>Difficult instances get more attention</a:t>
            </a:r>
          </a:p>
          <a:p>
            <a:pPr marL="914400" lvl="2" indent="0">
              <a:buNone/>
            </a:pPr>
            <a:endParaRPr lang="en-US" dirty="0"/>
          </a:p>
          <a:p>
            <a:endParaRPr lang="en-US" dirty="0"/>
          </a:p>
        </p:txBody>
      </p:sp>
      <p:sp>
        <p:nvSpPr>
          <p:cNvPr id="4" name="Footer Placeholder 3">
            <a:extLst>
              <a:ext uri="{FF2B5EF4-FFF2-40B4-BE49-F238E27FC236}">
                <a16:creationId xmlns:a16="http://schemas.microsoft.com/office/drawing/2014/main" id="{221256A7-567B-19F4-5D41-AA69740AC7C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B9B7CA82-DE3B-BFAA-17AF-162728E309A2}"/>
              </a:ext>
            </a:extLst>
          </p:cNvPr>
          <p:cNvSpPr>
            <a:spLocks noGrp="1"/>
          </p:cNvSpPr>
          <p:nvPr>
            <p:ph type="sldNum" sz="quarter" idx="12"/>
          </p:nvPr>
        </p:nvSpPr>
        <p:spPr/>
        <p:txBody>
          <a:bodyPr/>
          <a:lstStyle/>
          <a:p>
            <a:fld id="{10A4AB6E-1AC4-C44F-A0CC-883A0306AF8B}" type="slidenum">
              <a:rPr lang="en-US" smtClean="0"/>
              <a:t>15</a:t>
            </a:fld>
            <a:endParaRPr lang="en-US"/>
          </a:p>
        </p:txBody>
      </p:sp>
      <p:grpSp>
        <p:nvGrpSpPr>
          <p:cNvPr id="15" name="Group 14" descr="A tree stump">
            <a:extLst>
              <a:ext uri="{FF2B5EF4-FFF2-40B4-BE49-F238E27FC236}">
                <a16:creationId xmlns:a16="http://schemas.microsoft.com/office/drawing/2014/main" id="{4539F7BC-0442-B1BF-0013-4B119E99594A}"/>
              </a:ext>
            </a:extLst>
          </p:cNvPr>
          <p:cNvGrpSpPr/>
          <p:nvPr/>
        </p:nvGrpSpPr>
        <p:grpSpPr>
          <a:xfrm>
            <a:off x="10349592" y="2424793"/>
            <a:ext cx="1004208" cy="1115786"/>
            <a:chOff x="4612821" y="4131129"/>
            <a:chExt cx="1004208" cy="1115786"/>
          </a:xfrm>
        </p:grpSpPr>
        <p:sp>
          <p:nvSpPr>
            <p:cNvPr id="6" name="Oval 5">
              <a:extLst>
                <a:ext uri="{FF2B5EF4-FFF2-40B4-BE49-F238E27FC236}">
                  <a16:creationId xmlns:a16="http://schemas.microsoft.com/office/drawing/2014/main" id="{C5BCD740-10C7-7B67-742A-56C3BE1F561F}"/>
                </a:ext>
              </a:extLst>
            </p:cNvPr>
            <p:cNvSpPr/>
            <p:nvPr/>
          </p:nvSpPr>
          <p:spPr>
            <a:xfrm>
              <a:off x="4947557" y="4131129"/>
              <a:ext cx="334736" cy="33473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7B6F720-218D-B026-B875-FD5883F95182}"/>
                </a:ext>
              </a:extLst>
            </p:cNvPr>
            <p:cNvSpPr/>
            <p:nvPr/>
          </p:nvSpPr>
          <p:spPr>
            <a:xfrm>
              <a:off x="4612821" y="4912179"/>
              <a:ext cx="334736" cy="33473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C22EB0F-8425-3A06-251C-8E9E87534C6E}"/>
                </a:ext>
              </a:extLst>
            </p:cNvPr>
            <p:cNvSpPr/>
            <p:nvPr/>
          </p:nvSpPr>
          <p:spPr>
            <a:xfrm>
              <a:off x="5282293" y="4912179"/>
              <a:ext cx="334736" cy="33473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A5BA98E1-3605-35C9-B817-1808AB0EF8D8}"/>
                </a:ext>
              </a:extLst>
            </p:cNvPr>
            <p:cNvCxnSpPr>
              <a:cxnSpLocks/>
              <a:stCxn id="6" idx="4"/>
              <a:endCxn id="7" idx="0"/>
            </p:cNvCxnSpPr>
            <p:nvPr/>
          </p:nvCxnSpPr>
          <p:spPr>
            <a:xfrm flipH="1">
              <a:off x="4780189" y="4465865"/>
              <a:ext cx="334736" cy="4463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10D4EF7-F0C8-D1B7-411A-116C34014D13}"/>
                </a:ext>
              </a:extLst>
            </p:cNvPr>
            <p:cNvCxnSpPr>
              <a:cxnSpLocks/>
              <a:stCxn id="6" idx="4"/>
              <a:endCxn id="8" idx="0"/>
            </p:cNvCxnSpPr>
            <p:nvPr/>
          </p:nvCxnSpPr>
          <p:spPr>
            <a:xfrm>
              <a:off x="5114925" y="4465865"/>
              <a:ext cx="334736" cy="44631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61038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4BD8-669B-E34B-EEAD-9D91B81762B7}"/>
              </a:ext>
            </a:extLst>
          </p:cNvPr>
          <p:cNvSpPr>
            <a:spLocks noGrp="1"/>
          </p:cNvSpPr>
          <p:nvPr>
            <p:ph type="title"/>
          </p:nvPr>
        </p:nvSpPr>
        <p:spPr/>
        <p:txBody>
          <a:bodyPr>
            <a:normAutofit fontScale="90000"/>
          </a:bodyPr>
          <a:lstStyle/>
          <a:p>
            <a:r>
              <a:rPr lang="en-US" dirty="0"/>
              <a:t>AdaBoost</a:t>
            </a:r>
          </a:p>
        </p:txBody>
      </p:sp>
      <p:pic>
        <p:nvPicPr>
          <p:cNvPr id="7" name="Content Placeholder 6" descr="Diagram illustrating ensemble classification through iterative weighting of original data and misclassified samples (AdaBoost). Three classifier stages show colored point clusters flowing from Original Data to Weighted Data, with green check-mark boxes for correct classifications, red X boxes for errors, ellipsis marking repeated stages, and final Ensemble Classifier combining outputs.">
            <a:extLst>
              <a:ext uri="{FF2B5EF4-FFF2-40B4-BE49-F238E27FC236}">
                <a16:creationId xmlns:a16="http://schemas.microsoft.com/office/drawing/2014/main" id="{C3E9BFCB-8184-5298-716E-19C1AF2E7786}"/>
              </a:ext>
            </a:extLst>
          </p:cNvPr>
          <p:cNvPicPr>
            <a:picLocks noGrp="1" noChangeAspect="1"/>
          </p:cNvPicPr>
          <p:nvPr>
            <p:ph idx="1"/>
          </p:nvPr>
        </p:nvPicPr>
        <p:blipFill>
          <a:blip r:embed="rId3"/>
          <a:stretch>
            <a:fillRect/>
          </a:stretch>
        </p:blipFill>
        <p:spPr>
          <a:xfrm>
            <a:off x="988841" y="1159556"/>
            <a:ext cx="10214318" cy="5011737"/>
          </a:xfrm>
          <a:prstGeom prst="rect">
            <a:avLst/>
          </a:prstGeom>
        </p:spPr>
      </p:pic>
      <p:sp>
        <p:nvSpPr>
          <p:cNvPr id="4" name="Footer Placeholder 3">
            <a:extLst>
              <a:ext uri="{FF2B5EF4-FFF2-40B4-BE49-F238E27FC236}">
                <a16:creationId xmlns:a16="http://schemas.microsoft.com/office/drawing/2014/main" id="{BB6B57FF-3DF8-DFC1-E9D2-C510CD9A2AD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95E069CE-111D-2198-3A4B-232A71A400D4}"/>
              </a:ext>
            </a:extLst>
          </p:cNvPr>
          <p:cNvSpPr>
            <a:spLocks noGrp="1"/>
          </p:cNvSpPr>
          <p:nvPr>
            <p:ph type="sldNum" sz="quarter" idx="12"/>
          </p:nvPr>
        </p:nvSpPr>
        <p:spPr/>
        <p:txBody>
          <a:bodyPr/>
          <a:lstStyle/>
          <a:p>
            <a:fld id="{10A4AB6E-1AC4-C44F-A0CC-883A0306AF8B}" type="slidenum">
              <a:rPr lang="en-US" smtClean="0"/>
              <a:t>16</a:t>
            </a:fld>
            <a:endParaRPr lang="en-US"/>
          </a:p>
        </p:txBody>
      </p:sp>
    </p:spTree>
    <p:extLst>
      <p:ext uri="{BB962C8B-B14F-4D97-AF65-F5344CB8AC3E}">
        <p14:creationId xmlns:p14="http://schemas.microsoft.com/office/powerpoint/2010/main" val="4215513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072BB-E888-7B2A-1BF8-5AE98697A943}"/>
              </a:ext>
            </a:extLst>
          </p:cNvPr>
          <p:cNvSpPr>
            <a:spLocks noGrp="1"/>
          </p:cNvSpPr>
          <p:nvPr>
            <p:ph type="title"/>
          </p:nvPr>
        </p:nvSpPr>
        <p:spPr/>
        <p:txBody>
          <a:bodyPr>
            <a:normAutofit fontScale="90000"/>
          </a:bodyPr>
          <a:lstStyle/>
          <a:p>
            <a:r>
              <a:rPr lang="en-US" dirty="0"/>
              <a:t>Gradient Boosting</a:t>
            </a:r>
          </a:p>
        </p:txBody>
      </p:sp>
      <p:sp>
        <p:nvSpPr>
          <p:cNvPr id="3" name="Content Placeholder 2">
            <a:extLst>
              <a:ext uri="{FF2B5EF4-FFF2-40B4-BE49-F238E27FC236}">
                <a16:creationId xmlns:a16="http://schemas.microsoft.com/office/drawing/2014/main" id="{56257880-BF63-51DC-D14B-9A96557380EB}"/>
              </a:ext>
            </a:extLst>
          </p:cNvPr>
          <p:cNvSpPr>
            <a:spLocks noGrp="1"/>
          </p:cNvSpPr>
          <p:nvPr>
            <p:ph idx="1"/>
          </p:nvPr>
        </p:nvSpPr>
        <p:spPr/>
        <p:txBody>
          <a:bodyPr>
            <a:normAutofit/>
          </a:bodyPr>
          <a:lstStyle/>
          <a:p>
            <a:r>
              <a:rPr lang="en-US" dirty="0"/>
              <a:t>Similar to AdaBoost in that it’s a sequential prediction.</a:t>
            </a:r>
          </a:p>
          <a:p>
            <a:r>
              <a:rPr lang="en-US" dirty="0"/>
              <a:t>However, Gradient Boosting is a sequential “correction” of the previous model’s errors.</a:t>
            </a:r>
          </a:p>
          <a:p>
            <a:r>
              <a:rPr lang="en-US" dirty="0"/>
              <a:t>Each model is trained on the previous model’s residual errors as labels (note, subsequent trees are being fit to residuals of previous trees, not the original data).</a:t>
            </a:r>
          </a:p>
          <a:p>
            <a:r>
              <a:rPr lang="en-US" dirty="0"/>
              <a:t>Weak trees are usually used as the base learner</a:t>
            </a:r>
          </a:p>
          <a:p>
            <a:endParaRPr lang="en-US" dirty="0"/>
          </a:p>
        </p:txBody>
      </p:sp>
      <p:sp>
        <p:nvSpPr>
          <p:cNvPr id="5" name="Slide Number Placeholder 4">
            <a:extLst>
              <a:ext uri="{FF2B5EF4-FFF2-40B4-BE49-F238E27FC236}">
                <a16:creationId xmlns:a16="http://schemas.microsoft.com/office/drawing/2014/main" id="{0A508E1D-2D5F-284E-A17D-44A7D7FFFBA2}"/>
              </a:ext>
            </a:extLst>
          </p:cNvPr>
          <p:cNvSpPr>
            <a:spLocks noGrp="1"/>
          </p:cNvSpPr>
          <p:nvPr>
            <p:ph type="sldNum" sz="quarter" idx="12"/>
          </p:nvPr>
        </p:nvSpPr>
        <p:spPr/>
        <p:txBody>
          <a:bodyPr/>
          <a:lstStyle/>
          <a:p>
            <a:fld id="{10A4AB6E-1AC4-C44F-A0CC-883A0306AF8B}" type="slidenum">
              <a:rPr lang="en-US" smtClean="0"/>
              <a:t>17</a:t>
            </a:fld>
            <a:endParaRPr lang="en-US"/>
          </a:p>
        </p:txBody>
      </p:sp>
      <p:pic>
        <p:nvPicPr>
          <p:cNvPr id="7" name="Picture 6" descr="Diagram illustrating gradient boosting, showing successive models fitting residual errors from an input signal. Blue input, green first and second model curves, and purple first residual curve demonstrate progression from global patterns toward local refinements.&#10;&#10;">
            <a:extLst>
              <a:ext uri="{FF2B5EF4-FFF2-40B4-BE49-F238E27FC236}">
                <a16:creationId xmlns:a16="http://schemas.microsoft.com/office/drawing/2014/main" id="{BE05E05E-6F49-ECF9-63D0-3207DB819954}"/>
              </a:ext>
            </a:extLst>
          </p:cNvPr>
          <p:cNvPicPr>
            <a:picLocks noChangeAspect="1"/>
          </p:cNvPicPr>
          <p:nvPr/>
        </p:nvPicPr>
        <p:blipFill>
          <a:blip r:embed="rId2"/>
          <a:stretch>
            <a:fillRect/>
          </a:stretch>
        </p:blipFill>
        <p:spPr>
          <a:xfrm>
            <a:off x="3879851" y="4259794"/>
            <a:ext cx="3843564" cy="2540798"/>
          </a:xfrm>
          <a:prstGeom prst="rect">
            <a:avLst/>
          </a:prstGeom>
        </p:spPr>
      </p:pic>
    </p:spTree>
    <p:extLst>
      <p:ext uri="{BB962C8B-B14F-4D97-AF65-F5344CB8AC3E}">
        <p14:creationId xmlns:p14="http://schemas.microsoft.com/office/powerpoint/2010/main" val="10506498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F39B3-B5F0-201B-48E5-F486C9524D8C}"/>
              </a:ext>
            </a:extLst>
          </p:cNvPr>
          <p:cNvSpPr>
            <a:spLocks noGrp="1"/>
          </p:cNvSpPr>
          <p:nvPr>
            <p:ph type="title"/>
          </p:nvPr>
        </p:nvSpPr>
        <p:spPr/>
        <p:txBody>
          <a:bodyPr>
            <a:normAutofit fontScale="90000"/>
          </a:bodyPr>
          <a:lstStyle/>
          <a:p>
            <a:r>
              <a:rPr lang="en-US" dirty="0"/>
              <a:t>Gradient Boosting Weak Learners</a:t>
            </a:r>
          </a:p>
        </p:txBody>
      </p:sp>
      <p:sp>
        <p:nvSpPr>
          <p:cNvPr id="3" name="Content Placeholder 2">
            <a:extLst>
              <a:ext uri="{FF2B5EF4-FFF2-40B4-BE49-F238E27FC236}">
                <a16:creationId xmlns:a16="http://schemas.microsoft.com/office/drawing/2014/main" id="{7B3EEE01-42CE-EC30-0F68-70FA41E7786C}"/>
              </a:ext>
            </a:extLst>
          </p:cNvPr>
          <p:cNvSpPr>
            <a:spLocks noGrp="1"/>
          </p:cNvSpPr>
          <p:nvPr>
            <p:ph idx="1"/>
          </p:nvPr>
        </p:nvSpPr>
        <p:spPr/>
        <p:txBody>
          <a:bodyPr/>
          <a:lstStyle/>
          <a:p>
            <a:r>
              <a:rPr lang="en-US" dirty="0"/>
              <a:t>Usually trees</a:t>
            </a:r>
          </a:p>
          <a:p>
            <a:pPr lvl="1"/>
            <a:r>
              <a:rPr lang="en-US" dirty="0"/>
              <a:t>Maximum # of leaves is usually set to 8 to 32</a:t>
            </a:r>
          </a:p>
          <a:p>
            <a:pPr lvl="1"/>
            <a:r>
              <a:rPr lang="en-US" dirty="0"/>
              <a:t>Iteration stops when loss is not reduced more than a threshold anymore, or that the specified maximum number of trees have been built.</a:t>
            </a:r>
          </a:p>
          <a:p>
            <a:pPr lvl="1"/>
            <a:r>
              <a:rPr lang="en-US" dirty="0"/>
              <a:t>The prediction of trees is multiplied by “learning rate”.</a:t>
            </a:r>
          </a:p>
          <a:p>
            <a:endParaRPr lang="en-US" dirty="0"/>
          </a:p>
        </p:txBody>
      </p:sp>
      <p:sp>
        <p:nvSpPr>
          <p:cNvPr id="4" name="Footer Placeholder 3">
            <a:extLst>
              <a:ext uri="{FF2B5EF4-FFF2-40B4-BE49-F238E27FC236}">
                <a16:creationId xmlns:a16="http://schemas.microsoft.com/office/drawing/2014/main" id="{F1B102C9-75B7-5ABD-381A-BB240AF9BDD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BBEA771A-A2EE-97C9-A6A1-C83B5ABBD02D}"/>
              </a:ext>
            </a:extLst>
          </p:cNvPr>
          <p:cNvSpPr>
            <a:spLocks noGrp="1"/>
          </p:cNvSpPr>
          <p:nvPr>
            <p:ph type="sldNum" sz="quarter" idx="12"/>
          </p:nvPr>
        </p:nvSpPr>
        <p:spPr/>
        <p:txBody>
          <a:bodyPr/>
          <a:lstStyle/>
          <a:p>
            <a:fld id="{10A4AB6E-1AC4-C44F-A0CC-883A0306AF8B}" type="slidenum">
              <a:rPr lang="en-US" smtClean="0"/>
              <a:t>18</a:t>
            </a:fld>
            <a:endParaRPr lang="en-US"/>
          </a:p>
        </p:txBody>
      </p:sp>
      <p:pic>
        <p:nvPicPr>
          <p:cNvPr id="7" name="Picture 6" descr="Diagram illustrating sequential gradient-boosting training, where Tree 1 predicts from \((X,y)\), then later trees learn residuals \(r_1=y-\hat y_1\), \(r_2=r_1-\hat r_1\), through \(r_N=r_{N-1}-\hat r_{N-1}\). Green arrows show residual propagation, blue “Train” arrows show model fitting, red “Predict” labels show predictions, and ellipses indicate additional trees between Tree 3 and Tree N. ">
            <a:extLst>
              <a:ext uri="{FF2B5EF4-FFF2-40B4-BE49-F238E27FC236}">
                <a16:creationId xmlns:a16="http://schemas.microsoft.com/office/drawing/2014/main" id="{DE4FE8F3-15AD-AEB7-7838-DD8A81EC7E80}"/>
              </a:ext>
            </a:extLst>
          </p:cNvPr>
          <p:cNvPicPr>
            <a:picLocks noChangeAspect="1"/>
          </p:cNvPicPr>
          <p:nvPr/>
        </p:nvPicPr>
        <p:blipFill>
          <a:blip r:embed="rId2"/>
          <a:stretch>
            <a:fillRect/>
          </a:stretch>
        </p:blipFill>
        <p:spPr>
          <a:xfrm>
            <a:off x="3097439" y="3167390"/>
            <a:ext cx="5997122" cy="2979132"/>
          </a:xfrm>
          <a:prstGeom prst="rect">
            <a:avLst/>
          </a:prstGeom>
        </p:spPr>
      </p:pic>
    </p:spTree>
    <p:extLst>
      <p:ext uri="{BB962C8B-B14F-4D97-AF65-F5344CB8AC3E}">
        <p14:creationId xmlns:p14="http://schemas.microsoft.com/office/powerpoint/2010/main" val="1344860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511B0-DDCF-B213-FECE-BA6198A41090}"/>
              </a:ext>
            </a:extLst>
          </p:cNvPr>
          <p:cNvSpPr>
            <a:spLocks noGrp="1"/>
          </p:cNvSpPr>
          <p:nvPr>
            <p:ph type="title"/>
          </p:nvPr>
        </p:nvSpPr>
        <p:spPr/>
        <p:txBody>
          <a:bodyPr>
            <a:normAutofit fontScale="90000"/>
          </a:bodyPr>
          <a:lstStyle/>
          <a:p>
            <a:r>
              <a:rPr lang="en-US" dirty="0"/>
              <a:t>Bagging and Boosting Comparison</a:t>
            </a:r>
          </a:p>
        </p:txBody>
      </p:sp>
      <p:sp>
        <p:nvSpPr>
          <p:cNvPr id="3" name="Content Placeholder 2">
            <a:extLst>
              <a:ext uri="{FF2B5EF4-FFF2-40B4-BE49-F238E27FC236}">
                <a16:creationId xmlns:a16="http://schemas.microsoft.com/office/drawing/2014/main" id="{5AEAA683-AB2E-5F5B-09CE-8F9CBFEA6C34}"/>
              </a:ext>
            </a:extLst>
          </p:cNvPr>
          <p:cNvSpPr>
            <a:spLocks noGrp="1"/>
          </p:cNvSpPr>
          <p:nvPr>
            <p:ph idx="1"/>
          </p:nvPr>
        </p:nvSpPr>
        <p:spPr/>
        <p:txBody>
          <a:bodyPr>
            <a:normAutofit/>
          </a:bodyPr>
          <a:lstStyle/>
          <a:p>
            <a:r>
              <a:rPr lang="en-US" dirty="0"/>
              <a:t>Ensemble models built from many simpler models</a:t>
            </a:r>
          </a:p>
          <a:p>
            <a:r>
              <a:rPr lang="en-US" dirty="0"/>
              <a:t>Two main methods:</a:t>
            </a:r>
          </a:p>
          <a:p>
            <a:pPr lvl="1"/>
            <a:r>
              <a:rPr lang="en-US" dirty="0"/>
              <a:t>Bagging (Bootstrap </a:t>
            </a:r>
            <a:r>
              <a:rPr lang="en-US" dirty="0" err="1"/>
              <a:t>AGgregation</a:t>
            </a:r>
            <a:r>
              <a:rPr lang="en-US" dirty="0"/>
              <a:t>): Train base models on bootstrap samples of the data. </a:t>
            </a:r>
          </a:p>
          <a:p>
            <a:pPr lvl="2"/>
            <a:r>
              <a:rPr lang="en-US" dirty="0"/>
              <a:t>Take majority vote for classification tasks, or average output for regression.</a:t>
            </a:r>
          </a:p>
          <a:p>
            <a:pPr lvl="1"/>
            <a:r>
              <a:rPr lang="en-US" dirty="0"/>
              <a:t>Boosting: Learners are ordered: Each learner tries to reduce error (residual) on “hard” examples (those misclassified by earlier learners).</a:t>
            </a:r>
          </a:p>
          <a:p>
            <a:pPr lvl="2"/>
            <a:r>
              <a:rPr lang="en-US" dirty="0"/>
              <a:t>ADABOOST: weight hard samples more; </a:t>
            </a:r>
          </a:p>
          <a:p>
            <a:pPr lvl="2"/>
            <a:r>
              <a:rPr lang="en-US" dirty="0"/>
              <a:t>GRADIENT BOOST: use residual to train later models.</a:t>
            </a:r>
          </a:p>
          <a:p>
            <a:endParaRPr lang="en-US" dirty="0"/>
          </a:p>
        </p:txBody>
      </p:sp>
      <p:sp>
        <p:nvSpPr>
          <p:cNvPr id="4" name="Footer Placeholder 3">
            <a:extLst>
              <a:ext uri="{FF2B5EF4-FFF2-40B4-BE49-F238E27FC236}">
                <a16:creationId xmlns:a16="http://schemas.microsoft.com/office/drawing/2014/main" id="{B09374B9-BEE1-3C5D-0FD6-362C6505EC1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9D9C9BBE-62E7-380B-2B15-A18AF7B631D3}"/>
              </a:ext>
            </a:extLst>
          </p:cNvPr>
          <p:cNvSpPr>
            <a:spLocks noGrp="1"/>
          </p:cNvSpPr>
          <p:nvPr>
            <p:ph type="sldNum" sz="quarter" idx="12"/>
          </p:nvPr>
        </p:nvSpPr>
        <p:spPr/>
        <p:txBody>
          <a:bodyPr/>
          <a:lstStyle/>
          <a:p>
            <a:fld id="{10A4AB6E-1AC4-C44F-A0CC-883A0306AF8B}" type="slidenum">
              <a:rPr lang="en-US" smtClean="0"/>
              <a:t>19</a:t>
            </a:fld>
            <a:endParaRPr lang="en-US"/>
          </a:p>
        </p:txBody>
      </p:sp>
    </p:spTree>
    <p:extLst>
      <p:ext uri="{BB962C8B-B14F-4D97-AF65-F5344CB8AC3E}">
        <p14:creationId xmlns:p14="http://schemas.microsoft.com/office/powerpoint/2010/main" val="2712078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1EE82-01E7-09FD-1D5A-2D2B43E005C9}"/>
              </a:ext>
            </a:extLst>
          </p:cNvPr>
          <p:cNvSpPr>
            <a:spLocks noGrp="1"/>
          </p:cNvSpPr>
          <p:nvPr>
            <p:ph type="title"/>
          </p:nvPr>
        </p:nvSpPr>
        <p:spPr/>
        <p:txBody>
          <a:bodyPr>
            <a:normAutofit fontScale="90000"/>
          </a:bodyPr>
          <a:lstStyle/>
          <a:p>
            <a:r>
              <a:rPr lang="en-US" dirty="0" err="1"/>
              <a:t>XGBoosting</a:t>
            </a:r>
            <a:r>
              <a:rPr lang="en-US" dirty="0"/>
              <a:t> (</a:t>
            </a:r>
            <a:r>
              <a:rPr lang="en-US" dirty="0" err="1"/>
              <a:t>eXtreme</a:t>
            </a:r>
            <a:r>
              <a:rPr lang="en-US" dirty="0"/>
              <a:t> Gradient Boosting)</a:t>
            </a:r>
          </a:p>
        </p:txBody>
      </p:sp>
      <p:sp>
        <p:nvSpPr>
          <p:cNvPr id="3" name="Content Placeholder 2">
            <a:extLst>
              <a:ext uri="{FF2B5EF4-FFF2-40B4-BE49-F238E27FC236}">
                <a16:creationId xmlns:a16="http://schemas.microsoft.com/office/drawing/2014/main" id="{3288DA80-BA59-07CF-71AC-413136BE3EFB}"/>
              </a:ext>
            </a:extLst>
          </p:cNvPr>
          <p:cNvSpPr>
            <a:spLocks noGrp="1"/>
          </p:cNvSpPr>
          <p:nvPr>
            <p:ph idx="1"/>
          </p:nvPr>
        </p:nvSpPr>
        <p:spPr/>
        <p:txBody>
          <a:bodyPr>
            <a:normAutofit/>
          </a:bodyPr>
          <a:lstStyle/>
          <a:p>
            <a:r>
              <a:rPr lang="en-US" dirty="0"/>
              <a:t>Ever since its introduction in 2014, </a:t>
            </a:r>
            <a:r>
              <a:rPr lang="en-US" dirty="0" err="1"/>
              <a:t>XGBoost</a:t>
            </a:r>
            <a:r>
              <a:rPr lang="en-US" dirty="0"/>
              <a:t> has been lauded as the holy grail of machine learning hackathons and competitions. </a:t>
            </a:r>
          </a:p>
          <a:p>
            <a:r>
              <a:rPr lang="en-US" dirty="0"/>
              <a:t>Execution Speed: Generally, </a:t>
            </a:r>
            <a:r>
              <a:rPr lang="en-US" dirty="0" err="1"/>
              <a:t>XGBoost</a:t>
            </a:r>
            <a:r>
              <a:rPr lang="en-US" dirty="0"/>
              <a:t> is fast. Really fast when compared to other implementations of gradient boosting</a:t>
            </a:r>
          </a:p>
          <a:p>
            <a:r>
              <a:rPr lang="en-US" dirty="0"/>
              <a:t>Model Performance: </a:t>
            </a:r>
            <a:r>
              <a:rPr lang="en-US" dirty="0" err="1"/>
              <a:t>XGBoost</a:t>
            </a:r>
            <a:r>
              <a:rPr lang="en-US" dirty="0"/>
              <a:t> dominates structured or tabular datasets on classification and regression predictive modeling problems.</a:t>
            </a:r>
          </a:p>
          <a:p>
            <a:endParaRPr lang="en-US" dirty="0"/>
          </a:p>
        </p:txBody>
      </p:sp>
      <p:sp>
        <p:nvSpPr>
          <p:cNvPr id="4" name="Footer Placeholder 3">
            <a:extLst>
              <a:ext uri="{FF2B5EF4-FFF2-40B4-BE49-F238E27FC236}">
                <a16:creationId xmlns:a16="http://schemas.microsoft.com/office/drawing/2014/main" id="{C1B988AB-D595-FBC5-0F33-A1B72DCEB5A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F9F52CE-2A2F-0639-661E-0F01D5AA3C1D}"/>
              </a:ext>
            </a:extLst>
          </p:cNvPr>
          <p:cNvSpPr>
            <a:spLocks noGrp="1"/>
          </p:cNvSpPr>
          <p:nvPr>
            <p:ph type="sldNum" sz="quarter" idx="12"/>
          </p:nvPr>
        </p:nvSpPr>
        <p:spPr/>
        <p:txBody>
          <a:bodyPr/>
          <a:lstStyle/>
          <a:p>
            <a:fld id="{10A4AB6E-1AC4-C44F-A0CC-883A0306AF8B}" type="slidenum">
              <a:rPr lang="en-US" smtClean="0"/>
              <a:t>20</a:t>
            </a:fld>
            <a:endParaRPr lang="en-US"/>
          </a:p>
        </p:txBody>
      </p:sp>
    </p:spTree>
    <p:extLst>
      <p:ext uri="{BB962C8B-B14F-4D97-AF65-F5344CB8AC3E}">
        <p14:creationId xmlns:p14="http://schemas.microsoft.com/office/powerpoint/2010/main" val="2504879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F4619-54C9-53E6-714A-B04CFFA832E3}"/>
              </a:ext>
            </a:extLst>
          </p:cNvPr>
          <p:cNvSpPr>
            <a:spLocks noGrp="1"/>
          </p:cNvSpPr>
          <p:nvPr>
            <p:ph type="title"/>
          </p:nvPr>
        </p:nvSpPr>
        <p:spPr/>
        <p:txBody>
          <a:bodyPr>
            <a:normAutofit fontScale="90000"/>
          </a:bodyPr>
          <a:lstStyle/>
          <a:p>
            <a:r>
              <a:rPr lang="en-US" dirty="0"/>
              <a:t>Other boosting methods</a:t>
            </a:r>
          </a:p>
        </p:txBody>
      </p:sp>
      <p:graphicFrame>
        <p:nvGraphicFramePr>
          <p:cNvPr id="6" name="Content Placeholder 5">
            <a:extLst>
              <a:ext uri="{FF2B5EF4-FFF2-40B4-BE49-F238E27FC236}">
                <a16:creationId xmlns:a16="http://schemas.microsoft.com/office/drawing/2014/main" id="{D1090371-CF5F-0DF6-282F-E59550137585}"/>
              </a:ext>
            </a:extLst>
          </p:cNvPr>
          <p:cNvGraphicFramePr>
            <a:graphicFrameLocks noGrp="1"/>
          </p:cNvGraphicFramePr>
          <p:nvPr>
            <p:ph idx="1"/>
            <p:extLst>
              <p:ext uri="{D42A27DB-BD31-4B8C-83A1-F6EECF244321}">
                <p14:modId xmlns:p14="http://schemas.microsoft.com/office/powerpoint/2010/main" val="3045649539"/>
              </p:ext>
            </p:extLst>
          </p:nvPr>
        </p:nvGraphicFramePr>
        <p:xfrm>
          <a:off x="91168" y="1094497"/>
          <a:ext cx="12009664" cy="5078838"/>
        </p:xfrm>
        <a:graphic>
          <a:graphicData uri="http://schemas.openxmlformats.org/drawingml/2006/table">
            <a:tbl>
              <a:tblPr firstRow="1">
                <a:tableStyleId>{073A0DAA-6AF3-43AB-8588-CEC1D06C72B9}</a:tableStyleId>
              </a:tblPr>
              <a:tblGrid>
                <a:gridCol w="1608364">
                  <a:extLst>
                    <a:ext uri="{9D8B030D-6E8A-4147-A177-3AD203B41FA5}">
                      <a16:colId xmlns:a16="http://schemas.microsoft.com/office/drawing/2014/main" val="1688554582"/>
                    </a:ext>
                  </a:extLst>
                </a:gridCol>
                <a:gridCol w="4396468">
                  <a:extLst>
                    <a:ext uri="{9D8B030D-6E8A-4147-A177-3AD203B41FA5}">
                      <a16:colId xmlns:a16="http://schemas.microsoft.com/office/drawing/2014/main" val="2897651965"/>
                    </a:ext>
                  </a:extLst>
                </a:gridCol>
                <a:gridCol w="3002416">
                  <a:extLst>
                    <a:ext uri="{9D8B030D-6E8A-4147-A177-3AD203B41FA5}">
                      <a16:colId xmlns:a16="http://schemas.microsoft.com/office/drawing/2014/main" val="1713455752"/>
                    </a:ext>
                  </a:extLst>
                </a:gridCol>
                <a:gridCol w="3002416">
                  <a:extLst>
                    <a:ext uri="{9D8B030D-6E8A-4147-A177-3AD203B41FA5}">
                      <a16:colId xmlns:a16="http://schemas.microsoft.com/office/drawing/2014/main" val="3767833652"/>
                    </a:ext>
                  </a:extLst>
                </a:gridCol>
              </a:tblGrid>
              <a:tr h="406480">
                <a:tc>
                  <a:txBody>
                    <a:bodyPr/>
                    <a:lstStyle/>
                    <a:p>
                      <a:pPr algn="l">
                        <a:buNone/>
                      </a:pPr>
                      <a:r>
                        <a:rPr lang="en-US" sz="2200" dirty="0">
                          <a:effectLst/>
                        </a:rPr>
                        <a:t>Method</a:t>
                      </a:r>
                      <a:endParaRPr lang="en-US" sz="2200" b="0" i="0" dirty="0">
                        <a:solidFill>
                          <a:srgbClr val="FFFFFF"/>
                        </a:solidFill>
                        <a:effectLst/>
                      </a:endParaRPr>
                    </a:p>
                  </a:txBody>
                  <a:tcPr marL="60382" marR="60382" marT="30191" marB="30191" anchor="ctr"/>
                </a:tc>
                <a:tc>
                  <a:txBody>
                    <a:bodyPr/>
                    <a:lstStyle/>
                    <a:p>
                      <a:pPr algn="l">
                        <a:buNone/>
                      </a:pPr>
                      <a:r>
                        <a:rPr lang="en-US" sz="2200" dirty="0">
                          <a:effectLst/>
                        </a:rPr>
                        <a:t>Core idea</a:t>
                      </a:r>
                      <a:endParaRPr lang="en-US" sz="2200" b="0" i="0" dirty="0">
                        <a:solidFill>
                          <a:srgbClr val="FFFFFF"/>
                        </a:solidFill>
                        <a:effectLst/>
                      </a:endParaRPr>
                    </a:p>
                  </a:txBody>
                  <a:tcPr marL="60382" marR="60382" marT="30191" marB="30191" anchor="ctr"/>
                </a:tc>
                <a:tc>
                  <a:txBody>
                    <a:bodyPr/>
                    <a:lstStyle/>
                    <a:p>
                      <a:pPr algn="l">
                        <a:buNone/>
                      </a:pPr>
                      <a:r>
                        <a:rPr lang="en-US" sz="2200" dirty="0">
                          <a:effectLst/>
                        </a:rPr>
                        <a:t>Main strength</a:t>
                      </a:r>
                      <a:endParaRPr lang="en-US" sz="2200" b="0" i="0" dirty="0">
                        <a:solidFill>
                          <a:srgbClr val="FFFFFF"/>
                        </a:solidFill>
                        <a:effectLst/>
                      </a:endParaRPr>
                    </a:p>
                  </a:txBody>
                  <a:tcPr marL="60382" marR="60382" marT="30191" marB="30191" anchor="ctr"/>
                </a:tc>
                <a:tc>
                  <a:txBody>
                    <a:bodyPr/>
                    <a:lstStyle/>
                    <a:p>
                      <a:pPr algn="l">
                        <a:buNone/>
                      </a:pPr>
                      <a:r>
                        <a:rPr lang="en-US" sz="2200" dirty="0">
                          <a:effectLst/>
                        </a:rPr>
                        <a:t>Main weakness</a:t>
                      </a:r>
                      <a:endParaRPr lang="en-US" sz="2200" b="0" i="0" dirty="0">
                        <a:solidFill>
                          <a:srgbClr val="FFFFFF"/>
                        </a:solidFill>
                        <a:effectLst/>
                      </a:endParaRPr>
                    </a:p>
                  </a:txBody>
                  <a:tcPr marL="60382" marR="60382" marT="30191" marB="30191" anchor="ctr"/>
                </a:tc>
                <a:extLst>
                  <a:ext uri="{0D108BD9-81ED-4DB2-BD59-A6C34878D82A}">
                    <a16:rowId xmlns:a16="http://schemas.microsoft.com/office/drawing/2014/main" val="376845054"/>
                  </a:ext>
                </a:extLst>
              </a:tr>
              <a:tr h="712064">
                <a:tc>
                  <a:txBody>
                    <a:bodyPr/>
                    <a:lstStyle/>
                    <a:p>
                      <a:pPr algn="l">
                        <a:buNone/>
                      </a:pPr>
                      <a:r>
                        <a:rPr lang="en-US" sz="2200">
                          <a:effectLst/>
                        </a:rPr>
                        <a:t>AdaBoost</a:t>
                      </a:r>
                      <a:endParaRPr lang="en-US" sz="2200" b="0" i="0">
                        <a:solidFill>
                          <a:srgbClr val="FFFFFF"/>
                        </a:solidFill>
                        <a:effectLst/>
                      </a:endParaRPr>
                    </a:p>
                  </a:txBody>
                  <a:tcPr marL="60382" marR="60382" marT="30191" marB="30191" anchor="ctr"/>
                </a:tc>
                <a:tc>
                  <a:txBody>
                    <a:bodyPr/>
                    <a:lstStyle/>
                    <a:p>
                      <a:pPr algn="l">
                        <a:buNone/>
                      </a:pPr>
                      <a:r>
                        <a:rPr lang="en-US" sz="2200">
                          <a:effectLst/>
                        </a:rPr>
                        <a:t>Sequentially focus on mistakes</a:t>
                      </a:r>
                      <a:endParaRPr lang="en-US" sz="2200" b="0" i="0">
                        <a:solidFill>
                          <a:srgbClr val="FFFFFF"/>
                        </a:solidFill>
                        <a:effectLst/>
                      </a:endParaRPr>
                    </a:p>
                  </a:txBody>
                  <a:tcPr marL="60382" marR="60382" marT="30191" marB="30191" anchor="ctr"/>
                </a:tc>
                <a:tc>
                  <a:txBody>
                    <a:bodyPr/>
                    <a:lstStyle/>
                    <a:p>
                      <a:pPr algn="l">
                        <a:buNone/>
                      </a:pPr>
                      <a:r>
                        <a:rPr lang="en-US" sz="2200" dirty="0">
                          <a:effectLst/>
                        </a:rPr>
                        <a:t>Simple boosting method</a:t>
                      </a:r>
                      <a:endParaRPr lang="en-US" sz="2200" b="0" i="0" dirty="0">
                        <a:solidFill>
                          <a:srgbClr val="FFFFFF"/>
                        </a:solidFill>
                        <a:effectLst/>
                      </a:endParaRPr>
                    </a:p>
                  </a:txBody>
                  <a:tcPr marL="60382" marR="60382" marT="30191" marB="30191" anchor="ctr"/>
                </a:tc>
                <a:tc>
                  <a:txBody>
                    <a:bodyPr/>
                    <a:lstStyle/>
                    <a:p>
                      <a:pPr algn="l">
                        <a:buNone/>
                      </a:pPr>
                      <a:r>
                        <a:rPr lang="en-US" sz="2200" dirty="0">
                          <a:effectLst/>
                        </a:rPr>
                        <a:t>Sensitive to noise/outliers</a:t>
                      </a:r>
                      <a:endParaRPr lang="en-US" sz="2200" b="0" i="0" dirty="0">
                        <a:solidFill>
                          <a:srgbClr val="FFFFFF"/>
                        </a:solidFill>
                        <a:effectLst/>
                      </a:endParaRPr>
                    </a:p>
                  </a:txBody>
                  <a:tcPr marL="60382" marR="60382" marT="30191" marB="30191" anchor="ctr"/>
                </a:tc>
                <a:extLst>
                  <a:ext uri="{0D108BD9-81ED-4DB2-BD59-A6C34878D82A}">
                    <a16:rowId xmlns:a16="http://schemas.microsoft.com/office/drawing/2014/main" val="1275742293"/>
                  </a:ext>
                </a:extLst>
              </a:tr>
              <a:tr h="712064">
                <a:tc>
                  <a:txBody>
                    <a:bodyPr/>
                    <a:lstStyle/>
                    <a:p>
                      <a:pPr algn="l">
                        <a:buNone/>
                      </a:pPr>
                      <a:r>
                        <a:rPr lang="en-US" sz="2200">
                          <a:effectLst/>
                        </a:rPr>
                        <a:t>Gradient boosting</a:t>
                      </a:r>
                      <a:endParaRPr lang="en-US" sz="2200" b="0" i="0">
                        <a:solidFill>
                          <a:srgbClr val="FFFFFF"/>
                        </a:solidFill>
                        <a:effectLst/>
                      </a:endParaRPr>
                    </a:p>
                  </a:txBody>
                  <a:tcPr marL="60382" marR="60382" marT="30191" marB="30191" anchor="ctr"/>
                </a:tc>
                <a:tc>
                  <a:txBody>
                    <a:bodyPr/>
                    <a:lstStyle/>
                    <a:p>
                      <a:pPr algn="l">
                        <a:buNone/>
                      </a:pPr>
                      <a:r>
                        <a:rPr lang="en-US" sz="2200">
                          <a:effectLst/>
                        </a:rPr>
                        <a:t>Sequentially fit trees to residual errors</a:t>
                      </a:r>
                      <a:endParaRPr lang="en-US" sz="2200" b="0" i="0">
                        <a:solidFill>
                          <a:srgbClr val="FFFFFF"/>
                        </a:solidFill>
                        <a:effectLst/>
                      </a:endParaRPr>
                    </a:p>
                  </a:txBody>
                  <a:tcPr marL="60382" marR="60382" marT="30191" marB="30191" anchor="ctr"/>
                </a:tc>
                <a:tc>
                  <a:txBody>
                    <a:bodyPr/>
                    <a:lstStyle/>
                    <a:p>
                      <a:pPr algn="l">
                        <a:buNone/>
                      </a:pPr>
                      <a:r>
                        <a:rPr lang="en-US" sz="2200" dirty="0">
                          <a:effectLst/>
                        </a:rPr>
                        <a:t>Very accurate</a:t>
                      </a:r>
                      <a:endParaRPr lang="en-US" sz="2200" b="0" i="0" dirty="0">
                        <a:solidFill>
                          <a:srgbClr val="FFFFFF"/>
                        </a:solidFill>
                        <a:effectLst/>
                      </a:endParaRPr>
                    </a:p>
                  </a:txBody>
                  <a:tcPr marL="60382" marR="60382" marT="30191" marB="30191" anchor="ctr"/>
                </a:tc>
                <a:tc>
                  <a:txBody>
                    <a:bodyPr/>
                    <a:lstStyle/>
                    <a:p>
                      <a:pPr algn="l">
                        <a:buNone/>
                      </a:pPr>
                      <a:r>
                        <a:rPr lang="en-US" sz="2200">
                          <a:effectLst/>
                        </a:rPr>
                        <a:t>Can overfit; tuning matters</a:t>
                      </a:r>
                      <a:endParaRPr lang="en-US" sz="2200" b="0" i="0">
                        <a:solidFill>
                          <a:srgbClr val="FFFFFF"/>
                        </a:solidFill>
                        <a:effectLst/>
                      </a:endParaRPr>
                    </a:p>
                  </a:txBody>
                  <a:tcPr marL="60382" marR="60382" marT="30191" marB="30191" anchor="ctr"/>
                </a:tc>
                <a:extLst>
                  <a:ext uri="{0D108BD9-81ED-4DB2-BD59-A6C34878D82A}">
                    <a16:rowId xmlns:a16="http://schemas.microsoft.com/office/drawing/2014/main" val="1550398212"/>
                  </a:ext>
                </a:extLst>
              </a:tr>
              <a:tr h="712064">
                <a:tc>
                  <a:txBody>
                    <a:bodyPr/>
                    <a:lstStyle/>
                    <a:p>
                      <a:pPr algn="l">
                        <a:buNone/>
                      </a:pPr>
                      <a:r>
                        <a:rPr lang="en-US" sz="2200">
                          <a:effectLst/>
                        </a:rPr>
                        <a:t>XGBoost</a:t>
                      </a:r>
                      <a:endParaRPr lang="en-US" sz="2200" b="0" i="0">
                        <a:solidFill>
                          <a:srgbClr val="FFFFFF"/>
                        </a:solidFill>
                        <a:effectLst/>
                      </a:endParaRPr>
                    </a:p>
                  </a:txBody>
                  <a:tcPr marL="60382" marR="60382" marT="30191" marB="30191" anchor="ctr"/>
                </a:tc>
                <a:tc>
                  <a:txBody>
                    <a:bodyPr/>
                    <a:lstStyle/>
                    <a:p>
                      <a:pPr algn="l">
                        <a:buNone/>
                      </a:pPr>
                      <a:r>
                        <a:rPr lang="en-US" sz="2200">
                          <a:effectLst/>
                        </a:rPr>
                        <a:t>Regularized gradient boosting</a:t>
                      </a:r>
                      <a:endParaRPr lang="en-US" sz="2200" b="0" i="0">
                        <a:solidFill>
                          <a:srgbClr val="FFFFFF"/>
                        </a:solidFill>
                        <a:effectLst/>
                      </a:endParaRPr>
                    </a:p>
                  </a:txBody>
                  <a:tcPr marL="60382" marR="60382" marT="30191" marB="30191" anchor="ctr"/>
                </a:tc>
                <a:tc>
                  <a:txBody>
                    <a:bodyPr/>
                    <a:lstStyle/>
                    <a:p>
                      <a:pPr algn="l">
                        <a:buNone/>
                      </a:pPr>
                      <a:r>
                        <a:rPr lang="en-US" sz="2200" dirty="0">
                          <a:effectLst/>
                        </a:rPr>
                        <a:t>Excellent tabular performance</a:t>
                      </a:r>
                      <a:endParaRPr lang="en-US" sz="2200" b="0" i="0" dirty="0">
                        <a:solidFill>
                          <a:srgbClr val="FFFFFF"/>
                        </a:solidFill>
                        <a:effectLst/>
                      </a:endParaRPr>
                    </a:p>
                  </a:txBody>
                  <a:tcPr marL="60382" marR="60382" marT="30191" marB="30191" anchor="ctr"/>
                </a:tc>
                <a:tc>
                  <a:txBody>
                    <a:bodyPr/>
                    <a:lstStyle/>
                    <a:p>
                      <a:pPr algn="l">
                        <a:buNone/>
                      </a:pPr>
                      <a:r>
                        <a:rPr lang="en-US" sz="2200">
                          <a:effectLst/>
                        </a:rPr>
                        <a:t>Many tuning parameters</a:t>
                      </a:r>
                      <a:endParaRPr lang="en-US" sz="2200" b="0" i="0">
                        <a:solidFill>
                          <a:srgbClr val="FFFFFF"/>
                        </a:solidFill>
                        <a:effectLst/>
                      </a:endParaRPr>
                    </a:p>
                  </a:txBody>
                  <a:tcPr marL="60382" marR="60382" marT="30191" marB="30191" anchor="ctr"/>
                </a:tc>
                <a:extLst>
                  <a:ext uri="{0D108BD9-81ED-4DB2-BD59-A6C34878D82A}">
                    <a16:rowId xmlns:a16="http://schemas.microsoft.com/office/drawing/2014/main" val="2211191424"/>
                  </a:ext>
                </a:extLst>
              </a:tr>
              <a:tr h="712064">
                <a:tc>
                  <a:txBody>
                    <a:bodyPr/>
                    <a:lstStyle/>
                    <a:p>
                      <a:pPr algn="l">
                        <a:buNone/>
                      </a:pPr>
                      <a:r>
                        <a:rPr lang="en-US" sz="2200">
                          <a:effectLst/>
                        </a:rPr>
                        <a:t>LightGBM</a:t>
                      </a:r>
                      <a:endParaRPr lang="en-US" sz="2200" b="0" i="0">
                        <a:solidFill>
                          <a:srgbClr val="FFFFFF"/>
                        </a:solidFill>
                        <a:effectLst/>
                      </a:endParaRPr>
                    </a:p>
                  </a:txBody>
                  <a:tcPr marL="60382" marR="60382" marT="30191" marB="30191" anchor="ctr"/>
                </a:tc>
                <a:tc>
                  <a:txBody>
                    <a:bodyPr/>
                    <a:lstStyle/>
                    <a:p>
                      <a:pPr algn="l">
                        <a:buNone/>
                      </a:pPr>
                      <a:r>
                        <a:rPr lang="en-US" sz="2200">
                          <a:effectLst/>
                        </a:rPr>
                        <a:t>Fast gradient boosting with leaf-wise growth</a:t>
                      </a:r>
                      <a:endParaRPr lang="en-US" sz="2200" b="0" i="0">
                        <a:solidFill>
                          <a:srgbClr val="FFFFFF"/>
                        </a:solidFill>
                        <a:effectLst/>
                      </a:endParaRPr>
                    </a:p>
                  </a:txBody>
                  <a:tcPr marL="60382" marR="60382" marT="30191" marB="30191" anchor="ctr"/>
                </a:tc>
                <a:tc>
                  <a:txBody>
                    <a:bodyPr/>
                    <a:lstStyle/>
                    <a:p>
                      <a:pPr algn="l">
                        <a:buNone/>
                      </a:pPr>
                      <a:r>
                        <a:rPr lang="en-US" sz="2200">
                          <a:effectLst/>
                        </a:rPr>
                        <a:t>Very fast on large data</a:t>
                      </a:r>
                      <a:endParaRPr lang="en-US" sz="2200" b="0" i="0">
                        <a:solidFill>
                          <a:srgbClr val="FFFFFF"/>
                        </a:solidFill>
                        <a:effectLst/>
                      </a:endParaRPr>
                    </a:p>
                  </a:txBody>
                  <a:tcPr marL="60382" marR="60382" marT="30191" marB="30191" anchor="ctr"/>
                </a:tc>
                <a:tc>
                  <a:txBody>
                    <a:bodyPr/>
                    <a:lstStyle/>
                    <a:p>
                      <a:pPr algn="l">
                        <a:buNone/>
                      </a:pPr>
                      <a:r>
                        <a:rPr lang="en-US" sz="2200" dirty="0">
                          <a:effectLst/>
                        </a:rPr>
                        <a:t>Can overfit small/noisy datasets</a:t>
                      </a:r>
                      <a:endParaRPr lang="en-US" sz="2200" b="0" i="0" dirty="0">
                        <a:solidFill>
                          <a:srgbClr val="FFFFFF"/>
                        </a:solidFill>
                        <a:effectLst/>
                      </a:endParaRPr>
                    </a:p>
                  </a:txBody>
                  <a:tcPr marL="60382" marR="60382" marT="30191" marB="30191" anchor="ctr"/>
                </a:tc>
                <a:extLst>
                  <a:ext uri="{0D108BD9-81ED-4DB2-BD59-A6C34878D82A}">
                    <a16:rowId xmlns:a16="http://schemas.microsoft.com/office/drawing/2014/main" val="2784157106"/>
                  </a:ext>
                </a:extLst>
              </a:tr>
              <a:tr h="1017648">
                <a:tc>
                  <a:txBody>
                    <a:bodyPr/>
                    <a:lstStyle/>
                    <a:p>
                      <a:pPr algn="l">
                        <a:buNone/>
                      </a:pPr>
                      <a:r>
                        <a:rPr lang="en-US" sz="2200">
                          <a:effectLst/>
                        </a:rPr>
                        <a:t>CatBoost</a:t>
                      </a:r>
                      <a:endParaRPr lang="en-US" sz="2200" b="0" i="0">
                        <a:solidFill>
                          <a:srgbClr val="FFFFFF"/>
                        </a:solidFill>
                        <a:effectLst/>
                      </a:endParaRPr>
                    </a:p>
                  </a:txBody>
                  <a:tcPr marL="60382" marR="60382" marT="30191" marB="30191" anchor="ctr"/>
                </a:tc>
                <a:tc>
                  <a:txBody>
                    <a:bodyPr/>
                    <a:lstStyle/>
                    <a:p>
                      <a:pPr algn="l">
                        <a:buNone/>
                      </a:pPr>
                      <a:r>
                        <a:rPr lang="en-US" sz="2200">
                          <a:effectLst/>
                        </a:rPr>
                        <a:t>Gradient boosting optimized for categorical variables</a:t>
                      </a:r>
                      <a:endParaRPr lang="en-US" sz="2200" b="0" i="0">
                        <a:solidFill>
                          <a:srgbClr val="FFFFFF"/>
                        </a:solidFill>
                        <a:effectLst/>
                      </a:endParaRPr>
                    </a:p>
                  </a:txBody>
                  <a:tcPr marL="60382" marR="60382" marT="30191" marB="30191" anchor="ctr"/>
                </a:tc>
                <a:tc>
                  <a:txBody>
                    <a:bodyPr/>
                    <a:lstStyle/>
                    <a:p>
                      <a:pPr algn="l">
                        <a:buNone/>
                      </a:pPr>
                      <a:r>
                        <a:rPr lang="en-US" sz="2200">
                          <a:effectLst/>
                        </a:rPr>
                        <a:t>Great with categorical predictors</a:t>
                      </a:r>
                      <a:endParaRPr lang="en-US" sz="2200" b="0" i="0">
                        <a:solidFill>
                          <a:srgbClr val="FFFFFF"/>
                        </a:solidFill>
                        <a:effectLst/>
                      </a:endParaRPr>
                    </a:p>
                  </a:txBody>
                  <a:tcPr marL="60382" marR="60382" marT="30191" marB="30191" anchor="ctr"/>
                </a:tc>
                <a:tc>
                  <a:txBody>
                    <a:bodyPr/>
                    <a:lstStyle/>
                    <a:p>
                      <a:pPr algn="l">
                        <a:buNone/>
                      </a:pPr>
                      <a:r>
                        <a:rPr lang="en-US" sz="2200">
                          <a:effectLst/>
                        </a:rPr>
                        <a:t>Slightly less transparent</a:t>
                      </a:r>
                      <a:endParaRPr lang="en-US" sz="2200" b="0" i="0">
                        <a:solidFill>
                          <a:srgbClr val="FFFFFF"/>
                        </a:solidFill>
                        <a:effectLst/>
                      </a:endParaRPr>
                    </a:p>
                  </a:txBody>
                  <a:tcPr marL="60382" marR="60382" marT="30191" marB="30191" anchor="ctr"/>
                </a:tc>
                <a:extLst>
                  <a:ext uri="{0D108BD9-81ED-4DB2-BD59-A6C34878D82A}">
                    <a16:rowId xmlns:a16="http://schemas.microsoft.com/office/drawing/2014/main" val="2233429088"/>
                  </a:ext>
                </a:extLst>
              </a:tr>
              <a:tr h="712064">
                <a:tc>
                  <a:txBody>
                    <a:bodyPr/>
                    <a:lstStyle/>
                    <a:p>
                      <a:pPr algn="l">
                        <a:buNone/>
                      </a:pPr>
                      <a:r>
                        <a:rPr lang="en-US" sz="2200">
                          <a:effectLst/>
                        </a:rPr>
                        <a:t>BART</a:t>
                      </a:r>
                      <a:endParaRPr lang="en-US" sz="2200" b="0" i="0">
                        <a:solidFill>
                          <a:srgbClr val="FFFFFF"/>
                        </a:solidFill>
                        <a:effectLst/>
                      </a:endParaRPr>
                    </a:p>
                  </a:txBody>
                  <a:tcPr marL="60382" marR="60382" marT="30191" marB="30191" anchor="ctr"/>
                </a:tc>
                <a:tc>
                  <a:txBody>
                    <a:bodyPr/>
                    <a:lstStyle/>
                    <a:p>
                      <a:pPr algn="l">
                        <a:buNone/>
                      </a:pPr>
                      <a:r>
                        <a:rPr lang="en-US" sz="2200">
                          <a:effectLst/>
                        </a:rPr>
                        <a:t>Bayesian sum of trees</a:t>
                      </a:r>
                      <a:endParaRPr lang="en-US" sz="2200" b="0" i="0">
                        <a:solidFill>
                          <a:srgbClr val="FFFFFF"/>
                        </a:solidFill>
                        <a:effectLst/>
                      </a:endParaRPr>
                    </a:p>
                  </a:txBody>
                  <a:tcPr marL="60382" marR="60382" marT="30191" marB="30191" anchor="ctr"/>
                </a:tc>
                <a:tc>
                  <a:txBody>
                    <a:bodyPr/>
                    <a:lstStyle/>
                    <a:p>
                      <a:pPr algn="l">
                        <a:buNone/>
                      </a:pPr>
                      <a:r>
                        <a:rPr lang="en-US" sz="2200">
                          <a:effectLst/>
                        </a:rPr>
                        <a:t>Uncertainty-aware, flexible</a:t>
                      </a:r>
                      <a:endParaRPr lang="en-US" sz="2200" b="0" i="0">
                        <a:solidFill>
                          <a:srgbClr val="FFFFFF"/>
                        </a:solidFill>
                        <a:effectLst/>
                      </a:endParaRPr>
                    </a:p>
                  </a:txBody>
                  <a:tcPr marL="60382" marR="60382" marT="30191" marB="30191" anchor="ctr"/>
                </a:tc>
                <a:tc>
                  <a:txBody>
                    <a:bodyPr/>
                    <a:lstStyle/>
                    <a:p>
                      <a:pPr algn="l">
                        <a:buNone/>
                      </a:pPr>
                      <a:r>
                        <a:rPr lang="en-US" sz="2200" dirty="0">
                          <a:effectLst/>
                        </a:rPr>
                        <a:t>Slower, less common in basic ML workflows</a:t>
                      </a:r>
                      <a:endParaRPr lang="en-US" sz="2200" b="0" i="0" dirty="0">
                        <a:solidFill>
                          <a:srgbClr val="FFFFFF"/>
                        </a:solidFill>
                        <a:effectLst/>
                      </a:endParaRPr>
                    </a:p>
                  </a:txBody>
                  <a:tcPr marL="60382" marR="60382" marT="30191" marB="30191" anchor="ctr"/>
                </a:tc>
                <a:extLst>
                  <a:ext uri="{0D108BD9-81ED-4DB2-BD59-A6C34878D82A}">
                    <a16:rowId xmlns:a16="http://schemas.microsoft.com/office/drawing/2014/main" val="2529109619"/>
                  </a:ext>
                </a:extLst>
              </a:tr>
            </a:tbl>
          </a:graphicData>
        </a:graphic>
      </p:graphicFrame>
      <p:sp>
        <p:nvSpPr>
          <p:cNvPr id="4" name="Footer Placeholder 3">
            <a:extLst>
              <a:ext uri="{FF2B5EF4-FFF2-40B4-BE49-F238E27FC236}">
                <a16:creationId xmlns:a16="http://schemas.microsoft.com/office/drawing/2014/main" id="{2F40A1B5-73F7-831C-A9A0-33C20E45F44F}"/>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B165EED-E4CC-148C-FF26-4D27AC3F8FD5}"/>
              </a:ext>
            </a:extLst>
          </p:cNvPr>
          <p:cNvSpPr>
            <a:spLocks noGrp="1"/>
          </p:cNvSpPr>
          <p:nvPr>
            <p:ph type="sldNum" sz="quarter" idx="12"/>
          </p:nvPr>
        </p:nvSpPr>
        <p:spPr/>
        <p:txBody>
          <a:bodyPr/>
          <a:lstStyle/>
          <a:p>
            <a:fld id="{10A4AB6E-1AC4-C44F-A0CC-883A0306AF8B}" type="slidenum">
              <a:rPr lang="en-US" smtClean="0"/>
              <a:t>21</a:t>
            </a:fld>
            <a:endParaRPr lang="en-US"/>
          </a:p>
        </p:txBody>
      </p:sp>
    </p:spTree>
    <p:extLst>
      <p:ext uri="{BB962C8B-B14F-4D97-AF65-F5344CB8AC3E}">
        <p14:creationId xmlns:p14="http://schemas.microsoft.com/office/powerpoint/2010/main" val="32021054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70B29-449C-B699-7AE2-1132D46B6968}"/>
              </a:ext>
            </a:extLst>
          </p:cNvPr>
          <p:cNvSpPr>
            <a:spLocks noGrp="1"/>
          </p:cNvSpPr>
          <p:nvPr>
            <p:ph type="title"/>
          </p:nvPr>
        </p:nvSpPr>
        <p:spPr/>
        <p:txBody>
          <a:bodyPr>
            <a:normAutofit fontScale="90000"/>
          </a:bodyPr>
          <a:lstStyle/>
          <a:p>
            <a:r>
              <a:rPr lang="en-US" dirty="0"/>
              <a:t>Key Cautions</a:t>
            </a:r>
          </a:p>
        </p:txBody>
      </p:sp>
      <p:sp>
        <p:nvSpPr>
          <p:cNvPr id="3" name="Content Placeholder 2">
            <a:extLst>
              <a:ext uri="{FF2B5EF4-FFF2-40B4-BE49-F238E27FC236}">
                <a16:creationId xmlns:a16="http://schemas.microsoft.com/office/drawing/2014/main" id="{1D652F5F-17A0-55E5-CAA8-27CA15A84937}"/>
              </a:ext>
            </a:extLst>
          </p:cNvPr>
          <p:cNvSpPr>
            <a:spLocks noGrp="1"/>
          </p:cNvSpPr>
          <p:nvPr>
            <p:ph idx="1"/>
          </p:nvPr>
        </p:nvSpPr>
        <p:spPr/>
        <p:txBody>
          <a:bodyPr>
            <a:normAutofit/>
          </a:bodyPr>
          <a:lstStyle/>
          <a:p>
            <a:r>
              <a:rPr lang="en-US" dirty="0"/>
              <a:t>They can learn location, sampling design, or seasonality instead of process.</a:t>
            </a:r>
          </a:p>
          <a:p>
            <a:r>
              <a:rPr lang="en-US" dirty="0"/>
              <a:t>They do not extrapolate well outside the training range.</a:t>
            </a:r>
          </a:p>
          <a:p>
            <a:r>
              <a:rPr lang="en-US" dirty="0"/>
              <a:t>Feature importance is not causality.</a:t>
            </a:r>
          </a:p>
          <a:p>
            <a:r>
              <a:rPr lang="en-US" dirty="0"/>
              <a:t>Correlated predictors complicate interpretation.</a:t>
            </a:r>
          </a:p>
          <a:p>
            <a:r>
              <a:rPr lang="en-US" dirty="0"/>
              <a:t>Spatial and temporal validation are often more important than model choice.</a:t>
            </a:r>
          </a:p>
        </p:txBody>
      </p:sp>
      <p:sp>
        <p:nvSpPr>
          <p:cNvPr id="4" name="Footer Placeholder 3">
            <a:extLst>
              <a:ext uri="{FF2B5EF4-FFF2-40B4-BE49-F238E27FC236}">
                <a16:creationId xmlns:a16="http://schemas.microsoft.com/office/drawing/2014/main" id="{0F56F191-E74E-6CCE-247C-228E8FAD26C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C5D449B-2EC9-F560-3480-EF0FC29BDD0F}"/>
              </a:ext>
            </a:extLst>
          </p:cNvPr>
          <p:cNvSpPr>
            <a:spLocks noGrp="1"/>
          </p:cNvSpPr>
          <p:nvPr>
            <p:ph type="sldNum" sz="quarter" idx="12"/>
          </p:nvPr>
        </p:nvSpPr>
        <p:spPr/>
        <p:txBody>
          <a:bodyPr/>
          <a:lstStyle/>
          <a:p>
            <a:fld id="{10A4AB6E-1AC4-C44F-A0CC-883A0306AF8B}" type="slidenum">
              <a:rPr lang="en-US" smtClean="0"/>
              <a:t>22</a:t>
            </a:fld>
            <a:endParaRPr lang="en-US"/>
          </a:p>
        </p:txBody>
      </p:sp>
    </p:spTree>
    <p:extLst>
      <p:ext uri="{BB962C8B-B14F-4D97-AF65-F5344CB8AC3E}">
        <p14:creationId xmlns:p14="http://schemas.microsoft.com/office/powerpoint/2010/main" val="2026839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4881</TotalTime>
  <Words>1409</Words>
  <Application>Microsoft Macintosh PowerPoint</Application>
  <PresentationFormat>Widescreen</PresentationFormat>
  <Paragraphs>238</Paragraphs>
  <Slides>22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GEOL 599 Applied Machine Learning for Geoscience Data</vt:lpstr>
      <vt:lpstr>Decision Trees</vt:lpstr>
      <vt:lpstr>How to Create a Decision Tree</vt:lpstr>
      <vt:lpstr>Decision Tree Algorithms</vt:lpstr>
      <vt:lpstr>How to determine the best split</vt:lpstr>
      <vt:lpstr>Stopping criteria for tree induction</vt:lpstr>
      <vt:lpstr>Post Pruning</vt:lpstr>
      <vt:lpstr>Decision Tree Based Classification</vt:lpstr>
      <vt:lpstr>Regression trees</vt:lpstr>
      <vt:lpstr>Why (not) use regression trees</vt:lpstr>
      <vt:lpstr>Ensemble methods</vt:lpstr>
      <vt:lpstr>Bootstrap aggregating (Bagging)</vt:lpstr>
      <vt:lpstr>Random Forest</vt:lpstr>
      <vt:lpstr>Random Forest Classifier</vt:lpstr>
      <vt:lpstr>Boosting</vt:lpstr>
      <vt:lpstr>AdaBoost</vt:lpstr>
      <vt:lpstr>Gradient Boosting</vt:lpstr>
      <vt:lpstr>Gradient Boosting Weak Learners</vt:lpstr>
      <vt:lpstr>Bagging and Boosting Comparison</vt:lpstr>
      <vt:lpstr>XGBoosting (eXtreme Gradient Boosting)</vt:lpstr>
      <vt:lpstr>Other boosting methods</vt:lpstr>
      <vt:lpstr>Key Cautions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Blaskey, Dylan</dc:creator>
  <cp:lastModifiedBy>Blaskey, Dylan</cp:lastModifiedBy>
  <cp:revision>24</cp:revision>
  <dcterms:created xsi:type="dcterms:W3CDTF">2026-04-30T17:26:45Z</dcterms:created>
  <dcterms:modified xsi:type="dcterms:W3CDTF">2026-09-21T16:02:37Z</dcterms:modified>
</cp:coreProperties>
</file>