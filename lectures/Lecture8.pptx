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61" r:id="rId4"/>
    <p:sldId id="262" r:id="rId5"/>
    <p:sldId id="258" r:id="rId6"/>
    <p:sldId id="263" r:id="rId7"/>
    <p:sldId id="264" r:id="rId8"/>
    <p:sldId id="265" r:id="rId9"/>
    <p:sldId id="266" r:id="rId10"/>
    <p:sldId id="432" r:id="rId11"/>
    <p:sldId id="267" r:id="rId12"/>
    <p:sldId id="268" r:id="rId13"/>
    <p:sldId id="269" r:id="rId14"/>
    <p:sldId id="433" r:id="rId15"/>
    <p:sldId id="270" r:id="rId16"/>
    <p:sldId id="271" r:id="rId17"/>
    <p:sldId id="259" r:id="rId18"/>
    <p:sldId id="43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00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583"/>
    <p:restoredTop sz="76605"/>
  </p:normalViewPr>
  <p:slideViewPr>
    <p:cSldViewPr snapToGrid="0">
      <p:cViewPr varScale="1">
        <p:scale>
          <a:sx n="87" d="100"/>
          <a:sy n="87"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A49FDC-47A8-F54E-9812-4874F92A1A9F}" type="datetimeFigureOut">
              <a:rPr lang="en-US" smtClean="0"/>
              <a:t>9/16/26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FF3C1A-D9C4-F241-9E29-49D7A16F9780}" type="slidenum">
              <a:rPr lang="en-US" smtClean="0"/>
              <a:t>‹#›</a:t>
            </a:fld>
            <a:endParaRPr lang="en-US"/>
          </a:p>
        </p:txBody>
      </p:sp>
    </p:spTree>
    <p:extLst>
      <p:ext uri="{BB962C8B-B14F-4D97-AF65-F5344CB8AC3E}">
        <p14:creationId xmlns:p14="http://schemas.microsoft.com/office/powerpoint/2010/main" val="2590339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7</a:t>
            </a:fld>
            <a:endParaRPr lang="en-US"/>
          </a:p>
        </p:txBody>
      </p:sp>
    </p:spTree>
    <p:extLst>
      <p:ext uri="{BB962C8B-B14F-4D97-AF65-F5344CB8AC3E}">
        <p14:creationId xmlns:p14="http://schemas.microsoft.com/office/powerpoint/2010/main" val="1386689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8</a:t>
            </a:fld>
            <a:endParaRPr lang="en-US"/>
          </a:p>
        </p:txBody>
      </p:sp>
    </p:spTree>
    <p:extLst>
      <p:ext uri="{BB962C8B-B14F-4D97-AF65-F5344CB8AC3E}">
        <p14:creationId xmlns:p14="http://schemas.microsoft.com/office/powerpoint/2010/main" val="878845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9</a:t>
            </a:fld>
            <a:endParaRPr lang="en-US"/>
          </a:p>
        </p:txBody>
      </p:sp>
    </p:spTree>
    <p:extLst>
      <p:ext uri="{BB962C8B-B14F-4D97-AF65-F5344CB8AC3E}">
        <p14:creationId xmlns:p14="http://schemas.microsoft.com/office/powerpoint/2010/main" val="3365437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C4D24-DD52-3BCE-AD14-986157989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E54EB3-1F1B-D21E-6D9B-48D79520C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4B61E-C64F-DD31-99E0-7139E79BDF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019492-FFBA-7302-4E4E-AD48B3F458E8}"/>
              </a:ext>
            </a:extLst>
          </p:cNvPr>
          <p:cNvSpPr>
            <a:spLocks noGrp="1"/>
          </p:cNvSpPr>
          <p:nvPr>
            <p:ph type="sldNum" sz="quarter" idx="5"/>
          </p:nvPr>
        </p:nvSpPr>
        <p:spPr/>
        <p:txBody>
          <a:bodyPr/>
          <a:lstStyle/>
          <a:p>
            <a:fld id="{FBFF3C1A-D9C4-F241-9E29-49D7A16F9780}" type="slidenum">
              <a:rPr lang="en-US" smtClean="0"/>
              <a:t>10</a:t>
            </a:fld>
            <a:endParaRPr lang="en-US"/>
          </a:p>
        </p:txBody>
      </p:sp>
    </p:spTree>
    <p:extLst>
      <p:ext uri="{BB962C8B-B14F-4D97-AF65-F5344CB8AC3E}">
        <p14:creationId xmlns:p14="http://schemas.microsoft.com/office/powerpoint/2010/main" val="1893666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12</a:t>
            </a:fld>
            <a:endParaRPr lang="en-US"/>
          </a:p>
        </p:txBody>
      </p:sp>
    </p:spTree>
    <p:extLst>
      <p:ext uri="{BB962C8B-B14F-4D97-AF65-F5344CB8AC3E}">
        <p14:creationId xmlns:p14="http://schemas.microsoft.com/office/powerpoint/2010/main" val="3229755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13</a:t>
            </a:fld>
            <a:endParaRPr lang="en-US"/>
          </a:p>
        </p:txBody>
      </p:sp>
    </p:spTree>
    <p:extLst>
      <p:ext uri="{BB962C8B-B14F-4D97-AF65-F5344CB8AC3E}">
        <p14:creationId xmlns:p14="http://schemas.microsoft.com/office/powerpoint/2010/main" val="29668513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15</a:t>
            </a:fld>
            <a:endParaRPr lang="en-US"/>
          </a:p>
        </p:txBody>
      </p:sp>
    </p:spTree>
    <p:extLst>
      <p:ext uri="{BB962C8B-B14F-4D97-AF65-F5344CB8AC3E}">
        <p14:creationId xmlns:p14="http://schemas.microsoft.com/office/powerpoint/2010/main" val="3663645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8B01AE6-E8E1-85B2-DE89-19A7E3AB6DE1}"/>
              </a:ext>
            </a:extLst>
          </p:cNvPr>
          <p:cNvSpPr>
            <a:spLocks noGrp="1"/>
          </p:cNvSpPr>
          <p:nvPr>
            <p:ph type="subTitle" idx="1" hasCustomPrompt="1"/>
          </p:nvPr>
        </p:nvSpPr>
        <p:spPr>
          <a:xfrm>
            <a:off x="1524000" y="2252209"/>
            <a:ext cx="9144000" cy="588963"/>
          </a:xfrm>
        </p:spPr>
        <p:txBody>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Lecture</a:t>
            </a:r>
          </a:p>
          <a:p>
            <a:r>
              <a:rPr lang="en-US" dirty="0"/>
              <a:t> </a:t>
            </a:r>
          </a:p>
        </p:txBody>
      </p:sp>
      <p:sp>
        <p:nvSpPr>
          <p:cNvPr id="8" name="Footer Placeholder 7">
            <a:extLst>
              <a:ext uri="{FF2B5EF4-FFF2-40B4-BE49-F238E27FC236}">
                <a16:creationId xmlns:a16="http://schemas.microsoft.com/office/drawing/2014/main" id="{FEA3DDF7-4F23-7FC1-A6F1-B9ACB64996C4}"/>
              </a:ext>
            </a:extLst>
          </p:cNvPr>
          <p:cNvSpPr>
            <a:spLocks noGrp="1"/>
          </p:cNvSpPr>
          <p:nvPr>
            <p:ph type="ftr" sz="quarter" idx="11"/>
          </p:nvPr>
        </p:nvSpPr>
        <p:spPr/>
        <p:txBody>
          <a:bodyPr/>
          <a:lstStyle>
            <a:lvl1pPr>
              <a:defRPr>
                <a:solidFill>
                  <a:schemeClr val="tx1"/>
                </a:solidFill>
              </a:defRPr>
            </a:lvl1pPr>
          </a:lstStyle>
          <a:p>
            <a:r>
              <a:rPr lang="en-US" dirty="0">
                <a:solidFill>
                  <a:schemeClr val="tx1"/>
                </a:solidFill>
              </a:rPr>
              <a:t>GEOL 599</a:t>
            </a:r>
          </a:p>
        </p:txBody>
      </p:sp>
      <p:sp>
        <p:nvSpPr>
          <p:cNvPr id="9" name="Slide Number Placeholder 8">
            <a:extLst>
              <a:ext uri="{FF2B5EF4-FFF2-40B4-BE49-F238E27FC236}">
                <a16:creationId xmlns:a16="http://schemas.microsoft.com/office/drawing/2014/main" id="{0C1EBF45-1E3C-5639-6B06-6CF54D95E03F}"/>
              </a:ext>
            </a:extLst>
          </p:cNvPr>
          <p:cNvSpPr>
            <a:spLocks noGrp="1"/>
          </p:cNvSpPr>
          <p:nvPr>
            <p:ph type="sldNum" sz="quarter" idx="12"/>
          </p:nvPr>
        </p:nvSpPr>
        <p:spPr/>
        <p:txBody>
          <a:bodyPr/>
          <a:lstStyle>
            <a:lvl1pPr>
              <a:defRPr>
                <a:solidFill>
                  <a:schemeClr val="tx1"/>
                </a:solidFill>
              </a:defRPr>
            </a:lvl1pPr>
          </a:lstStyle>
          <a:p>
            <a:fld id="{10A4AB6E-1AC4-C44F-A0CC-883A0306AF8B}" type="slidenum">
              <a:rPr lang="en-US" smtClean="0"/>
              <a:pPr/>
              <a:t>‹#›</a:t>
            </a:fld>
            <a:endParaRPr lang="en-US" dirty="0"/>
          </a:p>
        </p:txBody>
      </p:sp>
      <p:cxnSp>
        <p:nvCxnSpPr>
          <p:cNvPr id="11" name="Straight Connector 10">
            <a:extLst>
              <a:ext uri="{FF2B5EF4-FFF2-40B4-BE49-F238E27FC236}">
                <a16:creationId xmlns:a16="http://schemas.microsoft.com/office/drawing/2014/main" id="{00DB6341-93E9-1E69-609E-73BBFB4BA579}"/>
              </a:ext>
            </a:extLst>
          </p:cNvPr>
          <p:cNvCxnSpPr>
            <a:cxnSpLocks/>
          </p:cNvCxnSpPr>
          <p:nvPr userDrawn="1"/>
        </p:nvCxnSpPr>
        <p:spPr>
          <a:xfrm>
            <a:off x="990600" y="3058886"/>
            <a:ext cx="10156371" cy="0"/>
          </a:xfrm>
          <a:prstGeom prst="line">
            <a:avLst/>
          </a:prstGeom>
          <a:ln>
            <a:solidFill>
              <a:srgbClr val="73000A"/>
            </a:solidFill>
          </a:ln>
        </p:spPr>
        <p:style>
          <a:lnRef idx="2">
            <a:schemeClr val="accent1"/>
          </a:lnRef>
          <a:fillRef idx="0">
            <a:schemeClr val="accent1"/>
          </a:fillRef>
          <a:effectRef idx="1">
            <a:schemeClr val="accent1"/>
          </a:effectRef>
          <a:fontRef idx="minor">
            <a:schemeClr val="tx1"/>
          </a:fontRef>
        </p:style>
      </p:cxnSp>
      <p:sp>
        <p:nvSpPr>
          <p:cNvPr id="12" name="Subtitle 2">
            <a:extLst>
              <a:ext uri="{FF2B5EF4-FFF2-40B4-BE49-F238E27FC236}">
                <a16:creationId xmlns:a16="http://schemas.microsoft.com/office/drawing/2014/main" id="{522C522C-189E-E345-55A5-F92D4350F77D}"/>
              </a:ext>
            </a:extLst>
          </p:cNvPr>
          <p:cNvSpPr txBox="1">
            <a:spLocks/>
          </p:cNvSpPr>
          <p:nvPr userDrawn="1"/>
        </p:nvSpPr>
        <p:spPr>
          <a:xfrm>
            <a:off x="1518557" y="3276601"/>
            <a:ext cx="9144000" cy="28620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dirty="0">
                <a:solidFill>
                  <a:schemeClr val="tx1"/>
                </a:solidFill>
              </a:rPr>
              <a:t>Today’s Objectives</a:t>
            </a:r>
          </a:p>
          <a:p>
            <a:endParaRPr lang="en-US" sz="2400" dirty="0">
              <a:solidFill>
                <a:schemeClr val="tx1"/>
              </a:solidFill>
            </a:endParaRPr>
          </a:p>
          <a:p>
            <a:endParaRPr lang="en-US" sz="2400" dirty="0">
              <a:solidFill>
                <a:schemeClr val="tx1"/>
              </a:solidFill>
            </a:endParaRPr>
          </a:p>
          <a:p>
            <a:endParaRPr lang="en-US" sz="2400" dirty="0">
              <a:solidFill>
                <a:schemeClr val="tx1"/>
              </a:solidFill>
            </a:endParaRPr>
          </a:p>
          <a:p>
            <a:endParaRPr lang="en-US" sz="2400" dirty="0">
              <a:solidFill>
                <a:schemeClr val="tx1"/>
              </a:solidFill>
            </a:endParaRPr>
          </a:p>
          <a:p>
            <a:endParaRPr lang="en-US" sz="3800" dirty="0">
              <a:solidFill>
                <a:schemeClr val="tx1"/>
              </a:solidFill>
            </a:endParaRPr>
          </a:p>
        </p:txBody>
      </p:sp>
      <p:sp>
        <p:nvSpPr>
          <p:cNvPr id="13" name="Rectangle 12">
            <a:extLst>
              <a:ext uri="{FF2B5EF4-FFF2-40B4-BE49-F238E27FC236}">
                <a16:creationId xmlns:a16="http://schemas.microsoft.com/office/drawing/2014/main" id="{BFBD97F3-4925-C570-5514-2E8A7F901638}"/>
              </a:ext>
            </a:extLst>
          </p:cNvPr>
          <p:cNvSpPr/>
          <p:nvPr userDrawn="1"/>
        </p:nvSpPr>
        <p:spPr>
          <a:xfrm>
            <a:off x="0" y="0"/>
            <a:ext cx="12192000" cy="10341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E6434-D3C5-35B8-2A5B-12571E53B479}"/>
              </a:ext>
            </a:extLst>
          </p:cNvPr>
          <p:cNvSpPr>
            <a:spLocks noGrp="1"/>
          </p:cNvSpPr>
          <p:nvPr>
            <p:ph type="ctrTitle" hasCustomPrompt="1"/>
          </p:nvPr>
        </p:nvSpPr>
        <p:spPr>
          <a:xfrm>
            <a:off x="-5443" y="-244251"/>
            <a:ext cx="12192000" cy="2387600"/>
          </a:xfrm>
        </p:spPr>
        <p:txBody>
          <a:bodyPr anchor="b"/>
          <a:lstStyle>
            <a:lvl1pPr algn="ctr">
              <a:defRPr sz="4800">
                <a:solidFill>
                  <a:schemeClr val="tx1"/>
                </a:solidFill>
              </a:defRPr>
            </a:lvl1pPr>
          </a:lstStyle>
          <a:p>
            <a:r>
              <a:rPr lang="en-US" dirty="0"/>
              <a:t>GEOL 599</a:t>
            </a:r>
            <a:br>
              <a:rPr lang="en-US" dirty="0"/>
            </a:br>
            <a:r>
              <a:rPr lang="en-US" dirty="0"/>
              <a:t>Applied Machine Learning for Geoscience Data</a:t>
            </a:r>
          </a:p>
        </p:txBody>
      </p:sp>
    </p:spTree>
    <p:extLst>
      <p:ext uri="{BB962C8B-B14F-4D97-AF65-F5344CB8AC3E}">
        <p14:creationId xmlns:p14="http://schemas.microsoft.com/office/powerpoint/2010/main" val="2969113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505B7-09A3-CD35-0F48-F6AC4FE002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18CA42-DE5B-A0F5-7D42-23509A2DDD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DB7EA-5BEF-6A60-8C8C-EE99F86D730B}"/>
              </a:ext>
            </a:extLst>
          </p:cNvPr>
          <p:cNvSpPr>
            <a:spLocks noGrp="1"/>
          </p:cNvSpPr>
          <p:nvPr>
            <p:ph type="dt" sz="half" idx="10"/>
          </p:nvPr>
        </p:nvSpPr>
        <p:spPr>
          <a:xfrm>
            <a:off x="838200" y="6356350"/>
            <a:ext cx="2743200" cy="365125"/>
          </a:xfrm>
          <a:prstGeom prst="rect">
            <a:avLst/>
          </a:prstGeom>
        </p:spPr>
        <p:txBody>
          <a:bodyPr/>
          <a:lstStyle/>
          <a:p>
            <a:fld id="{09418D03-48AA-CB49-A132-AF8A2DA0E64B}" type="datetime1">
              <a:rPr lang="en-US" smtClean="0"/>
              <a:t>9/16/26</a:t>
            </a:fld>
            <a:endParaRPr lang="en-US"/>
          </a:p>
        </p:txBody>
      </p:sp>
      <p:sp>
        <p:nvSpPr>
          <p:cNvPr id="5" name="Footer Placeholder 4">
            <a:extLst>
              <a:ext uri="{FF2B5EF4-FFF2-40B4-BE49-F238E27FC236}">
                <a16:creationId xmlns:a16="http://schemas.microsoft.com/office/drawing/2014/main" id="{DAEF1026-75B7-EFCA-1EB7-A6D8B3B464D5}"/>
              </a:ext>
            </a:extLst>
          </p:cNvPr>
          <p:cNvSpPr>
            <a:spLocks noGrp="1"/>
          </p:cNvSpPr>
          <p:nvPr>
            <p:ph type="ftr" sz="quarter" idx="11"/>
          </p:nvPr>
        </p:nvSpPr>
        <p:spPr/>
        <p:txBody>
          <a:bodyPr/>
          <a:lstStyle/>
          <a:p>
            <a:r>
              <a:rPr lang="en-US"/>
              <a:t>GEOL 599</a:t>
            </a:r>
          </a:p>
        </p:txBody>
      </p:sp>
      <p:sp>
        <p:nvSpPr>
          <p:cNvPr id="6" name="Slide Number Placeholder 5">
            <a:extLst>
              <a:ext uri="{FF2B5EF4-FFF2-40B4-BE49-F238E27FC236}">
                <a16:creationId xmlns:a16="http://schemas.microsoft.com/office/drawing/2014/main" id="{FCE2B28F-DC4B-2CAA-D736-7042BDD1564F}"/>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204787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75A5D-6083-49E0-EB07-46E46705DB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794158-D0ED-B328-7FB6-8508C50E72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EA2D35-2853-8EB1-AFAE-2A9E5C2B43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F664778-0B2B-73D7-BD5C-AE37BF503074}"/>
              </a:ext>
            </a:extLst>
          </p:cNvPr>
          <p:cNvSpPr>
            <a:spLocks noGrp="1"/>
          </p:cNvSpPr>
          <p:nvPr>
            <p:ph type="ftr" sz="quarter" idx="11"/>
          </p:nvPr>
        </p:nvSpPr>
        <p:spPr/>
        <p:txBody>
          <a:bodyPr/>
          <a:lstStyle/>
          <a:p>
            <a:r>
              <a:rPr lang="en-US"/>
              <a:t>GEOL 599</a:t>
            </a:r>
          </a:p>
        </p:txBody>
      </p:sp>
      <p:sp>
        <p:nvSpPr>
          <p:cNvPr id="7" name="Slide Number Placeholder 6">
            <a:extLst>
              <a:ext uri="{FF2B5EF4-FFF2-40B4-BE49-F238E27FC236}">
                <a16:creationId xmlns:a16="http://schemas.microsoft.com/office/drawing/2014/main" id="{77B6A1EE-6D0F-02A2-34F3-06FAF29A1888}"/>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3066510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FD206-18F2-9CE1-11FE-5F7FD5C753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1E4094-9CD9-970B-A183-C9901E31D423}"/>
              </a:ext>
            </a:extLst>
          </p:cNvPr>
          <p:cNvSpPr>
            <a:spLocks noGrp="1"/>
          </p:cNvSpPr>
          <p:nvPr>
            <p:ph type="dt" sz="half" idx="10"/>
          </p:nvPr>
        </p:nvSpPr>
        <p:spPr>
          <a:xfrm>
            <a:off x="838200" y="6356350"/>
            <a:ext cx="2743200" cy="365125"/>
          </a:xfrm>
          <a:prstGeom prst="rect">
            <a:avLst/>
          </a:prstGeom>
        </p:spPr>
        <p:txBody>
          <a:bodyPr/>
          <a:lstStyle/>
          <a:p>
            <a:fld id="{22FBD965-6108-7945-883E-024EB22FF9F9}" type="datetime1">
              <a:rPr lang="en-US" smtClean="0"/>
              <a:t>9/16/26</a:t>
            </a:fld>
            <a:endParaRPr lang="en-US"/>
          </a:p>
        </p:txBody>
      </p:sp>
      <p:sp>
        <p:nvSpPr>
          <p:cNvPr id="4" name="Footer Placeholder 3">
            <a:extLst>
              <a:ext uri="{FF2B5EF4-FFF2-40B4-BE49-F238E27FC236}">
                <a16:creationId xmlns:a16="http://schemas.microsoft.com/office/drawing/2014/main" id="{78655C67-D7DD-F09A-B00B-A801CAB65AC7}"/>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84401E41-A874-FA58-18A5-EA60211D0E73}"/>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502197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F5D95-40F0-0635-C904-7E748079148B}"/>
              </a:ext>
            </a:extLst>
          </p:cNvPr>
          <p:cNvSpPr>
            <a:spLocks noGrp="1"/>
          </p:cNvSpPr>
          <p:nvPr>
            <p:ph type="dt" sz="half" idx="10"/>
          </p:nvPr>
        </p:nvSpPr>
        <p:spPr>
          <a:xfrm>
            <a:off x="838200" y="6356350"/>
            <a:ext cx="2743200" cy="365125"/>
          </a:xfrm>
          <a:prstGeom prst="rect">
            <a:avLst/>
          </a:prstGeom>
        </p:spPr>
        <p:txBody>
          <a:bodyPr/>
          <a:lstStyle/>
          <a:p>
            <a:fld id="{0275880B-0B4C-2E4A-B266-E0FE9A68D62F}" type="datetime1">
              <a:rPr lang="en-US" smtClean="0"/>
              <a:t>9/16/26</a:t>
            </a:fld>
            <a:endParaRPr lang="en-US"/>
          </a:p>
        </p:txBody>
      </p:sp>
      <p:sp>
        <p:nvSpPr>
          <p:cNvPr id="3" name="Footer Placeholder 2">
            <a:extLst>
              <a:ext uri="{FF2B5EF4-FFF2-40B4-BE49-F238E27FC236}">
                <a16:creationId xmlns:a16="http://schemas.microsoft.com/office/drawing/2014/main" id="{74DB12B9-C9F2-BACD-A839-913B604B56CD}"/>
              </a:ext>
            </a:extLst>
          </p:cNvPr>
          <p:cNvSpPr>
            <a:spLocks noGrp="1"/>
          </p:cNvSpPr>
          <p:nvPr>
            <p:ph type="ftr" sz="quarter" idx="11"/>
          </p:nvPr>
        </p:nvSpPr>
        <p:spPr/>
        <p:txBody>
          <a:bodyPr/>
          <a:lstStyle/>
          <a:p>
            <a:r>
              <a:rPr lang="en-US"/>
              <a:t>GEOL 599</a:t>
            </a:r>
          </a:p>
        </p:txBody>
      </p:sp>
      <p:sp>
        <p:nvSpPr>
          <p:cNvPr id="4" name="Slide Number Placeholder 3">
            <a:extLst>
              <a:ext uri="{FF2B5EF4-FFF2-40B4-BE49-F238E27FC236}">
                <a16:creationId xmlns:a16="http://schemas.microsoft.com/office/drawing/2014/main" id="{84A29665-3410-49BB-1D7A-41AF6002487A}"/>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1924849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3C0E-7FC5-B6FD-1C83-A481576B9B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A655D9-2AF1-203E-B440-CA1770A50A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0E54E5-7F53-5749-117E-C893269717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A3D668-5A6A-2815-6A54-44B974F023FF}"/>
              </a:ext>
            </a:extLst>
          </p:cNvPr>
          <p:cNvSpPr>
            <a:spLocks noGrp="1"/>
          </p:cNvSpPr>
          <p:nvPr>
            <p:ph type="dt" sz="half" idx="10"/>
          </p:nvPr>
        </p:nvSpPr>
        <p:spPr>
          <a:xfrm>
            <a:off x="838200" y="6356350"/>
            <a:ext cx="2743200" cy="365125"/>
          </a:xfrm>
          <a:prstGeom prst="rect">
            <a:avLst/>
          </a:prstGeom>
        </p:spPr>
        <p:txBody>
          <a:bodyPr/>
          <a:lstStyle/>
          <a:p>
            <a:fld id="{12EC2D56-32BF-9F41-918E-49D0AA578943}" type="datetime1">
              <a:rPr lang="en-US" smtClean="0"/>
              <a:t>9/16/26</a:t>
            </a:fld>
            <a:endParaRPr lang="en-US"/>
          </a:p>
        </p:txBody>
      </p:sp>
      <p:sp>
        <p:nvSpPr>
          <p:cNvPr id="6" name="Footer Placeholder 5">
            <a:extLst>
              <a:ext uri="{FF2B5EF4-FFF2-40B4-BE49-F238E27FC236}">
                <a16:creationId xmlns:a16="http://schemas.microsoft.com/office/drawing/2014/main" id="{8053E52E-D8F4-5313-1B36-986748552080}"/>
              </a:ext>
            </a:extLst>
          </p:cNvPr>
          <p:cNvSpPr>
            <a:spLocks noGrp="1"/>
          </p:cNvSpPr>
          <p:nvPr>
            <p:ph type="ftr" sz="quarter" idx="11"/>
          </p:nvPr>
        </p:nvSpPr>
        <p:spPr/>
        <p:txBody>
          <a:bodyPr/>
          <a:lstStyle/>
          <a:p>
            <a:r>
              <a:rPr lang="en-US"/>
              <a:t>GEOL 599</a:t>
            </a:r>
          </a:p>
        </p:txBody>
      </p:sp>
      <p:sp>
        <p:nvSpPr>
          <p:cNvPr id="7" name="Slide Number Placeholder 6">
            <a:extLst>
              <a:ext uri="{FF2B5EF4-FFF2-40B4-BE49-F238E27FC236}">
                <a16:creationId xmlns:a16="http://schemas.microsoft.com/office/drawing/2014/main" id="{2BC80849-1A56-0383-E5C4-97DDE0488723}"/>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857416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7B588-3C09-D5CF-2676-6FC7737E3C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D266BE-5A12-67D9-057B-1BBF237367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161E22-66C9-B589-0129-498B002A0EC5}"/>
              </a:ext>
            </a:extLst>
          </p:cNvPr>
          <p:cNvSpPr>
            <a:spLocks noGrp="1"/>
          </p:cNvSpPr>
          <p:nvPr>
            <p:ph type="dt" sz="half" idx="10"/>
          </p:nvPr>
        </p:nvSpPr>
        <p:spPr>
          <a:xfrm>
            <a:off x="838200" y="6356350"/>
            <a:ext cx="2743200" cy="365125"/>
          </a:xfrm>
          <a:prstGeom prst="rect">
            <a:avLst/>
          </a:prstGeom>
        </p:spPr>
        <p:txBody>
          <a:bodyPr/>
          <a:lstStyle/>
          <a:p>
            <a:fld id="{59722F35-E892-0345-AB79-C0946392D699}" type="datetime1">
              <a:rPr lang="en-US" smtClean="0"/>
              <a:t>9/16/26</a:t>
            </a:fld>
            <a:endParaRPr lang="en-US"/>
          </a:p>
        </p:txBody>
      </p:sp>
      <p:sp>
        <p:nvSpPr>
          <p:cNvPr id="5" name="Footer Placeholder 4">
            <a:extLst>
              <a:ext uri="{FF2B5EF4-FFF2-40B4-BE49-F238E27FC236}">
                <a16:creationId xmlns:a16="http://schemas.microsoft.com/office/drawing/2014/main" id="{67AE1508-762A-D53F-C7EC-9D9BF416BA06}"/>
              </a:ext>
            </a:extLst>
          </p:cNvPr>
          <p:cNvSpPr>
            <a:spLocks noGrp="1"/>
          </p:cNvSpPr>
          <p:nvPr>
            <p:ph type="ftr" sz="quarter" idx="11"/>
          </p:nvPr>
        </p:nvSpPr>
        <p:spPr/>
        <p:txBody>
          <a:bodyPr/>
          <a:lstStyle/>
          <a:p>
            <a:r>
              <a:rPr lang="en-US"/>
              <a:t>GEOL 599</a:t>
            </a:r>
          </a:p>
        </p:txBody>
      </p:sp>
      <p:sp>
        <p:nvSpPr>
          <p:cNvPr id="6" name="Slide Number Placeholder 5">
            <a:extLst>
              <a:ext uri="{FF2B5EF4-FFF2-40B4-BE49-F238E27FC236}">
                <a16:creationId xmlns:a16="http://schemas.microsoft.com/office/drawing/2014/main" id="{3410CDCB-37FC-4C2D-A3D2-0DD3FFECEA4F}"/>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1323050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3F802EE-C334-A1A8-98B8-350093E9A97B}"/>
              </a:ext>
            </a:extLst>
          </p:cNvPr>
          <p:cNvSpPr/>
          <p:nvPr userDrawn="1"/>
        </p:nvSpPr>
        <p:spPr>
          <a:xfrm>
            <a:off x="0" y="0"/>
            <a:ext cx="12192000" cy="1001486"/>
          </a:xfrm>
          <a:prstGeom prst="rect">
            <a:avLst/>
          </a:prstGeom>
          <a:solidFill>
            <a:srgbClr val="7300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DE59E362-3E7B-106E-C26F-017E025D026C}"/>
              </a:ext>
            </a:extLst>
          </p:cNvPr>
          <p:cNvSpPr>
            <a:spLocks noGrp="1"/>
          </p:cNvSpPr>
          <p:nvPr>
            <p:ph type="title"/>
          </p:nvPr>
        </p:nvSpPr>
        <p:spPr>
          <a:xfrm>
            <a:off x="838200" y="223611"/>
            <a:ext cx="10515600" cy="68787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DB616FF-4C58-32D3-4174-A5F9887DA9DC}"/>
              </a:ext>
            </a:extLst>
          </p:cNvPr>
          <p:cNvSpPr>
            <a:spLocks noGrp="1"/>
          </p:cNvSpPr>
          <p:nvPr>
            <p:ph type="body" idx="1"/>
          </p:nvPr>
        </p:nvSpPr>
        <p:spPr>
          <a:xfrm>
            <a:off x="838200" y="1135094"/>
            <a:ext cx="10515600" cy="50114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4A32BC8C-1205-6412-7DF1-F9370BF637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US" dirty="0">
                <a:solidFill>
                  <a:schemeClr val="tx1"/>
                </a:solidFill>
              </a:rPr>
              <a:t>GEOL 599</a:t>
            </a:r>
          </a:p>
        </p:txBody>
      </p:sp>
      <p:sp>
        <p:nvSpPr>
          <p:cNvPr id="6" name="Slide Number Placeholder 5">
            <a:extLst>
              <a:ext uri="{FF2B5EF4-FFF2-40B4-BE49-F238E27FC236}">
                <a16:creationId xmlns:a16="http://schemas.microsoft.com/office/drawing/2014/main" id="{DADF6326-AC4E-DA41-3F99-70C0F11188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10A4AB6E-1AC4-C44F-A0CC-883A0306AF8B}" type="slidenum">
              <a:rPr lang="en-US" smtClean="0"/>
              <a:pPr/>
              <a:t>‹#›</a:t>
            </a:fld>
            <a:endParaRPr lang="en-US" dirty="0">
              <a:solidFill>
                <a:schemeClr val="tx1"/>
              </a:solidFill>
            </a:endParaRPr>
          </a:p>
        </p:txBody>
      </p:sp>
      <p:pic>
        <p:nvPicPr>
          <p:cNvPr id="8" name="Graphic 7">
            <a:extLst>
              <a:ext uri="{FF2B5EF4-FFF2-40B4-BE49-F238E27FC236}">
                <a16:creationId xmlns:a16="http://schemas.microsoft.com/office/drawing/2014/main" id="{896C53DE-F0FB-6345-E263-C4CF733709AE}"/>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78922" y="6036159"/>
            <a:ext cx="3159579" cy="913432"/>
          </a:xfrm>
          <a:prstGeom prst="rect">
            <a:avLst/>
          </a:prstGeom>
        </p:spPr>
      </p:pic>
    </p:spTree>
    <p:extLst>
      <p:ext uri="{BB962C8B-B14F-4D97-AF65-F5344CB8AC3E}">
        <p14:creationId xmlns:p14="http://schemas.microsoft.com/office/powerpoint/2010/main" val="4041495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 id="2147483657" r:id="rId6"/>
    <p:sldLayoutId id="2147483658" r:id="rId7"/>
  </p:sldLayoutIdLst>
  <p:hf hd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dblaskey/ML_Course_Cod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1D74B-1267-62B5-F4B9-8B9EE90CEDDD}"/>
              </a:ext>
            </a:extLst>
          </p:cNvPr>
          <p:cNvSpPr>
            <a:spLocks noGrp="1"/>
          </p:cNvSpPr>
          <p:nvPr>
            <p:ph type="ctrTitle"/>
          </p:nvPr>
        </p:nvSpPr>
        <p:spPr/>
        <p:txBody>
          <a:bodyPr/>
          <a:lstStyle/>
          <a:p>
            <a:r>
              <a:rPr lang="en-US" dirty="0"/>
              <a:t>GEOL 599</a:t>
            </a:r>
            <a:br>
              <a:rPr lang="en-US" dirty="0"/>
            </a:br>
            <a:r>
              <a:rPr lang="en-US" dirty="0"/>
              <a:t>Applied Machine Learning for Geoscience Data</a:t>
            </a:r>
          </a:p>
        </p:txBody>
      </p:sp>
      <p:sp>
        <p:nvSpPr>
          <p:cNvPr id="3" name="Subtitle 2">
            <a:extLst>
              <a:ext uri="{FF2B5EF4-FFF2-40B4-BE49-F238E27FC236}">
                <a16:creationId xmlns:a16="http://schemas.microsoft.com/office/drawing/2014/main" id="{D9FB06DC-E070-314E-1C1A-F8B257144CDD}"/>
              </a:ext>
            </a:extLst>
          </p:cNvPr>
          <p:cNvSpPr>
            <a:spLocks noGrp="1"/>
          </p:cNvSpPr>
          <p:nvPr>
            <p:ph type="subTitle" idx="1"/>
          </p:nvPr>
        </p:nvSpPr>
        <p:spPr/>
        <p:txBody>
          <a:bodyPr/>
          <a:lstStyle/>
          <a:p>
            <a:r>
              <a:rPr lang="en-US" dirty="0"/>
              <a:t>Lecture 8</a:t>
            </a:r>
          </a:p>
        </p:txBody>
      </p:sp>
      <p:sp>
        <p:nvSpPr>
          <p:cNvPr id="10" name="TextBox 9">
            <a:extLst>
              <a:ext uri="{FF2B5EF4-FFF2-40B4-BE49-F238E27FC236}">
                <a16:creationId xmlns:a16="http://schemas.microsoft.com/office/drawing/2014/main" id="{F1FCA0F4-200B-9DEE-1D44-C6B1B4432703}"/>
              </a:ext>
              <a:ext uri="{C183D7F6-B498-43B3-948B-1728B52AA6E4}">
                <adec:decorative xmlns:adec="http://schemas.microsoft.com/office/drawing/2017/decorative" val="0"/>
              </a:ext>
            </a:extLst>
          </p:cNvPr>
          <p:cNvSpPr txBox="1"/>
          <p:nvPr/>
        </p:nvSpPr>
        <p:spPr>
          <a:xfrm>
            <a:off x="949124" y="3703898"/>
            <a:ext cx="10232020" cy="1200329"/>
          </a:xfrm>
          <a:prstGeom prst="rect">
            <a:avLst/>
          </a:prstGeom>
          <a:noFill/>
        </p:spPr>
        <p:txBody>
          <a:bodyPr wrap="square" rtlCol="0">
            <a:spAutoFit/>
          </a:bodyPr>
          <a:lstStyle/>
          <a:p>
            <a:pPr marL="342900" indent="-342900">
              <a:buFont typeface="+mj-lt"/>
              <a:buAutoNum type="arabicPeriod"/>
            </a:pPr>
            <a:r>
              <a:rPr lang="en-US" sz="2400" dirty="0"/>
              <a:t>Project discussion</a:t>
            </a:r>
          </a:p>
          <a:p>
            <a:pPr marL="342900" indent="-342900">
              <a:buFont typeface="+mj-lt"/>
              <a:buAutoNum type="arabicPeriod"/>
            </a:pPr>
            <a:r>
              <a:rPr lang="en-US" sz="2400" dirty="0"/>
              <a:t>Model interpretation</a:t>
            </a:r>
          </a:p>
          <a:p>
            <a:pPr marL="342900" indent="-342900">
              <a:buFont typeface="+mj-lt"/>
              <a:buAutoNum type="arabicPeriod"/>
            </a:pPr>
            <a:r>
              <a:rPr lang="en-US" sz="2400" dirty="0"/>
              <a:t>SVM practice</a:t>
            </a:r>
          </a:p>
        </p:txBody>
      </p:sp>
      <p:sp>
        <p:nvSpPr>
          <p:cNvPr id="4" name="Footer Placeholder 3">
            <a:extLst>
              <a:ext uri="{FF2B5EF4-FFF2-40B4-BE49-F238E27FC236}">
                <a16:creationId xmlns:a16="http://schemas.microsoft.com/office/drawing/2014/main" id="{496939D3-C906-D27A-E627-E49703BA5AE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solidFill>
                  <a:schemeClr val="tx1"/>
                </a:solidFill>
              </a:rPr>
              <a:t>GEOL 599</a:t>
            </a:r>
            <a:endParaRPr lang="en-US" dirty="0">
              <a:solidFill>
                <a:schemeClr val="tx1"/>
              </a:solidFill>
            </a:endParaRPr>
          </a:p>
        </p:txBody>
      </p:sp>
      <p:sp>
        <p:nvSpPr>
          <p:cNvPr id="5" name="Slide Number Placeholder 4">
            <a:extLst>
              <a:ext uri="{FF2B5EF4-FFF2-40B4-BE49-F238E27FC236}">
                <a16:creationId xmlns:a16="http://schemas.microsoft.com/office/drawing/2014/main" id="{BE1ED953-1DCE-B252-D7D6-5DDFEE91540D}"/>
              </a:ext>
              <a:ext uri="{C183D7F6-B498-43B3-948B-1728B52AA6E4}">
                <adec:decorative xmlns:adec="http://schemas.microsoft.com/office/drawing/2017/decorative" val="1"/>
              </a:ext>
            </a:extLst>
          </p:cNvPr>
          <p:cNvSpPr>
            <a:spLocks noGrp="1"/>
          </p:cNvSpPr>
          <p:nvPr>
            <p:ph type="sldNum" sz="quarter" idx="12"/>
          </p:nvPr>
        </p:nvSpPr>
        <p:spPr/>
        <p:txBody>
          <a:bodyPr/>
          <a:lstStyle/>
          <a:p>
            <a:fld id="{10A4AB6E-1AC4-C44F-A0CC-883A0306AF8B}" type="slidenum">
              <a:rPr lang="en-US" smtClean="0"/>
              <a:pPr/>
              <a:t>1</a:t>
            </a:fld>
            <a:endParaRPr lang="en-US" dirty="0"/>
          </a:p>
        </p:txBody>
      </p:sp>
    </p:spTree>
    <p:extLst>
      <p:ext uri="{BB962C8B-B14F-4D97-AF65-F5344CB8AC3E}">
        <p14:creationId xmlns:p14="http://schemas.microsoft.com/office/powerpoint/2010/main" val="3198711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6791F-C555-4E45-3A8E-B1C3BE6FAFBF}"/>
              </a:ext>
            </a:extLst>
          </p:cNvPr>
          <p:cNvSpPr>
            <a:spLocks noGrp="1"/>
          </p:cNvSpPr>
          <p:nvPr>
            <p:ph type="title"/>
          </p:nvPr>
        </p:nvSpPr>
        <p:spPr/>
        <p:txBody>
          <a:bodyPr>
            <a:normAutofit fontScale="90000"/>
          </a:bodyPr>
          <a:lstStyle/>
          <a:p>
            <a:r>
              <a:rPr lang="en-US" dirty="0"/>
              <a:t>Discuss with a partner</a:t>
            </a:r>
          </a:p>
        </p:txBody>
      </p:sp>
      <p:sp>
        <p:nvSpPr>
          <p:cNvPr id="3" name="Content Placeholder 2">
            <a:extLst>
              <a:ext uri="{FF2B5EF4-FFF2-40B4-BE49-F238E27FC236}">
                <a16:creationId xmlns:a16="http://schemas.microsoft.com/office/drawing/2014/main" id="{1BE74A1E-A391-940F-A8F9-4264D2617F19}"/>
              </a:ext>
            </a:extLst>
          </p:cNvPr>
          <p:cNvSpPr>
            <a:spLocks noGrp="1"/>
          </p:cNvSpPr>
          <p:nvPr>
            <p:ph idx="1"/>
          </p:nvPr>
        </p:nvSpPr>
        <p:spPr/>
        <p:txBody>
          <a:bodyPr/>
          <a:lstStyle/>
          <a:p>
            <a:pPr marL="0" indent="0">
              <a:buNone/>
            </a:pPr>
            <a:r>
              <a:rPr lang="en-US" dirty="0"/>
              <a:t>For the next 10 minutes, discuss your project with a partner:</a:t>
            </a:r>
          </a:p>
          <a:p>
            <a:pPr marL="514350" indent="-514350">
              <a:buFont typeface="+mj-lt"/>
              <a:buAutoNum type="arabicPeriod"/>
            </a:pPr>
            <a:r>
              <a:rPr lang="en-US" dirty="0"/>
              <a:t>Describe your dataset</a:t>
            </a:r>
          </a:p>
          <a:p>
            <a:pPr marL="514350" indent="-514350">
              <a:buFont typeface="+mj-lt"/>
              <a:buAutoNum type="arabicPeriod"/>
            </a:pPr>
            <a:r>
              <a:rPr lang="en-US" dirty="0"/>
              <a:t>What you hope the model will do</a:t>
            </a:r>
          </a:p>
          <a:p>
            <a:pPr marL="514350" indent="-514350">
              <a:buFont typeface="+mj-lt"/>
              <a:buAutoNum type="arabicPeriod"/>
            </a:pPr>
            <a:r>
              <a:rPr lang="en-US" dirty="0"/>
              <a:t>Which model type you are thinking about using</a:t>
            </a:r>
          </a:p>
          <a:p>
            <a:pPr marL="514350" indent="-514350">
              <a:buFont typeface="+mj-lt"/>
              <a:buAutoNum type="arabicPeriod"/>
            </a:pPr>
            <a:r>
              <a:rPr lang="en-US" dirty="0"/>
              <a:t>Any challenges you might encounter in the modeling</a:t>
            </a:r>
          </a:p>
          <a:p>
            <a:pPr marL="514350" indent="-514350">
              <a:buFont typeface="+mj-lt"/>
              <a:buAutoNum type="arabicPeriod"/>
            </a:pPr>
            <a:endParaRPr lang="en-US" dirty="0"/>
          </a:p>
          <a:p>
            <a:pPr marL="0" indent="0">
              <a:buNone/>
            </a:pPr>
            <a:r>
              <a:rPr lang="en-US" dirty="0"/>
              <a:t>Partners should ask clarifying questions on points of confusion and can help talk through solutions to any challenges.</a:t>
            </a:r>
          </a:p>
        </p:txBody>
      </p:sp>
      <p:sp>
        <p:nvSpPr>
          <p:cNvPr id="4" name="Footer Placeholder 3">
            <a:extLst>
              <a:ext uri="{FF2B5EF4-FFF2-40B4-BE49-F238E27FC236}">
                <a16:creationId xmlns:a16="http://schemas.microsoft.com/office/drawing/2014/main" id="{75FAF0D7-E924-8E36-A880-2AB0023E876A}"/>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D79D6C5-6A7E-FB5B-6304-ED436BBFE991}"/>
              </a:ext>
            </a:extLst>
          </p:cNvPr>
          <p:cNvSpPr>
            <a:spLocks noGrp="1"/>
          </p:cNvSpPr>
          <p:nvPr>
            <p:ph type="sldNum" sz="quarter" idx="12"/>
          </p:nvPr>
        </p:nvSpPr>
        <p:spPr/>
        <p:txBody>
          <a:bodyPr/>
          <a:lstStyle/>
          <a:p>
            <a:fld id="{10A4AB6E-1AC4-C44F-A0CC-883A0306AF8B}" type="slidenum">
              <a:rPr lang="en-US" smtClean="0"/>
              <a:t>2</a:t>
            </a:fld>
            <a:endParaRPr lang="en-US"/>
          </a:p>
        </p:txBody>
      </p:sp>
    </p:spTree>
    <p:extLst>
      <p:ext uri="{BB962C8B-B14F-4D97-AF65-F5344CB8AC3E}">
        <p14:creationId xmlns:p14="http://schemas.microsoft.com/office/powerpoint/2010/main" val="1173319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839A9-3531-BB25-CFD4-2115FE0E4BFF}"/>
              </a:ext>
            </a:extLst>
          </p:cNvPr>
          <p:cNvSpPr>
            <a:spLocks noGrp="1"/>
          </p:cNvSpPr>
          <p:nvPr>
            <p:ph type="title"/>
          </p:nvPr>
        </p:nvSpPr>
        <p:spPr/>
        <p:txBody>
          <a:bodyPr>
            <a:normAutofit fontScale="90000"/>
          </a:bodyPr>
          <a:lstStyle/>
          <a:p>
            <a:r>
              <a:rPr lang="en-US" dirty="0"/>
              <a:t>How do we know a model works well?</a:t>
            </a:r>
          </a:p>
        </p:txBody>
      </p:sp>
      <p:sp>
        <p:nvSpPr>
          <p:cNvPr id="3" name="Content Placeholder 2">
            <a:extLst>
              <a:ext uri="{FF2B5EF4-FFF2-40B4-BE49-F238E27FC236}">
                <a16:creationId xmlns:a16="http://schemas.microsoft.com/office/drawing/2014/main" id="{C39C6D74-DEF7-5225-581B-65C9DDB8C95D}"/>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6A5F9915-EF9A-3CB4-1B01-3737E897A541}"/>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AE81B134-6C76-BF99-4096-96ED46003FEE}"/>
              </a:ext>
            </a:extLst>
          </p:cNvPr>
          <p:cNvSpPr>
            <a:spLocks noGrp="1"/>
          </p:cNvSpPr>
          <p:nvPr>
            <p:ph type="sldNum" sz="quarter" idx="12"/>
          </p:nvPr>
        </p:nvSpPr>
        <p:spPr/>
        <p:txBody>
          <a:bodyPr/>
          <a:lstStyle/>
          <a:p>
            <a:fld id="{10A4AB6E-1AC4-C44F-A0CC-883A0306AF8B}" type="slidenum">
              <a:rPr lang="en-US" smtClean="0"/>
              <a:t>3</a:t>
            </a:fld>
            <a:endParaRPr lang="en-US"/>
          </a:p>
        </p:txBody>
      </p:sp>
    </p:spTree>
    <p:extLst>
      <p:ext uri="{BB962C8B-B14F-4D97-AF65-F5344CB8AC3E}">
        <p14:creationId xmlns:p14="http://schemas.microsoft.com/office/powerpoint/2010/main" val="748183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1412A-AF67-17E6-B0AD-C87D1F933767}"/>
              </a:ext>
            </a:extLst>
          </p:cNvPr>
          <p:cNvSpPr>
            <a:spLocks noGrp="1"/>
          </p:cNvSpPr>
          <p:nvPr>
            <p:ph type="title"/>
          </p:nvPr>
        </p:nvSpPr>
        <p:spPr/>
        <p:txBody>
          <a:bodyPr>
            <a:normAutofit fontScale="90000"/>
          </a:bodyPr>
          <a:lstStyle/>
          <a:p>
            <a:r>
              <a:rPr lang="en-US" dirty="0"/>
              <a:t>Why model interpretation</a:t>
            </a:r>
          </a:p>
        </p:txBody>
      </p:sp>
      <p:sp>
        <p:nvSpPr>
          <p:cNvPr id="3" name="Content Placeholder 2">
            <a:extLst>
              <a:ext uri="{FF2B5EF4-FFF2-40B4-BE49-F238E27FC236}">
                <a16:creationId xmlns:a16="http://schemas.microsoft.com/office/drawing/2014/main" id="{AA1FBA06-C75D-90E0-3545-1AB37779A31C}"/>
              </a:ext>
            </a:extLst>
          </p:cNvPr>
          <p:cNvSpPr>
            <a:spLocks noGrp="1"/>
          </p:cNvSpPr>
          <p:nvPr>
            <p:ph idx="1"/>
          </p:nvPr>
        </p:nvSpPr>
        <p:spPr/>
        <p:txBody>
          <a:bodyPr/>
          <a:lstStyle/>
          <a:p>
            <a:pPr marL="0" indent="0">
              <a:buNone/>
            </a:pPr>
            <a:r>
              <a:rPr lang="en-US" dirty="0"/>
              <a:t>Model interpretation tools help answer:</a:t>
            </a:r>
          </a:p>
          <a:p>
            <a:pPr lvl="0"/>
            <a:r>
              <a:rPr lang="en-US" dirty="0"/>
              <a:t>Which predictors matter most?</a:t>
            </a:r>
          </a:p>
          <a:p>
            <a:pPr lvl="0"/>
            <a:r>
              <a:rPr lang="en-US" dirty="0"/>
              <a:t>How does a predictor affect predictions?</a:t>
            </a:r>
          </a:p>
          <a:p>
            <a:pPr lvl="0"/>
            <a:r>
              <a:rPr lang="en-US" dirty="0"/>
              <a:t>Are relationships linear or nonlinear?</a:t>
            </a:r>
          </a:p>
          <a:p>
            <a:pPr lvl="0"/>
            <a:r>
              <a:rPr lang="en-US" dirty="0"/>
              <a:t>Do predictor effects differ among observations?</a:t>
            </a:r>
          </a:p>
          <a:p>
            <a:pPr lvl="0"/>
            <a:r>
              <a:rPr lang="en-US" dirty="0"/>
              <a:t>Is the model learning something scientifically reasonable?</a:t>
            </a:r>
          </a:p>
          <a:p>
            <a:pPr lvl="1"/>
            <a:r>
              <a:rPr lang="en-US" dirty="0"/>
              <a:t>Interpretation tools explain the model, not necessarily the real-world process.</a:t>
            </a:r>
          </a:p>
          <a:p>
            <a:endParaRPr lang="en-US" dirty="0"/>
          </a:p>
        </p:txBody>
      </p:sp>
      <p:sp>
        <p:nvSpPr>
          <p:cNvPr id="4" name="Footer Placeholder 3">
            <a:extLst>
              <a:ext uri="{FF2B5EF4-FFF2-40B4-BE49-F238E27FC236}">
                <a16:creationId xmlns:a16="http://schemas.microsoft.com/office/drawing/2014/main" id="{4EA1F3B6-784D-D74C-BD46-C8119DB54ED5}"/>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50C4410B-B5EA-2310-B754-AEB5F2EF2F5C}"/>
              </a:ext>
            </a:extLst>
          </p:cNvPr>
          <p:cNvSpPr>
            <a:spLocks noGrp="1"/>
          </p:cNvSpPr>
          <p:nvPr>
            <p:ph type="sldNum" sz="quarter" idx="12"/>
          </p:nvPr>
        </p:nvSpPr>
        <p:spPr/>
        <p:txBody>
          <a:bodyPr/>
          <a:lstStyle/>
          <a:p>
            <a:fld id="{10A4AB6E-1AC4-C44F-A0CC-883A0306AF8B}" type="slidenum">
              <a:rPr lang="en-US" smtClean="0"/>
              <a:t>4</a:t>
            </a:fld>
            <a:endParaRPr lang="en-US"/>
          </a:p>
        </p:txBody>
      </p:sp>
    </p:spTree>
    <p:extLst>
      <p:ext uri="{BB962C8B-B14F-4D97-AF65-F5344CB8AC3E}">
        <p14:creationId xmlns:p14="http://schemas.microsoft.com/office/powerpoint/2010/main" val="2584575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A91B7-DD93-CFE0-54F9-89E50BDA6717}"/>
              </a:ext>
            </a:extLst>
          </p:cNvPr>
          <p:cNvSpPr>
            <a:spLocks noGrp="1"/>
          </p:cNvSpPr>
          <p:nvPr>
            <p:ph type="title"/>
          </p:nvPr>
        </p:nvSpPr>
        <p:spPr/>
        <p:txBody>
          <a:bodyPr>
            <a:normAutofit fontScale="90000"/>
          </a:bodyPr>
          <a:lstStyle/>
          <a:p>
            <a:r>
              <a:rPr lang="en-US" dirty="0"/>
              <a:t>Model interpretation</a:t>
            </a:r>
          </a:p>
        </p:txBody>
      </p:sp>
      <p:graphicFrame>
        <p:nvGraphicFramePr>
          <p:cNvPr id="6" name="Content Placeholder 5">
            <a:extLst>
              <a:ext uri="{FF2B5EF4-FFF2-40B4-BE49-F238E27FC236}">
                <a16:creationId xmlns:a16="http://schemas.microsoft.com/office/drawing/2014/main" id="{4B57D40B-DC19-038D-9C4C-519892688FAE}"/>
              </a:ext>
            </a:extLst>
          </p:cNvPr>
          <p:cNvGraphicFramePr>
            <a:graphicFrameLocks noGrp="1"/>
          </p:cNvGraphicFramePr>
          <p:nvPr>
            <p:ph idx="1"/>
            <p:extLst>
              <p:ext uri="{D42A27DB-BD31-4B8C-83A1-F6EECF244321}">
                <p14:modId xmlns:p14="http://schemas.microsoft.com/office/powerpoint/2010/main" val="4094073468"/>
              </p:ext>
            </p:extLst>
          </p:nvPr>
        </p:nvGraphicFramePr>
        <p:xfrm>
          <a:off x="838200" y="1354931"/>
          <a:ext cx="10515600" cy="4572000"/>
        </p:xfrm>
        <a:graphic>
          <a:graphicData uri="http://schemas.openxmlformats.org/drawingml/2006/table">
            <a:tbl>
              <a:tblPr firstRow="1">
                <a:tableStyleId>{073A0DAA-6AF3-43AB-8588-CEC1D06C72B9}</a:tableStyleId>
              </a:tblPr>
              <a:tblGrid>
                <a:gridCol w="3505200">
                  <a:extLst>
                    <a:ext uri="{9D8B030D-6E8A-4147-A177-3AD203B41FA5}">
                      <a16:colId xmlns:a16="http://schemas.microsoft.com/office/drawing/2014/main" val="394910524"/>
                    </a:ext>
                  </a:extLst>
                </a:gridCol>
                <a:gridCol w="3505200">
                  <a:extLst>
                    <a:ext uri="{9D8B030D-6E8A-4147-A177-3AD203B41FA5}">
                      <a16:colId xmlns:a16="http://schemas.microsoft.com/office/drawing/2014/main" val="3984440583"/>
                    </a:ext>
                  </a:extLst>
                </a:gridCol>
                <a:gridCol w="3505200">
                  <a:extLst>
                    <a:ext uri="{9D8B030D-6E8A-4147-A177-3AD203B41FA5}">
                      <a16:colId xmlns:a16="http://schemas.microsoft.com/office/drawing/2014/main" val="3390138366"/>
                    </a:ext>
                  </a:extLst>
                </a:gridCol>
              </a:tblGrid>
              <a:tr h="0">
                <a:tc>
                  <a:txBody>
                    <a:bodyPr/>
                    <a:lstStyle/>
                    <a:p>
                      <a:pPr algn="l">
                        <a:buNone/>
                      </a:pPr>
                      <a:r>
                        <a:rPr lang="en-US" dirty="0">
                          <a:effectLst/>
                        </a:rPr>
                        <a:t>Tool</a:t>
                      </a:r>
                      <a:endParaRPr lang="en-US" b="0" i="0" dirty="0">
                        <a:solidFill>
                          <a:srgbClr val="FFFFFF"/>
                        </a:solidFill>
                        <a:effectLst/>
                      </a:endParaRPr>
                    </a:p>
                  </a:txBody>
                  <a:tcPr anchor="ctr"/>
                </a:tc>
                <a:tc>
                  <a:txBody>
                    <a:bodyPr/>
                    <a:lstStyle/>
                    <a:p>
                      <a:pPr algn="l">
                        <a:buNone/>
                      </a:pPr>
                      <a:r>
                        <a:rPr lang="en-US">
                          <a:effectLst/>
                        </a:rPr>
                        <a:t>Best for</a:t>
                      </a:r>
                      <a:endParaRPr lang="en-US" b="0" i="0">
                        <a:solidFill>
                          <a:srgbClr val="FFFFFF"/>
                        </a:solidFill>
                        <a:effectLst/>
                      </a:endParaRPr>
                    </a:p>
                  </a:txBody>
                  <a:tcPr anchor="ctr"/>
                </a:tc>
                <a:tc>
                  <a:txBody>
                    <a:bodyPr/>
                    <a:lstStyle/>
                    <a:p>
                      <a:pPr algn="l">
                        <a:buNone/>
                      </a:pPr>
                      <a:r>
                        <a:rPr lang="en-US">
                          <a:effectLst/>
                        </a:rPr>
                        <a:t>Main idea</a:t>
                      </a:r>
                      <a:endParaRPr lang="en-US" b="0" i="0">
                        <a:solidFill>
                          <a:srgbClr val="FFFFFF"/>
                        </a:solidFill>
                        <a:effectLst/>
                      </a:endParaRPr>
                    </a:p>
                  </a:txBody>
                  <a:tcPr anchor="ctr"/>
                </a:tc>
                <a:extLst>
                  <a:ext uri="{0D108BD9-81ED-4DB2-BD59-A6C34878D82A}">
                    <a16:rowId xmlns:a16="http://schemas.microsoft.com/office/drawing/2014/main" val="3373827373"/>
                  </a:ext>
                </a:extLst>
              </a:tr>
              <a:tr h="0">
                <a:tc>
                  <a:txBody>
                    <a:bodyPr/>
                    <a:lstStyle/>
                    <a:p>
                      <a:pPr algn="l">
                        <a:buNone/>
                      </a:pPr>
                      <a:r>
                        <a:rPr lang="en-US" dirty="0">
                          <a:effectLst/>
                        </a:rPr>
                        <a:t>Coefficients</a:t>
                      </a:r>
                      <a:endParaRPr lang="en-US" b="0" i="0" dirty="0">
                        <a:solidFill>
                          <a:srgbClr val="FFFFFF"/>
                        </a:solidFill>
                        <a:effectLst/>
                      </a:endParaRPr>
                    </a:p>
                  </a:txBody>
                  <a:tcPr anchor="ctr">
                    <a:solidFill>
                      <a:schemeClr val="bg1">
                        <a:lumMod val="95000"/>
                      </a:schemeClr>
                    </a:solidFill>
                  </a:tcPr>
                </a:tc>
                <a:tc>
                  <a:txBody>
                    <a:bodyPr/>
                    <a:lstStyle/>
                    <a:p>
                      <a:pPr algn="l">
                        <a:buNone/>
                      </a:pPr>
                      <a:r>
                        <a:rPr lang="en-US">
                          <a:effectLst/>
                        </a:rPr>
                        <a:t>Linear/logistic models</a:t>
                      </a:r>
                      <a:endParaRPr lang="en-US" b="0" i="0">
                        <a:solidFill>
                          <a:srgbClr val="FFFFFF"/>
                        </a:solidFill>
                        <a:effectLst/>
                      </a:endParaRPr>
                    </a:p>
                  </a:txBody>
                  <a:tcPr anchor="ctr">
                    <a:solidFill>
                      <a:schemeClr val="bg1">
                        <a:lumMod val="95000"/>
                      </a:schemeClr>
                    </a:solidFill>
                  </a:tcPr>
                </a:tc>
                <a:tc>
                  <a:txBody>
                    <a:bodyPr/>
                    <a:lstStyle/>
                    <a:p>
                      <a:pPr algn="l">
                        <a:buNone/>
                      </a:pPr>
                      <a:r>
                        <a:rPr lang="en-US">
                          <a:effectLst/>
                        </a:rPr>
                        <a:t>Direction and strength of predictor effects</a:t>
                      </a:r>
                      <a:endParaRPr lang="en-US" b="0" i="0">
                        <a:solidFill>
                          <a:srgbClr val="FFFFFF"/>
                        </a:solidFill>
                        <a:effectLst/>
                      </a:endParaRPr>
                    </a:p>
                  </a:txBody>
                  <a:tcPr anchor="ctr">
                    <a:solidFill>
                      <a:schemeClr val="bg1">
                        <a:lumMod val="95000"/>
                      </a:schemeClr>
                    </a:solidFill>
                  </a:tcPr>
                </a:tc>
                <a:extLst>
                  <a:ext uri="{0D108BD9-81ED-4DB2-BD59-A6C34878D82A}">
                    <a16:rowId xmlns:a16="http://schemas.microsoft.com/office/drawing/2014/main" val="2155206046"/>
                  </a:ext>
                </a:extLst>
              </a:tr>
              <a:tr h="0">
                <a:tc>
                  <a:txBody>
                    <a:bodyPr/>
                    <a:lstStyle/>
                    <a:p>
                      <a:pPr algn="l">
                        <a:buNone/>
                      </a:pPr>
                      <a:r>
                        <a:rPr lang="en-US" dirty="0">
                          <a:effectLst/>
                        </a:rPr>
                        <a:t>Standardized coefficients</a:t>
                      </a:r>
                      <a:endParaRPr lang="en-US" b="0" i="0" dirty="0">
                        <a:solidFill>
                          <a:srgbClr val="FFFFFF"/>
                        </a:solidFill>
                        <a:effectLst/>
                      </a:endParaRPr>
                    </a:p>
                  </a:txBody>
                  <a:tcPr anchor="ctr">
                    <a:solidFill>
                      <a:schemeClr val="bg1">
                        <a:lumMod val="95000"/>
                      </a:schemeClr>
                    </a:solidFill>
                  </a:tcPr>
                </a:tc>
                <a:tc>
                  <a:txBody>
                    <a:bodyPr/>
                    <a:lstStyle/>
                    <a:p>
                      <a:pPr algn="l">
                        <a:buNone/>
                      </a:pPr>
                      <a:r>
                        <a:rPr lang="en-US" dirty="0">
                          <a:effectLst/>
                        </a:rPr>
                        <a:t>Linear/logistic models</a:t>
                      </a:r>
                      <a:endParaRPr lang="en-US" b="0" i="0" dirty="0">
                        <a:solidFill>
                          <a:srgbClr val="FFFFFF"/>
                        </a:solidFill>
                        <a:effectLst/>
                      </a:endParaRPr>
                    </a:p>
                  </a:txBody>
                  <a:tcPr anchor="ctr">
                    <a:solidFill>
                      <a:schemeClr val="bg1">
                        <a:lumMod val="95000"/>
                      </a:schemeClr>
                    </a:solidFill>
                  </a:tcPr>
                </a:tc>
                <a:tc>
                  <a:txBody>
                    <a:bodyPr/>
                    <a:lstStyle/>
                    <a:p>
                      <a:pPr algn="l">
                        <a:buNone/>
                      </a:pPr>
                      <a:r>
                        <a:rPr lang="en-US">
                          <a:effectLst/>
                        </a:rPr>
                        <a:t>Compare predictors on common scale</a:t>
                      </a:r>
                      <a:endParaRPr lang="en-US" b="0" i="0">
                        <a:solidFill>
                          <a:srgbClr val="FFFFFF"/>
                        </a:solidFill>
                        <a:effectLst/>
                      </a:endParaRPr>
                    </a:p>
                  </a:txBody>
                  <a:tcPr anchor="ctr">
                    <a:solidFill>
                      <a:schemeClr val="bg1">
                        <a:lumMod val="95000"/>
                      </a:schemeClr>
                    </a:solidFill>
                  </a:tcPr>
                </a:tc>
                <a:extLst>
                  <a:ext uri="{0D108BD9-81ED-4DB2-BD59-A6C34878D82A}">
                    <a16:rowId xmlns:a16="http://schemas.microsoft.com/office/drawing/2014/main" val="159926986"/>
                  </a:ext>
                </a:extLst>
              </a:tr>
              <a:tr h="0">
                <a:tc>
                  <a:txBody>
                    <a:bodyPr/>
                    <a:lstStyle/>
                    <a:p>
                      <a:pPr algn="l">
                        <a:buNone/>
                      </a:pPr>
                      <a:r>
                        <a:rPr lang="en-US">
                          <a:effectLst/>
                        </a:rPr>
                        <a:t>Feature importance</a:t>
                      </a:r>
                      <a:endParaRPr lang="en-US" b="0" i="0">
                        <a:solidFill>
                          <a:srgbClr val="FFFFFF"/>
                        </a:solidFill>
                        <a:effectLst/>
                      </a:endParaRPr>
                    </a:p>
                  </a:txBody>
                  <a:tcPr anchor="ctr">
                    <a:solidFill>
                      <a:schemeClr val="bg1">
                        <a:lumMod val="95000"/>
                      </a:schemeClr>
                    </a:solidFill>
                  </a:tcPr>
                </a:tc>
                <a:tc>
                  <a:txBody>
                    <a:bodyPr/>
                    <a:lstStyle/>
                    <a:p>
                      <a:pPr algn="l">
                        <a:buNone/>
                      </a:pPr>
                      <a:r>
                        <a:rPr lang="en-US" dirty="0">
                          <a:effectLst/>
                        </a:rPr>
                        <a:t>Tree/boosted models</a:t>
                      </a:r>
                      <a:endParaRPr lang="en-US" b="0" i="0" dirty="0">
                        <a:solidFill>
                          <a:srgbClr val="FFFFFF"/>
                        </a:solidFill>
                        <a:effectLst/>
                      </a:endParaRPr>
                    </a:p>
                  </a:txBody>
                  <a:tcPr anchor="ctr">
                    <a:solidFill>
                      <a:schemeClr val="bg1">
                        <a:lumMod val="95000"/>
                      </a:schemeClr>
                    </a:solidFill>
                  </a:tcPr>
                </a:tc>
                <a:tc>
                  <a:txBody>
                    <a:bodyPr/>
                    <a:lstStyle/>
                    <a:p>
                      <a:pPr algn="l">
                        <a:buNone/>
                      </a:pPr>
                      <a:r>
                        <a:rPr lang="en-US">
                          <a:effectLst/>
                        </a:rPr>
                        <a:t>Which variables helped predictions most</a:t>
                      </a:r>
                      <a:endParaRPr lang="en-US" b="0" i="0">
                        <a:solidFill>
                          <a:srgbClr val="FFFFFF"/>
                        </a:solidFill>
                        <a:effectLst/>
                      </a:endParaRPr>
                    </a:p>
                  </a:txBody>
                  <a:tcPr anchor="ctr">
                    <a:solidFill>
                      <a:schemeClr val="bg1">
                        <a:lumMod val="95000"/>
                      </a:schemeClr>
                    </a:solidFill>
                  </a:tcPr>
                </a:tc>
                <a:extLst>
                  <a:ext uri="{0D108BD9-81ED-4DB2-BD59-A6C34878D82A}">
                    <a16:rowId xmlns:a16="http://schemas.microsoft.com/office/drawing/2014/main" val="2987663340"/>
                  </a:ext>
                </a:extLst>
              </a:tr>
              <a:tr h="0">
                <a:tc>
                  <a:txBody>
                    <a:bodyPr/>
                    <a:lstStyle/>
                    <a:p>
                      <a:pPr algn="l">
                        <a:buNone/>
                      </a:pPr>
                      <a:r>
                        <a:rPr lang="en-US">
                          <a:effectLst/>
                        </a:rPr>
                        <a:t>Permutation importance</a:t>
                      </a:r>
                      <a:endParaRPr lang="en-US" b="0" i="0">
                        <a:solidFill>
                          <a:srgbClr val="FFFFFF"/>
                        </a:solidFill>
                        <a:effectLst/>
                      </a:endParaRPr>
                    </a:p>
                  </a:txBody>
                  <a:tcPr anchor="ctr">
                    <a:solidFill>
                      <a:schemeClr val="bg1">
                        <a:lumMod val="95000"/>
                      </a:schemeClr>
                    </a:solidFill>
                  </a:tcPr>
                </a:tc>
                <a:tc>
                  <a:txBody>
                    <a:bodyPr/>
                    <a:lstStyle/>
                    <a:p>
                      <a:pPr algn="l">
                        <a:buNone/>
                      </a:pPr>
                      <a:r>
                        <a:rPr lang="en-US" dirty="0">
                          <a:effectLst/>
                        </a:rPr>
                        <a:t>Many models</a:t>
                      </a:r>
                      <a:endParaRPr lang="en-US" b="0" i="0" dirty="0">
                        <a:solidFill>
                          <a:srgbClr val="FFFFFF"/>
                        </a:solidFill>
                        <a:effectLst/>
                      </a:endParaRPr>
                    </a:p>
                  </a:txBody>
                  <a:tcPr anchor="ctr">
                    <a:solidFill>
                      <a:schemeClr val="bg1">
                        <a:lumMod val="95000"/>
                      </a:schemeClr>
                    </a:solidFill>
                  </a:tcPr>
                </a:tc>
                <a:tc>
                  <a:txBody>
                    <a:bodyPr/>
                    <a:lstStyle/>
                    <a:p>
                      <a:pPr algn="l">
                        <a:buNone/>
                      </a:pPr>
                      <a:r>
                        <a:rPr lang="en-US" dirty="0">
                          <a:effectLst/>
                        </a:rPr>
                        <a:t>How much performance drops when a feature is shuffled</a:t>
                      </a:r>
                      <a:endParaRPr lang="en-US" b="0" i="0" dirty="0">
                        <a:solidFill>
                          <a:srgbClr val="FFFFFF"/>
                        </a:solidFill>
                        <a:effectLst/>
                      </a:endParaRPr>
                    </a:p>
                  </a:txBody>
                  <a:tcPr anchor="ctr">
                    <a:solidFill>
                      <a:schemeClr val="bg1">
                        <a:lumMod val="95000"/>
                      </a:schemeClr>
                    </a:solidFill>
                  </a:tcPr>
                </a:tc>
                <a:extLst>
                  <a:ext uri="{0D108BD9-81ED-4DB2-BD59-A6C34878D82A}">
                    <a16:rowId xmlns:a16="http://schemas.microsoft.com/office/drawing/2014/main" val="1019153404"/>
                  </a:ext>
                </a:extLst>
              </a:tr>
              <a:tr h="0">
                <a:tc>
                  <a:txBody>
                    <a:bodyPr/>
                    <a:lstStyle/>
                    <a:p>
                      <a:pPr algn="l">
                        <a:buNone/>
                      </a:pPr>
                      <a:r>
                        <a:rPr lang="en-US">
                          <a:effectLst/>
                        </a:rPr>
                        <a:t>Partial dependence plots</a:t>
                      </a:r>
                      <a:endParaRPr lang="en-US" b="0" i="0">
                        <a:solidFill>
                          <a:srgbClr val="FFFFFF"/>
                        </a:solidFill>
                        <a:effectLst/>
                      </a:endParaRPr>
                    </a:p>
                  </a:txBody>
                  <a:tcPr anchor="ctr">
                    <a:solidFill>
                      <a:schemeClr val="bg1">
                        <a:lumMod val="95000"/>
                      </a:schemeClr>
                    </a:solidFill>
                  </a:tcPr>
                </a:tc>
                <a:tc>
                  <a:txBody>
                    <a:bodyPr/>
                    <a:lstStyle/>
                    <a:p>
                      <a:pPr algn="l">
                        <a:buNone/>
                      </a:pPr>
                      <a:r>
                        <a:rPr lang="en-US">
                          <a:effectLst/>
                        </a:rPr>
                        <a:t>Nonlinear models</a:t>
                      </a:r>
                      <a:endParaRPr lang="en-US" b="0" i="0">
                        <a:solidFill>
                          <a:srgbClr val="FFFFFF"/>
                        </a:solidFill>
                        <a:effectLst/>
                      </a:endParaRPr>
                    </a:p>
                  </a:txBody>
                  <a:tcPr anchor="ctr">
                    <a:solidFill>
                      <a:schemeClr val="bg1">
                        <a:lumMod val="95000"/>
                      </a:schemeClr>
                    </a:solidFill>
                  </a:tcPr>
                </a:tc>
                <a:tc>
                  <a:txBody>
                    <a:bodyPr/>
                    <a:lstStyle/>
                    <a:p>
                      <a:pPr algn="l">
                        <a:buNone/>
                      </a:pPr>
                      <a:r>
                        <a:rPr lang="en-US" dirty="0">
                          <a:effectLst/>
                        </a:rPr>
                        <a:t>Average effect of one predictor</a:t>
                      </a:r>
                      <a:endParaRPr lang="en-US" b="0" i="0" dirty="0">
                        <a:solidFill>
                          <a:srgbClr val="FFFFFF"/>
                        </a:solidFill>
                        <a:effectLst/>
                      </a:endParaRPr>
                    </a:p>
                  </a:txBody>
                  <a:tcPr anchor="ctr">
                    <a:solidFill>
                      <a:schemeClr val="bg1">
                        <a:lumMod val="95000"/>
                      </a:schemeClr>
                    </a:solidFill>
                  </a:tcPr>
                </a:tc>
                <a:extLst>
                  <a:ext uri="{0D108BD9-81ED-4DB2-BD59-A6C34878D82A}">
                    <a16:rowId xmlns:a16="http://schemas.microsoft.com/office/drawing/2014/main" val="652553408"/>
                  </a:ext>
                </a:extLst>
              </a:tr>
              <a:tr h="0">
                <a:tc>
                  <a:txBody>
                    <a:bodyPr/>
                    <a:lstStyle/>
                    <a:p>
                      <a:pPr algn="l">
                        <a:buNone/>
                      </a:pPr>
                      <a:r>
                        <a:rPr lang="en-US" dirty="0">
                          <a:effectLst/>
                        </a:rPr>
                        <a:t>ICE plots</a:t>
                      </a:r>
                      <a:endParaRPr lang="en-US" b="0" i="0" dirty="0">
                        <a:solidFill>
                          <a:srgbClr val="FFFFFF"/>
                        </a:solidFill>
                        <a:effectLst/>
                      </a:endParaRPr>
                    </a:p>
                  </a:txBody>
                  <a:tcPr anchor="ctr">
                    <a:solidFill>
                      <a:schemeClr val="bg1">
                        <a:lumMod val="95000"/>
                      </a:schemeClr>
                    </a:solidFill>
                  </a:tcPr>
                </a:tc>
                <a:tc>
                  <a:txBody>
                    <a:bodyPr/>
                    <a:lstStyle/>
                    <a:p>
                      <a:pPr algn="l">
                        <a:buNone/>
                      </a:pPr>
                      <a:r>
                        <a:rPr lang="en-US">
                          <a:effectLst/>
                        </a:rPr>
                        <a:t>Nonlinear models</a:t>
                      </a:r>
                      <a:endParaRPr lang="en-US" b="0" i="0">
                        <a:solidFill>
                          <a:srgbClr val="FFFFFF"/>
                        </a:solidFill>
                        <a:effectLst/>
                      </a:endParaRPr>
                    </a:p>
                  </a:txBody>
                  <a:tcPr anchor="ctr">
                    <a:solidFill>
                      <a:schemeClr val="bg1">
                        <a:lumMod val="95000"/>
                      </a:schemeClr>
                    </a:solidFill>
                  </a:tcPr>
                </a:tc>
                <a:tc>
                  <a:txBody>
                    <a:bodyPr/>
                    <a:lstStyle/>
                    <a:p>
                      <a:pPr algn="l">
                        <a:buNone/>
                      </a:pPr>
                      <a:r>
                        <a:rPr lang="en-US" dirty="0">
                          <a:effectLst/>
                        </a:rPr>
                        <a:t>Individual-level version of partial dependence</a:t>
                      </a:r>
                      <a:endParaRPr lang="en-US" b="0" i="0" dirty="0">
                        <a:solidFill>
                          <a:srgbClr val="FFFFFF"/>
                        </a:solidFill>
                        <a:effectLst/>
                      </a:endParaRPr>
                    </a:p>
                  </a:txBody>
                  <a:tcPr anchor="ctr">
                    <a:solidFill>
                      <a:schemeClr val="bg1">
                        <a:lumMod val="95000"/>
                      </a:schemeClr>
                    </a:solidFill>
                  </a:tcPr>
                </a:tc>
                <a:extLst>
                  <a:ext uri="{0D108BD9-81ED-4DB2-BD59-A6C34878D82A}">
                    <a16:rowId xmlns:a16="http://schemas.microsoft.com/office/drawing/2014/main" val="3558035071"/>
                  </a:ext>
                </a:extLst>
              </a:tr>
              <a:tr h="0">
                <a:tc>
                  <a:txBody>
                    <a:bodyPr/>
                    <a:lstStyle/>
                    <a:p>
                      <a:pPr algn="l">
                        <a:buNone/>
                      </a:pPr>
                      <a:r>
                        <a:rPr lang="en-US">
                          <a:effectLst/>
                        </a:rPr>
                        <a:t>SHAP values</a:t>
                      </a:r>
                      <a:endParaRPr lang="en-US" b="0" i="0">
                        <a:solidFill>
                          <a:srgbClr val="FFFFFF"/>
                        </a:solidFill>
                        <a:effectLst/>
                      </a:endParaRPr>
                    </a:p>
                  </a:txBody>
                  <a:tcPr anchor="ctr">
                    <a:solidFill>
                      <a:schemeClr val="bg1">
                        <a:lumMod val="95000"/>
                      </a:schemeClr>
                    </a:solidFill>
                  </a:tcPr>
                </a:tc>
                <a:tc>
                  <a:txBody>
                    <a:bodyPr/>
                    <a:lstStyle/>
                    <a:p>
                      <a:pPr algn="l">
                        <a:buNone/>
                      </a:pPr>
                      <a:r>
                        <a:rPr lang="en-US">
                          <a:effectLst/>
                        </a:rPr>
                        <a:t>Complex models</a:t>
                      </a:r>
                      <a:endParaRPr lang="en-US" b="0" i="0">
                        <a:solidFill>
                          <a:srgbClr val="FFFFFF"/>
                        </a:solidFill>
                        <a:effectLst/>
                      </a:endParaRPr>
                    </a:p>
                  </a:txBody>
                  <a:tcPr anchor="ctr">
                    <a:solidFill>
                      <a:schemeClr val="bg1">
                        <a:lumMod val="95000"/>
                      </a:schemeClr>
                    </a:solidFill>
                  </a:tcPr>
                </a:tc>
                <a:tc>
                  <a:txBody>
                    <a:bodyPr/>
                    <a:lstStyle/>
                    <a:p>
                      <a:pPr algn="l">
                        <a:buNone/>
                      </a:pPr>
                      <a:r>
                        <a:rPr lang="en-US" dirty="0">
                          <a:effectLst/>
                        </a:rPr>
                        <a:t>Feature contributions to individual predictions</a:t>
                      </a:r>
                      <a:endParaRPr lang="en-US" b="0" i="0" dirty="0">
                        <a:solidFill>
                          <a:srgbClr val="FFFFFF"/>
                        </a:solidFill>
                        <a:effectLst/>
                      </a:endParaRPr>
                    </a:p>
                  </a:txBody>
                  <a:tcPr anchor="ctr">
                    <a:solidFill>
                      <a:schemeClr val="bg1">
                        <a:lumMod val="95000"/>
                      </a:schemeClr>
                    </a:solidFill>
                  </a:tcPr>
                </a:tc>
                <a:extLst>
                  <a:ext uri="{0D108BD9-81ED-4DB2-BD59-A6C34878D82A}">
                    <a16:rowId xmlns:a16="http://schemas.microsoft.com/office/drawing/2014/main" val="2000772005"/>
                  </a:ext>
                </a:extLst>
              </a:tr>
            </a:tbl>
          </a:graphicData>
        </a:graphic>
      </p:graphicFrame>
      <p:sp>
        <p:nvSpPr>
          <p:cNvPr id="4" name="Footer Placeholder 3">
            <a:extLst>
              <a:ext uri="{FF2B5EF4-FFF2-40B4-BE49-F238E27FC236}">
                <a16:creationId xmlns:a16="http://schemas.microsoft.com/office/drawing/2014/main" id="{67BCD66E-82D5-6452-51A0-BFAA3D0E0A4D}"/>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4E5A187E-DB58-7287-0B52-5EE5CB28063E}"/>
              </a:ext>
            </a:extLst>
          </p:cNvPr>
          <p:cNvSpPr>
            <a:spLocks noGrp="1"/>
          </p:cNvSpPr>
          <p:nvPr>
            <p:ph type="sldNum" sz="quarter" idx="12"/>
          </p:nvPr>
        </p:nvSpPr>
        <p:spPr/>
        <p:txBody>
          <a:bodyPr/>
          <a:lstStyle/>
          <a:p>
            <a:fld id="{10A4AB6E-1AC4-C44F-A0CC-883A0306AF8B}" type="slidenum">
              <a:rPr lang="en-US" smtClean="0"/>
              <a:t>5</a:t>
            </a:fld>
            <a:endParaRPr lang="en-US"/>
          </a:p>
        </p:txBody>
      </p:sp>
    </p:spTree>
    <p:extLst>
      <p:ext uri="{BB962C8B-B14F-4D97-AF65-F5344CB8AC3E}">
        <p14:creationId xmlns:p14="http://schemas.microsoft.com/office/powerpoint/2010/main" val="3736752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FAAC0-0E97-C8DB-2180-1C77FF77943E}"/>
              </a:ext>
            </a:extLst>
          </p:cNvPr>
          <p:cNvSpPr>
            <a:spLocks noGrp="1"/>
          </p:cNvSpPr>
          <p:nvPr>
            <p:ph type="title"/>
          </p:nvPr>
        </p:nvSpPr>
        <p:spPr/>
        <p:txBody>
          <a:bodyPr>
            <a:normAutofit fontScale="90000"/>
          </a:bodyPr>
          <a:lstStyle/>
          <a:p>
            <a:r>
              <a:rPr lang="en-US" dirty="0"/>
              <a:t>Permutation importance</a:t>
            </a:r>
          </a:p>
        </p:txBody>
      </p:sp>
      <p:sp>
        <p:nvSpPr>
          <p:cNvPr id="3" name="Content Placeholder 2">
            <a:extLst>
              <a:ext uri="{FF2B5EF4-FFF2-40B4-BE49-F238E27FC236}">
                <a16:creationId xmlns:a16="http://schemas.microsoft.com/office/drawing/2014/main" id="{B3F1D6C8-FFDE-D580-B1A8-63D3E1E2EC9D}"/>
              </a:ext>
            </a:extLst>
          </p:cNvPr>
          <p:cNvSpPr>
            <a:spLocks noGrp="1"/>
          </p:cNvSpPr>
          <p:nvPr>
            <p:ph idx="1"/>
          </p:nvPr>
        </p:nvSpPr>
        <p:spPr/>
        <p:txBody>
          <a:bodyPr>
            <a:normAutofit/>
          </a:bodyPr>
          <a:lstStyle/>
          <a:p>
            <a:r>
              <a:rPr lang="en-US" dirty="0"/>
              <a:t>Permutation importance measures how much model performance gets worse when one predictor is randomly shuffled.</a:t>
            </a:r>
          </a:p>
          <a:p>
            <a:r>
              <a:rPr lang="en-US" dirty="0"/>
              <a:t>Steps</a:t>
            </a:r>
          </a:p>
          <a:p>
            <a:pPr lvl="1"/>
            <a:r>
              <a:rPr lang="en-US" dirty="0"/>
              <a:t>Fit a model.</a:t>
            </a:r>
          </a:p>
          <a:p>
            <a:pPr lvl="1"/>
            <a:r>
              <a:rPr lang="en-US" dirty="0"/>
              <a:t>Measure model performance on test data.</a:t>
            </a:r>
          </a:p>
          <a:p>
            <a:pPr lvl="1"/>
            <a:r>
              <a:rPr lang="en-US" dirty="0"/>
              <a:t>Randomly shuffle one predictor column.</a:t>
            </a:r>
          </a:p>
          <a:p>
            <a:pPr lvl="1"/>
            <a:r>
              <a:rPr lang="en-US" dirty="0"/>
              <a:t>Make predictions again.</a:t>
            </a:r>
          </a:p>
          <a:p>
            <a:pPr lvl="1"/>
            <a:r>
              <a:rPr lang="en-US" dirty="0"/>
              <a:t>Measure how much performance decreases.</a:t>
            </a:r>
          </a:p>
          <a:p>
            <a:pPr lvl="1"/>
            <a:r>
              <a:rPr lang="en-US" dirty="0"/>
              <a:t>Repeat for each predictor.</a:t>
            </a:r>
          </a:p>
        </p:txBody>
      </p:sp>
      <p:sp>
        <p:nvSpPr>
          <p:cNvPr id="4" name="Footer Placeholder 3">
            <a:extLst>
              <a:ext uri="{FF2B5EF4-FFF2-40B4-BE49-F238E27FC236}">
                <a16:creationId xmlns:a16="http://schemas.microsoft.com/office/drawing/2014/main" id="{D2CAF505-EB83-2361-1263-E96F00B2EFFF}"/>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796ED0E-BAC4-1592-55B7-4A0E824564B7}"/>
              </a:ext>
            </a:extLst>
          </p:cNvPr>
          <p:cNvSpPr>
            <a:spLocks noGrp="1"/>
          </p:cNvSpPr>
          <p:nvPr>
            <p:ph type="sldNum" sz="quarter" idx="12"/>
          </p:nvPr>
        </p:nvSpPr>
        <p:spPr/>
        <p:txBody>
          <a:bodyPr/>
          <a:lstStyle/>
          <a:p>
            <a:fld id="{10A4AB6E-1AC4-C44F-A0CC-883A0306AF8B}" type="slidenum">
              <a:rPr lang="en-US" smtClean="0"/>
              <a:t>6</a:t>
            </a:fld>
            <a:endParaRPr lang="en-US"/>
          </a:p>
        </p:txBody>
      </p:sp>
      <p:pic>
        <p:nvPicPr>
          <p:cNvPr id="7" name="Picture 6" descr="Box-and-whisker plot shows permutation importance on a test set, measured as decrease in accuracy score for Titanic-related features. Sex has highest importance at roughly 0.22, followed by pclass near 0.06 and age near 0.03, while fare and remaining features cluster around zero or slightly negative; dashed vertical line marks zero and orange lines mark medians.&#10;">
            <a:extLst>
              <a:ext uri="{FF2B5EF4-FFF2-40B4-BE49-F238E27FC236}">
                <a16:creationId xmlns:a16="http://schemas.microsoft.com/office/drawing/2014/main" id="{F48B592A-4600-8C4F-CEA1-D1388CA9BC54}"/>
              </a:ext>
            </a:extLst>
          </p:cNvPr>
          <p:cNvPicPr>
            <a:picLocks noChangeAspect="1"/>
          </p:cNvPicPr>
          <p:nvPr/>
        </p:nvPicPr>
        <p:blipFill>
          <a:blip r:embed="rId2"/>
          <a:stretch>
            <a:fillRect/>
          </a:stretch>
        </p:blipFill>
        <p:spPr>
          <a:xfrm>
            <a:off x="7461707" y="2598802"/>
            <a:ext cx="4730293" cy="3547720"/>
          </a:xfrm>
          <a:prstGeom prst="rect">
            <a:avLst/>
          </a:prstGeom>
        </p:spPr>
      </p:pic>
      <p:sp>
        <p:nvSpPr>
          <p:cNvPr id="8" name="TextBox 7">
            <a:extLst>
              <a:ext uri="{FF2B5EF4-FFF2-40B4-BE49-F238E27FC236}">
                <a16:creationId xmlns:a16="http://schemas.microsoft.com/office/drawing/2014/main" id="{91850C5E-BA97-3C0D-F287-802B9A539463}"/>
              </a:ext>
            </a:extLst>
          </p:cNvPr>
          <p:cNvSpPr txBox="1"/>
          <p:nvPr/>
        </p:nvSpPr>
        <p:spPr>
          <a:xfrm>
            <a:off x="779097" y="4914899"/>
            <a:ext cx="6850428" cy="1384995"/>
          </a:xfrm>
          <a:prstGeom prst="rect">
            <a:avLst/>
          </a:prstGeom>
          <a:noFill/>
        </p:spPr>
        <p:txBody>
          <a:bodyPr wrap="square" rtlCol="0">
            <a:spAutoFit/>
          </a:bodyPr>
          <a:lstStyle/>
          <a:p>
            <a:r>
              <a:rPr lang="en-US" sz="2800" dirty="0"/>
              <a:t>If shuffling a predictor makes the model much worse, the model depended strongly on that predictor.</a:t>
            </a:r>
          </a:p>
        </p:txBody>
      </p:sp>
    </p:spTree>
    <p:extLst>
      <p:ext uri="{BB962C8B-B14F-4D97-AF65-F5344CB8AC3E}">
        <p14:creationId xmlns:p14="http://schemas.microsoft.com/office/powerpoint/2010/main" val="3450272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F21A7-B394-F550-64E9-9E771BD3A499}"/>
              </a:ext>
            </a:extLst>
          </p:cNvPr>
          <p:cNvSpPr>
            <a:spLocks noGrp="1"/>
          </p:cNvSpPr>
          <p:nvPr>
            <p:ph type="title"/>
          </p:nvPr>
        </p:nvSpPr>
        <p:spPr/>
        <p:txBody>
          <a:bodyPr>
            <a:normAutofit fontScale="90000"/>
          </a:bodyPr>
          <a:lstStyle/>
          <a:p>
            <a:r>
              <a:rPr lang="en-US" dirty="0"/>
              <a:t>Permutation Importance: Strengths</a:t>
            </a:r>
          </a:p>
        </p:txBody>
      </p:sp>
      <p:sp>
        <p:nvSpPr>
          <p:cNvPr id="3" name="Content Placeholder 2">
            <a:extLst>
              <a:ext uri="{FF2B5EF4-FFF2-40B4-BE49-F238E27FC236}">
                <a16:creationId xmlns:a16="http://schemas.microsoft.com/office/drawing/2014/main" id="{05D7D272-5EE5-14D4-F2D0-6A30CCEC421E}"/>
              </a:ext>
            </a:extLst>
          </p:cNvPr>
          <p:cNvSpPr>
            <a:spLocks noGrp="1"/>
          </p:cNvSpPr>
          <p:nvPr>
            <p:ph idx="1"/>
          </p:nvPr>
        </p:nvSpPr>
        <p:spPr/>
        <p:txBody>
          <a:bodyPr>
            <a:normAutofit/>
          </a:bodyPr>
          <a:lstStyle/>
          <a:p>
            <a:pPr lvl="0"/>
            <a:r>
              <a:rPr lang="en-US" dirty="0"/>
              <a:t>Works with almost any model.</a:t>
            </a:r>
          </a:p>
          <a:p>
            <a:pPr lvl="0"/>
            <a:r>
              <a:rPr lang="en-US" dirty="0"/>
              <a:t>Uses test or validation data, so it reflects predictive importance.</a:t>
            </a:r>
          </a:p>
          <a:p>
            <a:pPr lvl="0"/>
            <a:r>
              <a:rPr lang="en-US" dirty="0"/>
              <a:t>Easy to explain.</a:t>
            </a:r>
          </a:p>
          <a:p>
            <a:pPr lvl="0"/>
            <a:r>
              <a:rPr lang="en-US" dirty="0"/>
              <a:t>Useful for black-box models.</a:t>
            </a:r>
          </a:p>
          <a:p>
            <a:pPr lvl="0"/>
            <a:r>
              <a:rPr lang="en-US" dirty="0"/>
              <a:t>Measures importance in terms of model performance.</a:t>
            </a:r>
          </a:p>
          <a:p>
            <a:r>
              <a:rPr lang="en-US" dirty="0"/>
              <a:t>Good for:</a:t>
            </a:r>
          </a:p>
          <a:p>
            <a:pPr lvl="1"/>
            <a:r>
              <a:rPr lang="en-US" dirty="0"/>
              <a:t>Random forests</a:t>
            </a:r>
          </a:p>
          <a:p>
            <a:pPr lvl="1"/>
            <a:r>
              <a:rPr lang="en-US" dirty="0" err="1"/>
              <a:t>XGBoost</a:t>
            </a:r>
            <a:endParaRPr lang="en-US" dirty="0"/>
          </a:p>
          <a:p>
            <a:pPr lvl="1"/>
            <a:r>
              <a:rPr lang="en-US" dirty="0"/>
              <a:t>SVMs</a:t>
            </a:r>
          </a:p>
          <a:p>
            <a:pPr lvl="1"/>
            <a:r>
              <a:rPr lang="en-US" dirty="0"/>
              <a:t>Neural networks</a:t>
            </a:r>
          </a:p>
          <a:p>
            <a:pPr lvl="1"/>
            <a:r>
              <a:rPr lang="en-US" dirty="0"/>
              <a:t>Ensembles</a:t>
            </a:r>
          </a:p>
          <a:p>
            <a:endParaRPr lang="en-US" dirty="0"/>
          </a:p>
        </p:txBody>
      </p:sp>
      <p:sp>
        <p:nvSpPr>
          <p:cNvPr id="4" name="Footer Placeholder 3">
            <a:extLst>
              <a:ext uri="{FF2B5EF4-FFF2-40B4-BE49-F238E27FC236}">
                <a16:creationId xmlns:a16="http://schemas.microsoft.com/office/drawing/2014/main" id="{5591B05D-C8CE-AF53-988D-3820A088F9A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E78BC8BF-DD8A-A1CA-55B4-3AF2F586C3B6}"/>
              </a:ext>
            </a:extLst>
          </p:cNvPr>
          <p:cNvSpPr>
            <a:spLocks noGrp="1"/>
          </p:cNvSpPr>
          <p:nvPr>
            <p:ph type="sldNum" sz="quarter" idx="12"/>
          </p:nvPr>
        </p:nvSpPr>
        <p:spPr/>
        <p:txBody>
          <a:bodyPr/>
          <a:lstStyle/>
          <a:p>
            <a:fld id="{10A4AB6E-1AC4-C44F-A0CC-883A0306AF8B}" type="slidenum">
              <a:rPr lang="en-US" smtClean="0"/>
              <a:t>7</a:t>
            </a:fld>
            <a:endParaRPr lang="en-US"/>
          </a:p>
        </p:txBody>
      </p:sp>
    </p:spTree>
    <p:extLst>
      <p:ext uri="{BB962C8B-B14F-4D97-AF65-F5344CB8AC3E}">
        <p14:creationId xmlns:p14="http://schemas.microsoft.com/office/powerpoint/2010/main" val="3925961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24C5D-A1B2-3B77-8987-3C8B95728285}"/>
              </a:ext>
            </a:extLst>
          </p:cNvPr>
          <p:cNvSpPr>
            <a:spLocks noGrp="1"/>
          </p:cNvSpPr>
          <p:nvPr>
            <p:ph type="title"/>
          </p:nvPr>
        </p:nvSpPr>
        <p:spPr/>
        <p:txBody>
          <a:bodyPr>
            <a:normAutofit fontScale="90000"/>
          </a:bodyPr>
          <a:lstStyle/>
          <a:p>
            <a:r>
              <a:rPr lang="en-US" dirty="0"/>
              <a:t>Permutation Importance: Limitations</a:t>
            </a:r>
          </a:p>
        </p:txBody>
      </p:sp>
      <p:sp>
        <p:nvSpPr>
          <p:cNvPr id="3" name="Content Placeholder 2">
            <a:extLst>
              <a:ext uri="{FF2B5EF4-FFF2-40B4-BE49-F238E27FC236}">
                <a16:creationId xmlns:a16="http://schemas.microsoft.com/office/drawing/2014/main" id="{3C0D6885-E6BF-8076-EFF4-6270938DCC50}"/>
              </a:ext>
            </a:extLst>
          </p:cNvPr>
          <p:cNvSpPr>
            <a:spLocks noGrp="1"/>
          </p:cNvSpPr>
          <p:nvPr>
            <p:ph idx="1"/>
          </p:nvPr>
        </p:nvSpPr>
        <p:spPr/>
        <p:txBody>
          <a:bodyPr/>
          <a:lstStyle/>
          <a:p>
            <a:pPr lvl="0"/>
            <a:r>
              <a:rPr lang="en-US" dirty="0"/>
              <a:t>Correlated predictors can make importance hard to interpret.</a:t>
            </a:r>
          </a:p>
          <a:p>
            <a:pPr lvl="1"/>
            <a:r>
              <a:rPr lang="en-US" dirty="0"/>
              <a:t>If two predictors contain similar information, shuffling one may not hurt much.</a:t>
            </a:r>
          </a:p>
          <a:p>
            <a:pPr lvl="0"/>
            <a:r>
              <a:rPr lang="en-US" dirty="0"/>
              <a:t>Importance depends on the metric used.</a:t>
            </a:r>
          </a:p>
          <a:p>
            <a:pPr lvl="0"/>
            <a:r>
              <a:rPr lang="en-US" dirty="0"/>
              <a:t>Importance depends on the test dataset.</a:t>
            </a:r>
          </a:p>
          <a:p>
            <a:pPr lvl="0"/>
            <a:r>
              <a:rPr lang="en-US" dirty="0"/>
              <a:t>It does not show the direction of the effect.</a:t>
            </a:r>
          </a:p>
          <a:p>
            <a:pPr lvl="0"/>
            <a:r>
              <a:rPr lang="en-US" dirty="0"/>
              <a:t>It does not prove causation.</a:t>
            </a:r>
          </a:p>
        </p:txBody>
      </p:sp>
      <p:sp>
        <p:nvSpPr>
          <p:cNvPr id="4" name="Footer Placeholder 3">
            <a:extLst>
              <a:ext uri="{FF2B5EF4-FFF2-40B4-BE49-F238E27FC236}">
                <a16:creationId xmlns:a16="http://schemas.microsoft.com/office/drawing/2014/main" id="{2DE02A3E-60C4-911D-14AE-6EE5F8890AA8}"/>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37A5EDD-D68F-55CD-925B-81B547587BB1}"/>
              </a:ext>
            </a:extLst>
          </p:cNvPr>
          <p:cNvSpPr>
            <a:spLocks noGrp="1"/>
          </p:cNvSpPr>
          <p:nvPr>
            <p:ph type="sldNum" sz="quarter" idx="12"/>
          </p:nvPr>
        </p:nvSpPr>
        <p:spPr/>
        <p:txBody>
          <a:bodyPr/>
          <a:lstStyle/>
          <a:p>
            <a:fld id="{10A4AB6E-1AC4-C44F-A0CC-883A0306AF8B}" type="slidenum">
              <a:rPr lang="en-US" smtClean="0"/>
              <a:t>8</a:t>
            </a:fld>
            <a:endParaRPr lang="en-US"/>
          </a:p>
        </p:txBody>
      </p:sp>
    </p:spTree>
    <p:extLst>
      <p:ext uri="{BB962C8B-B14F-4D97-AF65-F5344CB8AC3E}">
        <p14:creationId xmlns:p14="http://schemas.microsoft.com/office/powerpoint/2010/main" val="3765874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A7819-DBE0-5558-FEA0-5A94EFC763AD}"/>
              </a:ext>
            </a:extLst>
          </p:cNvPr>
          <p:cNvSpPr>
            <a:spLocks noGrp="1"/>
          </p:cNvSpPr>
          <p:nvPr>
            <p:ph type="title"/>
          </p:nvPr>
        </p:nvSpPr>
        <p:spPr/>
        <p:txBody>
          <a:bodyPr>
            <a:normAutofit fontScale="90000"/>
          </a:bodyPr>
          <a:lstStyle/>
          <a:p>
            <a:r>
              <a:rPr lang="en-US" dirty="0"/>
              <a:t>Partial Dependence</a:t>
            </a:r>
          </a:p>
        </p:txBody>
      </p:sp>
      <p:sp>
        <p:nvSpPr>
          <p:cNvPr id="3" name="Content Placeholder 2">
            <a:extLst>
              <a:ext uri="{FF2B5EF4-FFF2-40B4-BE49-F238E27FC236}">
                <a16:creationId xmlns:a16="http://schemas.microsoft.com/office/drawing/2014/main" id="{E043D36E-384D-42F1-D033-FCABBDAF0748}"/>
              </a:ext>
            </a:extLst>
          </p:cNvPr>
          <p:cNvSpPr>
            <a:spLocks noGrp="1"/>
          </p:cNvSpPr>
          <p:nvPr>
            <p:ph idx="1"/>
          </p:nvPr>
        </p:nvSpPr>
        <p:spPr/>
        <p:txBody>
          <a:bodyPr/>
          <a:lstStyle/>
          <a:p>
            <a:r>
              <a:rPr lang="en-US" dirty="0"/>
              <a:t>A partial dependence plot, or PDP, shows the average predicted response as one predictor changes.</a:t>
            </a:r>
          </a:p>
          <a:p>
            <a:r>
              <a:rPr lang="en-US" dirty="0"/>
              <a:t>Steps</a:t>
            </a:r>
          </a:p>
          <a:p>
            <a:pPr lvl="1"/>
            <a:r>
              <a:rPr lang="en-US" dirty="0"/>
              <a:t>Replace that predictor with a fixed value for every observation.</a:t>
            </a:r>
          </a:p>
          <a:p>
            <a:pPr lvl="1"/>
            <a:r>
              <a:rPr lang="en-US" dirty="0"/>
              <a:t>Keep all other predictors as observed.</a:t>
            </a:r>
          </a:p>
          <a:p>
            <a:pPr lvl="1"/>
            <a:r>
              <a:rPr lang="en-US" dirty="0"/>
              <a:t>Use the model to predict every row.</a:t>
            </a:r>
          </a:p>
          <a:p>
            <a:pPr lvl="1"/>
            <a:r>
              <a:rPr lang="en-US" dirty="0"/>
              <a:t>Average the predictions.</a:t>
            </a:r>
          </a:p>
          <a:p>
            <a:pPr lvl="1"/>
            <a:r>
              <a:rPr lang="en-US" dirty="0"/>
              <a:t>Repeat across many values.</a:t>
            </a:r>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FA3FF797-180C-BECA-7B00-167168C7577E}"/>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CCC2D488-9297-7935-C1C7-1ED29EC3F399}"/>
              </a:ext>
            </a:extLst>
          </p:cNvPr>
          <p:cNvSpPr>
            <a:spLocks noGrp="1"/>
          </p:cNvSpPr>
          <p:nvPr>
            <p:ph type="sldNum" sz="quarter" idx="12"/>
          </p:nvPr>
        </p:nvSpPr>
        <p:spPr/>
        <p:txBody>
          <a:bodyPr/>
          <a:lstStyle/>
          <a:p>
            <a:fld id="{10A4AB6E-1AC4-C44F-A0CC-883A0306AF8B}" type="slidenum">
              <a:rPr lang="en-US" smtClean="0"/>
              <a:t>9</a:t>
            </a:fld>
            <a:endParaRPr lang="en-US"/>
          </a:p>
        </p:txBody>
      </p:sp>
    </p:spTree>
    <p:extLst>
      <p:ext uri="{BB962C8B-B14F-4D97-AF65-F5344CB8AC3E}">
        <p14:creationId xmlns:p14="http://schemas.microsoft.com/office/powerpoint/2010/main" val="517347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17FE7-D9F7-7AD5-F800-A1CF8E20BA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2C1E4-E9C7-585D-96E5-5E3FFF3848E5}"/>
              </a:ext>
            </a:extLst>
          </p:cNvPr>
          <p:cNvSpPr>
            <a:spLocks noGrp="1"/>
          </p:cNvSpPr>
          <p:nvPr>
            <p:ph type="title"/>
          </p:nvPr>
        </p:nvSpPr>
        <p:spPr/>
        <p:txBody>
          <a:bodyPr>
            <a:normAutofit fontScale="90000"/>
          </a:bodyPr>
          <a:lstStyle/>
          <a:p>
            <a:r>
              <a:rPr lang="en-US" dirty="0"/>
              <a:t>Partial Dependence Plot</a:t>
            </a:r>
          </a:p>
        </p:txBody>
      </p:sp>
      <p:sp>
        <p:nvSpPr>
          <p:cNvPr id="4" name="Footer Placeholder 3">
            <a:extLst>
              <a:ext uri="{FF2B5EF4-FFF2-40B4-BE49-F238E27FC236}">
                <a16:creationId xmlns:a16="http://schemas.microsoft.com/office/drawing/2014/main" id="{5FB92C2C-967C-2ACE-20F6-7EC464821B78}"/>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73E75CE8-E9F9-182D-7A11-4E2EC53EDFE8}"/>
              </a:ext>
            </a:extLst>
          </p:cNvPr>
          <p:cNvSpPr>
            <a:spLocks noGrp="1"/>
          </p:cNvSpPr>
          <p:nvPr>
            <p:ph type="sldNum" sz="quarter" idx="12"/>
          </p:nvPr>
        </p:nvSpPr>
        <p:spPr/>
        <p:txBody>
          <a:bodyPr/>
          <a:lstStyle/>
          <a:p>
            <a:fld id="{10A4AB6E-1AC4-C44F-A0CC-883A0306AF8B}" type="slidenum">
              <a:rPr lang="en-US" smtClean="0"/>
              <a:t>10</a:t>
            </a:fld>
            <a:endParaRPr lang="en-US"/>
          </a:p>
        </p:txBody>
      </p:sp>
      <p:pic>
        <p:nvPicPr>
          <p:cNvPr id="6" name="Picture 5" descr="Multi-panel partial-dependence plot summarizes model-predicted response (ŷ) across four iris measurements and their interaction. Line charts show mostly nonlinear declines with slight rebounds, while bottom contour plot maps Petal.Width–Sepal.Width interaction using a red-to-blue scale from 1 to −1.&#10;">
            <a:extLst>
              <a:ext uri="{FF2B5EF4-FFF2-40B4-BE49-F238E27FC236}">
                <a16:creationId xmlns:a16="http://schemas.microsoft.com/office/drawing/2014/main" id="{05D55FCA-EB11-3F06-ED7E-37B1D70E0D6F}"/>
              </a:ext>
            </a:extLst>
          </p:cNvPr>
          <p:cNvPicPr>
            <a:picLocks noChangeAspect="1"/>
          </p:cNvPicPr>
          <p:nvPr/>
        </p:nvPicPr>
        <p:blipFill>
          <a:blip r:embed="rId3"/>
          <a:stretch>
            <a:fillRect/>
          </a:stretch>
        </p:blipFill>
        <p:spPr>
          <a:xfrm>
            <a:off x="2386012" y="1056368"/>
            <a:ext cx="7419975" cy="5299982"/>
          </a:xfrm>
          <a:prstGeom prst="rect">
            <a:avLst/>
          </a:prstGeom>
        </p:spPr>
      </p:pic>
    </p:spTree>
    <p:extLst>
      <p:ext uri="{BB962C8B-B14F-4D97-AF65-F5344CB8AC3E}">
        <p14:creationId xmlns:p14="http://schemas.microsoft.com/office/powerpoint/2010/main" val="1425924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36E7C-D23E-9F01-8DC4-CA01389ED0CF}"/>
              </a:ext>
            </a:extLst>
          </p:cNvPr>
          <p:cNvSpPr>
            <a:spLocks noGrp="1"/>
          </p:cNvSpPr>
          <p:nvPr>
            <p:ph type="title"/>
          </p:nvPr>
        </p:nvSpPr>
        <p:spPr/>
        <p:txBody>
          <a:bodyPr>
            <a:normAutofit fontScale="90000"/>
          </a:bodyPr>
          <a:lstStyle/>
          <a:p>
            <a:r>
              <a:rPr lang="en-US" dirty="0"/>
              <a:t>Partial Dependence: Strengths</a:t>
            </a:r>
          </a:p>
        </p:txBody>
      </p:sp>
      <p:sp>
        <p:nvSpPr>
          <p:cNvPr id="3" name="Content Placeholder 2">
            <a:extLst>
              <a:ext uri="{FF2B5EF4-FFF2-40B4-BE49-F238E27FC236}">
                <a16:creationId xmlns:a16="http://schemas.microsoft.com/office/drawing/2014/main" id="{B9F94056-88F3-9C73-5B4C-1D108F547142}"/>
              </a:ext>
            </a:extLst>
          </p:cNvPr>
          <p:cNvSpPr>
            <a:spLocks noGrp="1"/>
          </p:cNvSpPr>
          <p:nvPr>
            <p:ph idx="1"/>
          </p:nvPr>
        </p:nvSpPr>
        <p:spPr/>
        <p:txBody>
          <a:bodyPr>
            <a:normAutofit/>
          </a:bodyPr>
          <a:lstStyle/>
          <a:p>
            <a:pPr lvl="0"/>
            <a:r>
              <a:rPr lang="en-US" dirty="0"/>
              <a:t>Shows direction and shape of model relationships.</a:t>
            </a:r>
          </a:p>
          <a:p>
            <a:pPr lvl="0"/>
            <a:r>
              <a:rPr lang="en-US" dirty="0"/>
              <a:t>Works with nonlinear models.</a:t>
            </a:r>
          </a:p>
          <a:p>
            <a:pPr lvl="0"/>
            <a:r>
              <a:rPr lang="en-US" dirty="0"/>
              <a:t>Helps identify thresholds or saturation effects.</a:t>
            </a:r>
          </a:p>
          <a:p>
            <a:pPr lvl="0"/>
            <a:r>
              <a:rPr lang="en-US" dirty="0"/>
              <a:t>Easier to interpret than raw feature importance.</a:t>
            </a:r>
          </a:p>
          <a:p>
            <a:pPr lvl="0"/>
            <a:r>
              <a:rPr lang="en-US" dirty="0"/>
              <a:t>Useful for explaining model behavior to scientific audiences.</a:t>
            </a:r>
          </a:p>
          <a:p>
            <a:r>
              <a:rPr lang="en-US" dirty="0"/>
              <a:t>Good for questions like:</a:t>
            </a:r>
          </a:p>
          <a:p>
            <a:pPr lvl="1"/>
            <a:r>
              <a:rPr lang="en-US" dirty="0"/>
              <a:t>Does predicted risk increase with precipitation?</a:t>
            </a:r>
          </a:p>
          <a:p>
            <a:pPr lvl="1"/>
            <a:r>
              <a:rPr lang="en-US" dirty="0"/>
              <a:t>Is the relationship between elevation and snow persistence linear?</a:t>
            </a:r>
          </a:p>
          <a:p>
            <a:pPr lvl="1"/>
            <a:r>
              <a:rPr lang="en-US" dirty="0"/>
              <a:t>Does vegetation cover have a threshold effect?</a:t>
            </a:r>
          </a:p>
          <a:p>
            <a:pPr lvl="1"/>
            <a:r>
              <a:rPr lang="en-US" dirty="0"/>
              <a:t>How does predicted SST change with month or latitude?</a:t>
            </a:r>
          </a:p>
          <a:p>
            <a:endParaRPr lang="en-US" dirty="0"/>
          </a:p>
        </p:txBody>
      </p:sp>
      <p:sp>
        <p:nvSpPr>
          <p:cNvPr id="4" name="Footer Placeholder 3">
            <a:extLst>
              <a:ext uri="{FF2B5EF4-FFF2-40B4-BE49-F238E27FC236}">
                <a16:creationId xmlns:a16="http://schemas.microsoft.com/office/drawing/2014/main" id="{E48EDD86-F55F-862A-AF71-3D68EE475348}"/>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B2FD87A6-175E-6DB8-4397-63DA7551BD02}"/>
              </a:ext>
            </a:extLst>
          </p:cNvPr>
          <p:cNvSpPr>
            <a:spLocks noGrp="1"/>
          </p:cNvSpPr>
          <p:nvPr>
            <p:ph type="sldNum" sz="quarter" idx="12"/>
          </p:nvPr>
        </p:nvSpPr>
        <p:spPr/>
        <p:txBody>
          <a:bodyPr/>
          <a:lstStyle/>
          <a:p>
            <a:fld id="{10A4AB6E-1AC4-C44F-A0CC-883A0306AF8B}" type="slidenum">
              <a:rPr lang="en-US" smtClean="0"/>
              <a:t>11</a:t>
            </a:fld>
            <a:endParaRPr lang="en-US"/>
          </a:p>
        </p:txBody>
      </p:sp>
    </p:spTree>
    <p:extLst>
      <p:ext uri="{BB962C8B-B14F-4D97-AF65-F5344CB8AC3E}">
        <p14:creationId xmlns:p14="http://schemas.microsoft.com/office/powerpoint/2010/main" val="2364221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DBBB-61C9-6B1B-B1E1-76FB00B59945}"/>
              </a:ext>
            </a:extLst>
          </p:cNvPr>
          <p:cNvSpPr>
            <a:spLocks noGrp="1"/>
          </p:cNvSpPr>
          <p:nvPr>
            <p:ph type="title"/>
          </p:nvPr>
        </p:nvSpPr>
        <p:spPr/>
        <p:txBody>
          <a:bodyPr>
            <a:normAutofit fontScale="90000"/>
          </a:bodyPr>
          <a:lstStyle/>
          <a:p>
            <a:r>
              <a:rPr lang="en-US" dirty="0"/>
              <a:t>Partial Dependence: Limitations</a:t>
            </a:r>
          </a:p>
        </p:txBody>
      </p:sp>
      <p:sp>
        <p:nvSpPr>
          <p:cNvPr id="3" name="Content Placeholder 2">
            <a:extLst>
              <a:ext uri="{FF2B5EF4-FFF2-40B4-BE49-F238E27FC236}">
                <a16:creationId xmlns:a16="http://schemas.microsoft.com/office/drawing/2014/main" id="{C44194C0-6FA8-042F-B695-6F7FDEFDB03F}"/>
              </a:ext>
            </a:extLst>
          </p:cNvPr>
          <p:cNvSpPr>
            <a:spLocks noGrp="1"/>
          </p:cNvSpPr>
          <p:nvPr>
            <p:ph idx="1"/>
          </p:nvPr>
        </p:nvSpPr>
        <p:spPr/>
        <p:txBody>
          <a:bodyPr/>
          <a:lstStyle/>
          <a:p>
            <a:pPr lvl="0"/>
            <a:r>
              <a:rPr lang="en-US" dirty="0"/>
              <a:t>Show average effects and can hide heterogeneity.</a:t>
            </a:r>
          </a:p>
          <a:p>
            <a:pPr lvl="0"/>
            <a:r>
              <a:rPr lang="en-US" dirty="0"/>
              <a:t>They can be misleading when predictors are strongly correlated.</a:t>
            </a:r>
          </a:p>
          <a:p>
            <a:pPr lvl="0"/>
            <a:r>
              <a:rPr lang="en-US" dirty="0"/>
              <a:t>They may evaluate unrealistic predictor combinations.</a:t>
            </a:r>
          </a:p>
          <a:p>
            <a:pPr lvl="0"/>
            <a:r>
              <a:rPr lang="en-US" dirty="0"/>
              <a:t>They do not show individual-level differences.</a:t>
            </a:r>
          </a:p>
          <a:p>
            <a:pPr lvl="0"/>
            <a:r>
              <a:rPr lang="en-US" dirty="0"/>
              <a:t>They explain the model, not the true physical process.</a:t>
            </a:r>
          </a:p>
          <a:p>
            <a:endParaRPr lang="en-US" dirty="0"/>
          </a:p>
        </p:txBody>
      </p:sp>
      <p:sp>
        <p:nvSpPr>
          <p:cNvPr id="4" name="Footer Placeholder 3">
            <a:extLst>
              <a:ext uri="{FF2B5EF4-FFF2-40B4-BE49-F238E27FC236}">
                <a16:creationId xmlns:a16="http://schemas.microsoft.com/office/drawing/2014/main" id="{CC599DFD-AFFE-FF15-3613-05D79CB57609}"/>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F259CBBF-9E6A-97C1-A546-953F7F2731E9}"/>
              </a:ext>
            </a:extLst>
          </p:cNvPr>
          <p:cNvSpPr>
            <a:spLocks noGrp="1"/>
          </p:cNvSpPr>
          <p:nvPr>
            <p:ph type="sldNum" sz="quarter" idx="12"/>
          </p:nvPr>
        </p:nvSpPr>
        <p:spPr/>
        <p:txBody>
          <a:bodyPr/>
          <a:lstStyle/>
          <a:p>
            <a:fld id="{10A4AB6E-1AC4-C44F-A0CC-883A0306AF8B}" type="slidenum">
              <a:rPr lang="en-US" smtClean="0"/>
              <a:t>12</a:t>
            </a:fld>
            <a:endParaRPr lang="en-US"/>
          </a:p>
        </p:txBody>
      </p:sp>
    </p:spTree>
    <p:extLst>
      <p:ext uri="{BB962C8B-B14F-4D97-AF65-F5344CB8AC3E}">
        <p14:creationId xmlns:p14="http://schemas.microsoft.com/office/powerpoint/2010/main" val="701254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9AF8E-3FF6-0F6E-0D42-242831FBE028}"/>
              </a:ext>
            </a:extLst>
          </p:cNvPr>
          <p:cNvSpPr>
            <a:spLocks noGrp="1"/>
          </p:cNvSpPr>
          <p:nvPr>
            <p:ph type="title"/>
          </p:nvPr>
        </p:nvSpPr>
        <p:spPr/>
        <p:txBody>
          <a:bodyPr>
            <a:normAutofit fontScale="90000"/>
          </a:bodyPr>
          <a:lstStyle/>
          <a:p>
            <a:r>
              <a:rPr lang="en-US" dirty="0"/>
              <a:t>Individual Conditional Expectation (ICE)</a:t>
            </a:r>
          </a:p>
        </p:txBody>
      </p:sp>
      <p:sp>
        <p:nvSpPr>
          <p:cNvPr id="3" name="Content Placeholder 2">
            <a:extLst>
              <a:ext uri="{FF2B5EF4-FFF2-40B4-BE49-F238E27FC236}">
                <a16:creationId xmlns:a16="http://schemas.microsoft.com/office/drawing/2014/main" id="{0F8694CA-B06F-B567-D0C7-B84D613C3D97}"/>
              </a:ext>
            </a:extLst>
          </p:cNvPr>
          <p:cNvSpPr>
            <a:spLocks noGrp="1"/>
          </p:cNvSpPr>
          <p:nvPr>
            <p:ph idx="1"/>
          </p:nvPr>
        </p:nvSpPr>
        <p:spPr/>
        <p:txBody>
          <a:bodyPr>
            <a:normAutofit/>
          </a:bodyPr>
          <a:lstStyle/>
          <a:p>
            <a:r>
              <a:rPr lang="en-US" dirty="0"/>
              <a:t>ICE plots are similar to PDPs, but instead of averaging over all observations, they show one curve per observation.</a:t>
            </a:r>
          </a:p>
          <a:p>
            <a:r>
              <a:rPr lang="en-US" dirty="0"/>
              <a:t>A PDP is the average of many ICE curve</a:t>
            </a:r>
          </a:p>
          <a:p>
            <a:r>
              <a:rPr lang="en-US" dirty="0"/>
              <a:t>Steps</a:t>
            </a:r>
          </a:p>
          <a:p>
            <a:pPr lvl="1"/>
            <a:r>
              <a:rPr lang="en-US" dirty="0"/>
              <a:t>Keep all other variables fixed.</a:t>
            </a:r>
          </a:p>
          <a:p>
            <a:pPr lvl="1"/>
            <a:r>
              <a:rPr lang="en-US" dirty="0"/>
              <a:t>Change the predictor of interest across a range of values.</a:t>
            </a:r>
          </a:p>
          <a:p>
            <a:pPr lvl="1"/>
            <a:r>
              <a:rPr lang="en-US" dirty="0"/>
              <a:t>Predict the outcome at each value.</a:t>
            </a:r>
          </a:p>
          <a:p>
            <a:pPr lvl="1"/>
            <a:r>
              <a:rPr lang="en-US" dirty="0"/>
              <a:t>Draw one curve.</a:t>
            </a:r>
          </a:p>
          <a:p>
            <a:pPr lvl="1"/>
            <a:r>
              <a:rPr lang="en-US" dirty="0"/>
              <a:t>Repeat this for many observations.</a:t>
            </a:r>
          </a:p>
          <a:p>
            <a:r>
              <a:rPr lang="en-US" dirty="0"/>
              <a:t>If there are 100 observations, the ICE plot may show 100 curves.</a:t>
            </a:r>
          </a:p>
          <a:p>
            <a:r>
              <a:rPr lang="en-US" dirty="0"/>
              <a:t>The average of those curves is the PDP.</a:t>
            </a:r>
          </a:p>
          <a:p>
            <a:endParaRPr lang="en-US" dirty="0"/>
          </a:p>
          <a:p>
            <a:endParaRPr lang="en-US" dirty="0"/>
          </a:p>
        </p:txBody>
      </p:sp>
      <p:sp>
        <p:nvSpPr>
          <p:cNvPr id="4" name="Footer Placeholder 3">
            <a:extLst>
              <a:ext uri="{FF2B5EF4-FFF2-40B4-BE49-F238E27FC236}">
                <a16:creationId xmlns:a16="http://schemas.microsoft.com/office/drawing/2014/main" id="{E8B02BDD-AD29-FD56-97AB-EF9EF3EAE6C4}"/>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C56C310E-9E44-234E-8AA2-259BFC013F62}"/>
              </a:ext>
            </a:extLst>
          </p:cNvPr>
          <p:cNvSpPr>
            <a:spLocks noGrp="1"/>
          </p:cNvSpPr>
          <p:nvPr>
            <p:ph type="sldNum" sz="quarter" idx="12"/>
          </p:nvPr>
        </p:nvSpPr>
        <p:spPr/>
        <p:txBody>
          <a:bodyPr/>
          <a:lstStyle/>
          <a:p>
            <a:fld id="{10A4AB6E-1AC4-C44F-A0CC-883A0306AF8B}" type="slidenum">
              <a:rPr lang="en-US" smtClean="0"/>
              <a:t>13</a:t>
            </a:fld>
            <a:endParaRPr lang="en-US"/>
          </a:p>
        </p:txBody>
      </p:sp>
    </p:spTree>
    <p:extLst>
      <p:ext uri="{BB962C8B-B14F-4D97-AF65-F5344CB8AC3E}">
        <p14:creationId xmlns:p14="http://schemas.microsoft.com/office/powerpoint/2010/main" val="3455763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6EA38-C8C5-C84F-EF9E-E0FAB952717C}"/>
              </a:ext>
            </a:extLst>
          </p:cNvPr>
          <p:cNvSpPr>
            <a:spLocks noGrp="1"/>
          </p:cNvSpPr>
          <p:nvPr>
            <p:ph type="title"/>
          </p:nvPr>
        </p:nvSpPr>
        <p:spPr/>
        <p:txBody>
          <a:bodyPr>
            <a:normAutofit fontScale="90000"/>
          </a:bodyPr>
          <a:lstStyle/>
          <a:p>
            <a:r>
              <a:rPr lang="en-US" dirty="0"/>
              <a:t>ICE Plot</a:t>
            </a:r>
          </a:p>
        </p:txBody>
      </p:sp>
      <p:sp>
        <p:nvSpPr>
          <p:cNvPr id="4" name="Footer Placeholder 3">
            <a:extLst>
              <a:ext uri="{FF2B5EF4-FFF2-40B4-BE49-F238E27FC236}">
                <a16:creationId xmlns:a16="http://schemas.microsoft.com/office/drawing/2014/main" id="{94A3B8E9-4E4F-EEF0-6F37-EB712378284C}"/>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60086568-7B1C-9CC7-D106-868E33901E14}"/>
              </a:ext>
            </a:extLst>
          </p:cNvPr>
          <p:cNvSpPr>
            <a:spLocks noGrp="1"/>
          </p:cNvSpPr>
          <p:nvPr>
            <p:ph type="sldNum" sz="quarter" idx="12"/>
          </p:nvPr>
        </p:nvSpPr>
        <p:spPr/>
        <p:txBody>
          <a:bodyPr/>
          <a:lstStyle/>
          <a:p>
            <a:fld id="{10A4AB6E-1AC4-C44F-A0CC-883A0306AF8B}" type="slidenum">
              <a:rPr lang="en-US" smtClean="0"/>
              <a:t>14</a:t>
            </a:fld>
            <a:endParaRPr lang="en-US"/>
          </a:p>
        </p:txBody>
      </p:sp>
      <p:pic>
        <p:nvPicPr>
          <p:cNvPr id="6" name="Picture 5" descr="Line graph titled “Individual Conditional Expectation (ICE) Plot with PDP,” showing model partial dependence across MedInc values. Numerous blue individual curves trend upward with increasing MedInc, while orange dashed average line marks a stepped rise from about 1 to 3.5.&#10;&#10;">
            <a:extLst>
              <a:ext uri="{FF2B5EF4-FFF2-40B4-BE49-F238E27FC236}">
                <a16:creationId xmlns:a16="http://schemas.microsoft.com/office/drawing/2014/main" id="{9FCFBE2D-90A0-3965-EB01-65ECD276AD4E}"/>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1564480" y="1400176"/>
            <a:ext cx="8766363" cy="4684262"/>
          </a:xfrm>
          <a:prstGeom prst="rect">
            <a:avLst/>
          </a:prstGeom>
        </p:spPr>
      </p:pic>
    </p:spTree>
    <p:extLst>
      <p:ext uri="{BB962C8B-B14F-4D97-AF65-F5344CB8AC3E}">
        <p14:creationId xmlns:p14="http://schemas.microsoft.com/office/powerpoint/2010/main" val="34070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9AC60-7E77-19D0-4DB6-BDADD3B597DD}"/>
              </a:ext>
            </a:extLst>
          </p:cNvPr>
          <p:cNvSpPr>
            <a:spLocks noGrp="1"/>
          </p:cNvSpPr>
          <p:nvPr>
            <p:ph type="title"/>
          </p:nvPr>
        </p:nvSpPr>
        <p:spPr/>
        <p:txBody>
          <a:bodyPr>
            <a:normAutofit fontScale="90000"/>
          </a:bodyPr>
          <a:lstStyle/>
          <a:p>
            <a:r>
              <a:rPr lang="en-US" dirty="0"/>
              <a:t>Individual Conditional Expectation: Strengths</a:t>
            </a:r>
          </a:p>
        </p:txBody>
      </p:sp>
      <p:sp>
        <p:nvSpPr>
          <p:cNvPr id="3" name="Content Placeholder 2">
            <a:extLst>
              <a:ext uri="{FF2B5EF4-FFF2-40B4-BE49-F238E27FC236}">
                <a16:creationId xmlns:a16="http://schemas.microsoft.com/office/drawing/2014/main" id="{2BDA2A43-508D-E39B-A35E-2AA1B15B66DF}"/>
              </a:ext>
            </a:extLst>
          </p:cNvPr>
          <p:cNvSpPr>
            <a:spLocks noGrp="1"/>
          </p:cNvSpPr>
          <p:nvPr>
            <p:ph idx="1"/>
          </p:nvPr>
        </p:nvSpPr>
        <p:spPr/>
        <p:txBody>
          <a:bodyPr/>
          <a:lstStyle/>
          <a:p>
            <a:pPr lvl="0"/>
            <a:r>
              <a:rPr lang="en-US" dirty="0"/>
              <a:t>Shows heterogeneity hidden by PDPs.</a:t>
            </a:r>
          </a:p>
          <a:p>
            <a:pPr lvl="0"/>
            <a:r>
              <a:rPr lang="en-US" dirty="0"/>
              <a:t>Helps detect interactions.</a:t>
            </a:r>
          </a:p>
          <a:p>
            <a:pPr lvl="0"/>
            <a:r>
              <a:rPr lang="en-US" dirty="0"/>
              <a:t>Useful when the same predictor has different effects in different contexts.</a:t>
            </a:r>
          </a:p>
          <a:p>
            <a:pPr lvl="0"/>
            <a:r>
              <a:rPr lang="en-US" dirty="0"/>
              <a:t>Can reveal whether the average PDP is misleading.</a:t>
            </a:r>
          </a:p>
          <a:p>
            <a:pPr lvl="0"/>
            <a:r>
              <a:rPr lang="en-US" dirty="0"/>
              <a:t>Helps diagnose model behavior.</a:t>
            </a:r>
          </a:p>
          <a:p>
            <a:endParaRPr lang="en-US" dirty="0"/>
          </a:p>
        </p:txBody>
      </p:sp>
      <p:sp>
        <p:nvSpPr>
          <p:cNvPr id="4" name="Footer Placeholder 3">
            <a:extLst>
              <a:ext uri="{FF2B5EF4-FFF2-40B4-BE49-F238E27FC236}">
                <a16:creationId xmlns:a16="http://schemas.microsoft.com/office/drawing/2014/main" id="{46076E04-FAFE-E503-66CB-DCC71D2E069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5892AB5F-4531-1539-8CF8-9463F73C0D2F}"/>
              </a:ext>
            </a:extLst>
          </p:cNvPr>
          <p:cNvSpPr>
            <a:spLocks noGrp="1"/>
          </p:cNvSpPr>
          <p:nvPr>
            <p:ph type="sldNum" sz="quarter" idx="12"/>
          </p:nvPr>
        </p:nvSpPr>
        <p:spPr/>
        <p:txBody>
          <a:bodyPr/>
          <a:lstStyle/>
          <a:p>
            <a:fld id="{10A4AB6E-1AC4-C44F-A0CC-883A0306AF8B}" type="slidenum">
              <a:rPr lang="en-US" smtClean="0"/>
              <a:t>15</a:t>
            </a:fld>
            <a:endParaRPr lang="en-US"/>
          </a:p>
        </p:txBody>
      </p:sp>
    </p:spTree>
    <p:extLst>
      <p:ext uri="{BB962C8B-B14F-4D97-AF65-F5344CB8AC3E}">
        <p14:creationId xmlns:p14="http://schemas.microsoft.com/office/powerpoint/2010/main" val="4077466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09652-367E-111E-DB40-F6E2BFFEF0B5}"/>
              </a:ext>
            </a:extLst>
          </p:cNvPr>
          <p:cNvSpPr>
            <a:spLocks noGrp="1"/>
          </p:cNvSpPr>
          <p:nvPr>
            <p:ph type="title"/>
          </p:nvPr>
        </p:nvSpPr>
        <p:spPr/>
        <p:txBody>
          <a:bodyPr>
            <a:normAutofit fontScale="90000"/>
          </a:bodyPr>
          <a:lstStyle/>
          <a:p>
            <a:r>
              <a:rPr lang="en-US" dirty="0"/>
              <a:t>Individual Conditional Expectation: Limitations</a:t>
            </a:r>
          </a:p>
        </p:txBody>
      </p:sp>
      <p:sp>
        <p:nvSpPr>
          <p:cNvPr id="3" name="Content Placeholder 2">
            <a:extLst>
              <a:ext uri="{FF2B5EF4-FFF2-40B4-BE49-F238E27FC236}">
                <a16:creationId xmlns:a16="http://schemas.microsoft.com/office/drawing/2014/main" id="{F9331FD5-E4D8-8830-715B-64A3F1703D6F}"/>
              </a:ext>
            </a:extLst>
          </p:cNvPr>
          <p:cNvSpPr>
            <a:spLocks noGrp="1"/>
          </p:cNvSpPr>
          <p:nvPr>
            <p:ph idx="1"/>
          </p:nvPr>
        </p:nvSpPr>
        <p:spPr/>
        <p:txBody>
          <a:bodyPr>
            <a:normAutofit/>
          </a:bodyPr>
          <a:lstStyle/>
          <a:p>
            <a:pPr lvl="0"/>
            <a:r>
              <a:rPr lang="en-US" dirty="0"/>
              <a:t>Can be visually cluttered with many observations.</a:t>
            </a:r>
          </a:p>
          <a:p>
            <a:pPr lvl="0"/>
            <a:r>
              <a:rPr lang="en-US" dirty="0"/>
              <a:t>Like PDPs, can create unrealistic predictor combinations.</a:t>
            </a:r>
          </a:p>
          <a:p>
            <a:pPr lvl="0"/>
            <a:r>
              <a:rPr lang="en-US" dirty="0"/>
              <a:t>Curves can be hard to interpret with correlated predictors.</a:t>
            </a:r>
          </a:p>
          <a:p>
            <a:pPr lvl="0"/>
            <a:r>
              <a:rPr lang="en-US" dirty="0"/>
              <a:t>Does not prove causation.</a:t>
            </a:r>
          </a:p>
          <a:p>
            <a:pPr lvl="0"/>
            <a:r>
              <a:rPr lang="en-US" dirty="0"/>
              <a:t>Requires careful choice of sample size and predictor range.</a:t>
            </a:r>
          </a:p>
          <a:p>
            <a:r>
              <a:rPr lang="en-US" dirty="0"/>
              <a:t>Useful fixes:</a:t>
            </a:r>
          </a:p>
          <a:p>
            <a:pPr lvl="1"/>
            <a:r>
              <a:rPr lang="en-US" dirty="0"/>
              <a:t>Plot a random sample of ICE curves.</a:t>
            </a:r>
          </a:p>
          <a:p>
            <a:pPr lvl="1"/>
            <a:r>
              <a:rPr lang="en-US" dirty="0"/>
              <a:t>Add the PDP as a thick average line.</a:t>
            </a:r>
          </a:p>
          <a:p>
            <a:pPr lvl="1"/>
            <a:r>
              <a:rPr lang="en-US" dirty="0"/>
              <a:t>Use centered ICE curves.</a:t>
            </a:r>
          </a:p>
          <a:p>
            <a:pPr lvl="1"/>
            <a:r>
              <a:rPr lang="en-US" dirty="0"/>
              <a:t>Color curves by another variable to reveal interactions.</a:t>
            </a:r>
          </a:p>
          <a:p>
            <a:endParaRPr lang="en-US" dirty="0"/>
          </a:p>
        </p:txBody>
      </p:sp>
      <p:sp>
        <p:nvSpPr>
          <p:cNvPr id="4" name="Footer Placeholder 3">
            <a:extLst>
              <a:ext uri="{FF2B5EF4-FFF2-40B4-BE49-F238E27FC236}">
                <a16:creationId xmlns:a16="http://schemas.microsoft.com/office/drawing/2014/main" id="{8DC7EE14-A5BF-721B-250D-38318C689765}"/>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F9D3505A-0868-4945-2D65-E2259048E5C7}"/>
              </a:ext>
            </a:extLst>
          </p:cNvPr>
          <p:cNvSpPr>
            <a:spLocks noGrp="1"/>
          </p:cNvSpPr>
          <p:nvPr>
            <p:ph type="sldNum" sz="quarter" idx="12"/>
          </p:nvPr>
        </p:nvSpPr>
        <p:spPr/>
        <p:txBody>
          <a:bodyPr/>
          <a:lstStyle/>
          <a:p>
            <a:fld id="{10A4AB6E-1AC4-C44F-A0CC-883A0306AF8B}" type="slidenum">
              <a:rPr lang="en-US" smtClean="0"/>
              <a:t>16</a:t>
            </a:fld>
            <a:endParaRPr lang="en-US"/>
          </a:p>
        </p:txBody>
      </p:sp>
    </p:spTree>
    <p:extLst>
      <p:ext uri="{BB962C8B-B14F-4D97-AF65-F5344CB8AC3E}">
        <p14:creationId xmlns:p14="http://schemas.microsoft.com/office/powerpoint/2010/main" val="1653399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BB459-057F-5F57-4DC5-F01089041B1B}"/>
              </a:ext>
            </a:extLst>
          </p:cNvPr>
          <p:cNvSpPr>
            <a:spLocks noGrp="1"/>
          </p:cNvSpPr>
          <p:nvPr>
            <p:ph type="title"/>
          </p:nvPr>
        </p:nvSpPr>
        <p:spPr/>
        <p:txBody>
          <a:bodyPr>
            <a:normAutofit fontScale="90000"/>
          </a:bodyPr>
          <a:lstStyle/>
          <a:p>
            <a:r>
              <a:rPr lang="en-US" dirty="0"/>
              <a:t>Important Caution</a:t>
            </a:r>
          </a:p>
        </p:txBody>
      </p:sp>
      <p:sp>
        <p:nvSpPr>
          <p:cNvPr id="3" name="Content Placeholder 2">
            <a:extLst>
              <a:ext uri="{FF2B5EF4-FFF2-40B4-BE49-F238E27FC236}">
                <a16:creationId xmlns:a16="http://schemas.microsoft.com/office/drawing/2014/main" id="{FA8A8AD4-6CB8-F6A2-7DC1-6D4EBE8A5365}"/>
              </a:ext>
            </a:extLst>
          </p:cNvPr>
          <p:cNvSpPr>
            <a:spLocks noGrp="1"/>
          </p:cNvSpPr>
          <p:nvPr>
            <p:ph idx="1"/>
          </p:nvPr>
        </p:nvSpPr>
        <p:spPr/>
        <p:txBody>
          <a:bodyPr/>
          <a:lstStyle/>
          <a:p>
            <a:pPr marL="0" indent="0" algn="ctr">
              <a:buNone/>
            </a:pPr>
            <a:r>
              <a:rPr lang="en-US" sz="3200" b="1" dirty="0"/>
              <a:t>Interpretation is not causation.</a:t>
            </a:r>
          </a:p>
          <a:p>
            <a:pPr marL="0" indent="0" algn="ctr">
              <a:buNone/>
            </a:pPr>
            <a:endParaRPr lang="en-US" b="1" dirty="0"/>
          </a:p>
          <a:p>
            <a:r>
              <a:rPr lang="en-US" dirty="0"/>
              <a:t>A feature can be important because:</a:t>
            </a:r>
          </a:p>
          <a:p>
            <a:pPr lvl="1"/>
            <a:r>
              <a:rPr lang="en-US" dirty="0"/>
              <a:t>It has a causal effect.</a:t>
            </a:r>
          </a:p>
          <a:p>
            <a:pPr lvl="1"/>
            <a:r>
              <a:rPr lang="en-US" dirty="0"/>
              <a:t>It is correlated with a causal feature.</a:t>
            </a:r>
          </a:p>
          <a:p>
            <a:pPr lvl="1"/>
            <a:r>
              <a:rPr lang="en-US" dirty="0"/>
              <a:t>It is a proxy for location, time, sampling effort, or data source.</a:t>
            </a:r>
          </a:p>
          <a:p>
            <a:pPr lvl="1"/>
            <a:r>
              <a:rPr lang="en-US" dirty="0"/>
              <a:t>It helps interpolate within the training data.</a:t>
            </a:r>
          </a:p>
          <a:p>
            <a:r>
              <a:rPr lang="en-US" dirty="0"/>
              <a:t>Example: latitude might “predict” SST well, but latitude is not the physical mechanism by itself.</a:t>
            </a:r>
          </a:p>
        </p:txBody>
      </p:sp>
      <p:sp>
        <p:nvSpPr>
          <p:cNvPr id="4" name="Footer Placeholder 3">
            <a:extLst>
              <a:ext uri="{FF2B5EF4-FFF2-40B4-BE49-F238E27FC236}">
                <a16:creationId xmlns:a16="http://schemas.microsoft.com/office/drawing/2014/main" id="{0E251ACA-6B16-4356-243D-4F909C605FE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A94A06F3-0D7E-6E9A-2D36-81CCEEF2B6B5}"/>
              </a:ext>
            </a:extLst>
          </p:cNvPr>
          <p:cNvSpPr>
            <a:spLocks noGrp="1"/>
          </p:cNvSpPr>
          <p:nvPr>
            <p:ph type="sldNum" sz="quarter" idx="12"/>
          </p:nvPr>
        </p:nvSpPr>
        <p:spPr/>
        <p:txBody>
          <a:bodyPr/>
          <a:lstStyle/>
          <a:p>
            <a:fld id="{10A4AB6E-1AC4-C44F-A0CC-883A0306AF8B}" type="slidenum">
              <a:rPr lang="en-US" smtClean="0"/>
              <a:t>17</a:t>
            </a:fld>
            <a:endParaRPr lang="en-US"/>
          </a:p>
        </p:txBody>
      </p:sp>
    </p:spTree>
    <p:extLst>
      <p:ext uri="{BB962C8B-B14F-4D97-AF65-F5344CB8AC3E}">
        <p14:creationId xmlns:p14="http://schemas.microsoft.com/office/powerpoint/2010/main" val="117142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51D3B-2277-1D98-FF37-6A3B5DBDB631}"/>
              </a:ext>
            </a:extLst>
          </p:cNvPr>
          <p:cNvSpPr>
            <a:spLocks noGrp="1"/>
          </p:cNvSpPr>
          <p:nvPr>
            <p:ph type="title"/>
          </p:nvPr>
        </p:nvSpPr>
        <p:spPr/>
        <p:txBody>
          <a:bodyPr>
            <a:normAutofit fontScale="90000"/>
          </a:bodyPr>
          <a:lstStyle/>
          <a:p>
            <a:r>
              <a:rPr lang="en-US" dirty="0"/>
              <a:t>In Class Assignment</a:t>
            </a:r>
          </a:p>
        </p:txBody>
      </p:sp>
      <p:sp>
        <p:nvSpPr>
          <p:cNvPr id="3" name="Content Placeholder 2">
            <a:extLst>
              <a:ext uri="{FF2B5EF4-FFF2-40B4-BE49-F238E27FC236}">
                <a16:creationId xmlns:a16="http://schemas.microsoft.com/office/drawing/2014/main" id="{6BE88EF9-3BDC-675F-C4C2-0F252CD9926F}"/>
              </a:ext>
            </a:extLst>
          </p:cNvPr>
          <p:cNvSpPr>
            <a:spLocks noGrp="1"/>
          </p:cNvSpPr>
          <p:nvPr>
            <p:ph idx="1"/>
          </p:nvPr>
        </p:nvSpPr>
        <p:spPr/>
        <p:txBody>
          <a:bodyPr/>
          <a:lstStyle/>
          <a:p>
            <a:pPr marL="0" indent="0">
              <a:buNone/>
            </a:pPr>
            <a:r>
              <a:rPr lang="en-US" dirty="0"/>
              <a:t>Complete In Class Assignment 5 found on Blackboard or in the course </a:t>
            </a:r>
            <a:r>
              <a:rPr lang="en-US" dirty="0">
                <a:hlinkClick r:id="rId2"/>
              </a:rPr>
              <a:t>GitHub Repo</a:t>
            </a:r>
            <a:endParaRPr lang="en-US" dirty="0"/>
          </a:p>
          <a:p>
            <a:endParaRPr lang="en-US" dirty="0"/>
          </a:p>
        </p:txBody>
      </p:sp>
      <p:sp>
        <p:nvSpPr>
          <p:cNvPr id="4" name="Footer Placeholder 3">
            <a:extLst>
              <a:ext uri="{FF2B5EF4-FFF2-40B4-BE49-F238E27FC236}">
                <a16:creationId xmlns:a16="http://schemas.microsoft.com/office/drawing/2014/main" id="{2A7D381A-A232-66F9-8317-EDB47A287139}"/>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E7F011E8-95C1-499C-2A3E-DA038CA8B226}"/>
              </a:ext>
            </a:extLst>
          </p:cNvPr>
          <p:cNvSpPr>
            <a:spLocks noGrp="1"/>
          </p:cNvSpPr>
          <p:nvPr>
            <p:ph type="sldNum" sz="quarter" idx="12"/>
          </p:nvPr>
        </p:nvSpPr>
        <p:spPr/>
        <p:txBody>
          <a:bodyPr/>
          <a:lstStyle/>
          <a:p>
            <a:fld id="{10A4AB6E-1AC4-C44F-A0CC-883A0306AF8B}" type="slidenum">
              <a:rPr lang="en-US" smtClean="0"/>
              <a:t>18</a:t>
            </a:fld>
            <a:endParaRPr lang="en-US"/>
          </a:p>
        </p:txBody>
      </p:sp>
    </p:spTree>
    <p:extLst>
      <p:ext uri="{BB962C8B-B14F-4D97-AF65-F5344CB8AC3E}">
        <p14:creationId xmlns:p14="http://schemas.microsoft.com/office/powerpoint/2010/main" val="1158846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5286</TotalTime>
  <Words>954</Words>
  <Application>Microsoft Macintosh PowerPoint</Application>
  <PresentationFormat>Widescreen</PresentationFormat>
  <Paragraphs>186</Paragraphs>
  <Slides>18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GEOL 599 Applied Machine Learning for Geoscience Data</vt:lpstr>
      <vt:lpstr>Discuss with a partner</vt:lpstr>
      <vt:lpstr>How do we know a model works well?</vt:lpstr>
      <vt:lpstr>Why model interpretation</vt:lpstr>
      <vt:lpstr>Model interpretation</vt:lpstr>
      <vt:lpstr>Permutation importance</vt:lpstr>
      <vt:lpstr>Permutation Importance: Strengths</vt:lpstr>
      <vt:lpstr>Permutation Importance: Limitations</vt:lpstr>
      <vt:lpstr>Partial Dependence</vt:lpstr>
      <vt:lpstr>Partial Dependence Plot</vt:lpstr>
      <vt:lpstr>Partial Dependence: Strengths</vt:lpstr>
      <vt:lpstr>Partial Dependence: Limitations</vt:lpstr>
      <vt:lpstr>Individual Conditional Expectation (ICE)</vt:lpstr>
      <vt:lpstr>ICE Plot</vt:lpstr>
      <vt:lpstr>Individual Conditional Expectation: Strengths</vt:lpstr>
      <vt:lpstr>Individual Conditional Expectation: Limitations</vt:lpstr>
      <vt:lpstr>Important Caution</vt:lpstr>
      <vt:lpstr>In Class 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Blaskey, Dylan</dc:creator>
  <cp:lastModifiedBy>Blaskey, Dylan</cp:lastModifiedBy>
  <cp:revision>27</cp:revision>
  <dcterms:created xsi:type="dcterms:W3CDTF">2026-04-30T17:26:45Z</dcterms:created>
  <dcterms:modified xsi:type="dcterms:W3CDTF">2026-09-16T14:47:07Z</dcterms:modified>
</cp:coreProperties>
</file>