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449" r:id="rId3"/>
    <p:sldId id="450" r:id="rId4"/>
    <p:sldId id="317" r:id="rId5"/>
    <p:sldId id="431" r:id="rId6"/>
    <p:sldId id="433" r:id="rId7"/>
    <p:sldId id="440" r:id="rId8"/>
    <p:sldId id="441" r:id="rId9"/>
    <p:sldId id="434" r:id="rId10"/>
    <p:sldId id="319" r:id="rId11"/>
    <p:sldId id="344" r:id="rId12"/>
    <p:sldId id="345" r:id="rId13"/>
    <p:sldId id="379" r:id="rId14"/>
    <p:sldId id="380" r:id="rId15"/>
    <p:sldId id="375" r:id="rId16"/>
    <p:sldId id="377" r:id="rId17"/>
    <p:sldId id="374" r:id="rId18"/>
    <p:sldId id="376" r:id="rId19"/>
    <p:sldId id="381" r:id="rId20"/>
    <p:sldId id="393" r:id="rId21"/>
    <p:sldId id="394" r:id="rId22"/>
    <p:sldId id="451" r:id="rId23"/>
    <p:sldId id="44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00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83"/>
    <p:restoredTop sz="87339"/>
  </p:normalViewPr>
  <p:slideViewPr>
    <p:cSldViewPr snapToGrid="0">
      <p:cViewPr>
        <p:scale>
          <a:sx n="150" d="100"/>
          <a:sy n="150" d="100"/>
        </p:scale>
        <p:origin x="584" y="9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A49FDC-47A8-F54E-9812-4874F92A1A9F}" type="datetimeFigureOut">
              <a:rPr lang="en-US" smtClean="0"/>
              <a:t>8/26/26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FF3C1A-D9C4-F241-9E29-49D7A16F9780}" type="slidenum">
              <a:rPr lang="en-US" smtClean="0"/>
              <a:t>‹#›</a:t>
            </a:fld>
            <a:endParaRPr lang="en-US"/>
          </a:p>
        </p:txBody>
      </p:sp>
    </p:spTree>
    <p:extLst>
      <p:ext uri="{BB962C8B-B14F-4D97-AF65-F5344CB8AC3E}">
        <p14:creationId xmlns:p14="http://schemas.microsoft.com/office/powerpoint/2010/main" val="2590339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2</a:t>
            </a:fld>
            <a:endParaRPr lang="en-US"/>
          </a:p>
        </p:txBody>
      </p:sp>
    </p:spTree>
    <p:extLst>
      <p:ext uri="{BB962C8B-B14F-4D97-AF65-F5344CB8AC3E}">
        <p14:creationId xmlns:p14="http://schemas.microsoft.com/office/powerpoint/2010/main" val="101349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4</a:t>
            </a:fld>
            <a:endParaRPr lang="en-US"/>
          </a:p>
        </p:txBody>
      </p:sp>
    </p:spTree>
    <p:extLst>
      <p:ext uri="{BB962C8B-B14F-4D97-AF65-F5344CB8AC3E}">
        <p14:creationId xmlns:p14="http://schemas.microsoft.com/office/powerpoint/2010/main" val="2686101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5</a:t>
            </a:fld>
            <a:endParaRPr lang="en-US"/>
          </a:p>
        </p:txBody>
      </p:sp>
    </p:spTree>
    <p:extLst>
      <p:ext uri="{BB962C8B-B14F-4D97-AF65-F5344CB8AC3E}">
        <p14:creationId xmlns:p14="http://schemas.microsoft.com/office/powerpoint/2010/main" val="512789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6</a:t>
            </a:fld>
            <a:endParaRPr lang="en-US"/>
          </a:p>
        </p:txBody>
      </p:sp>
    </p:spTree>
    <p:extLst>
      <p:ext uri="{BB962C8B-B14F-4D97-AF65-F5344CB8AC3E}">
        <p14:creationId xmlns:p14="http://schemas.microsoft.com/office/powerpoint/2010/main" val="4056895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7</a:t>
            </a:fld>
            <a:endParaRPr lang="en-US"/>
          </a:p>
        </p:txBody>
      </p:sp>
    </p:spTree>
    <p:extLst>
      <p:ext uri="{BB962C8B-B14F-4D97-AF65-F5344CB8AC3E}">
        <p14:creationId xmlns:p14="http://schemas.microsoft.com/office/powerpoint/2010/main" val="1672300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12</a:t>
            </a:fld>
            <a:endParaRPr lang="en-US"/>
          </a:p>
        </p:txBody>
      </p:sp>
    </p:spTree>
    <p:extLst>
      <p:ext uri="{BB962C8B-B14F-4D97-AF65-F5344CB8AC3E}">
        <p14:creationId xmlns:p14="http://schemas.microsoft.com/office/powerpoint/2010/main" val="2118793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21</a:t>
            </a:fld>
            <a:endParaRPr lang="en-US"/>
          </a:p>
        </p:txBody>
      </p:sp>
    </p:spTree>
    <p:extLst>
      <p:ext uri="{BB962C8B-B14F-4D97-AF65-F5344CB8AC3E}">
        <p14:creationId xmlns:p14="http://schemas.microsoft.com/office/powerpoint/2010/main" val="2742590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22</a:t>
            </a:fld>
            <a:endParaRPr lang="en-US"/>
          </a:p>
        </p:txBody>
      </p:sp>
    </p:spTree>
    <p:extLst>
      <p:ext uri="{BB962C8B-B14F-4D97-AF65-F5344CB8AC3E}">
        <p14:creationId xmlns:p14="http://schemas.microsoft.com/office/powerpoint/2010/main" val="1722786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8B01AE6-E8E1-85B2-DE89-19A7E3AB6DE1}"/>
              </a:ext>
            </a:extLst>
          </p:cNvPr>
          <p:cNvSpPr>
            <a:spLocks noGrp="1"/>
          </p:cNvSpPr>
          <p:nvPr>
            <p:ph type="subTitle" idx="1" hasCustomPrompt="1"/>
          </p:nvPr>
        </p:nvSpPr>
        <p:spPr>
          <a:xfrm>
            <a:off x="1524000" y="2252209"/>
            <a:ext cx="9144000" cy="588963"/>
          </a:xfrm>
        </p:spPr>
        <p:txBody>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Lecture</a:t>
            </a:r>
          </a:p>
          <a:p>
            <a:r>
              <a:rPr lang="en-US" dirty="0"/>
              <a:t> </a:t>
            </a:r>
          </a:p>
        </p:txBody>
      </p:sp>
      <p:sp>
        <p:nvSpPr>
          <p:cNvPr id="8" name="Footer Placeholder 7">
            <a:extLst>
              <a:ext uri="{FF2B5EF4-FFF2-40B4-BE49-F238E27FC236}">
                <a16:creationId xmlns:a16="http://schemas.microsoft.com/office/drawing/2014/main" id="{FEA3DDF7-4F23-7FC1-A6F1-B9ACB64996C4}"/>
              </a:ext>
            </a:extLst>
          </p:cNvPr>
          <p:cNvSpPr>
            <a:spLocks noGrp="1"/>
          </p:cNvSpPr>
          <p:nvPr>
            <p:ph type="ftr" sz="quarter" idx="11"/>
          </p:nvPr>
        </p:nvSpPr>
        <p:spPr/>
        <p:txBody>
          <a:bodyPr/>
          <a:lstStyle>
            <a:lvl1pPr>
              <a:defRPr>
                <a:solidFill>
                  <a:schemeClr val="tx1"/>
                </a:solidFill>
              </a:defRPr>
            </a:lvl1pPr>
          </a:lstStyle>
          <a:p>
            <a:r>
              <a:rPr lang="en-US" dirty="0">
                <a:solidFill>
                  <a:schemeClr val="tx1"/>
                </a:solidFill>
              </a:rPr>
              <a:t>GEOL 599</a:t>
            </a:r>
          </a:p>
        </p:txBody>
      </p:sp>
      <p:sp>
        <p:nvSpPr>
          <p:cNvPr id="9" name="Slide Number Placeholder 8">
            <a:extLst>
              <a:ext uri="{FF2B5EF4-FFF2-40B4-BE49-F238E27FC236}">
                <a16:creationId xmlns:a16="http://schemas.microsoft.com/office/drawing/2014/main" id="{0C1EBF45-1E3C-5639-6B06-6CF54D95E03F}"/>
              </a:ext>
            </a:extLst>
          </p:cNvPr>
          <p:cNvSpPr>
            <a:spLocks noGrp="1"/>
          </p:cNvSpPr>
          <p:nvPr>
            <p:ph type="sldNum" sz="quarter" idx="12"/>
          </p:nvPr>
        </p:nvSpPr>
        <p:spPr/>
        <p:txBody>
          <a:bodyPr/>
          <a:lstStyle>
            <a:lvl1pPr>
              <a:defRPr>
                <a:solidFill>
                  <a:schemeClr val="tx1"/>
                </a:solidFill>
              </a:defRPr>
            </a:lvl1pPr>
          </a:lstStyle>
          <a:p>
            <a:fld id="{10A4AB6E-1AC4-C44F-A0CC-883A0306AF8B}" type="slidenum">
              <a:rPr lang="en-US" smtClean="0"/>
              <a:pPr/>
              <a:t>‹#›</a:t>
            </a:fld>
            <a:endParaRPr lang="en-US" dirty="0"/>
          </a:p>
        </p:txBody>
      </p:sp>
      <p:cxnSp>
        <p:nvCxnSpPr>
          <p:cNvPr id="11" name="Straight Connector 10">
            <a:extLst>
              <a:ext uri="{FF2B5EF4-FFF2-40B4-BE49-F238E27FC236}">
                <a16:creationId xmlns:a16="http://schemas.microsoft.com/office/drawing/2014/main" id="{00DB6341-93E9-1E69-609E-73BBFB4BA579}"/>
              </a:ext>
            </a:extLst>
          </p:cNvPr>
          <p:cNvCxnSpPr>
            <a:cxnSpLocks/>
          </p:cNvCxnSpPr>
          <p:nvPr userDrawn="1"/>
        </p:nvCxnSpPr>
        <p:spPr>
          <a:xfrm>
            <a:off x="990600" y="3058886"/>
            <a:ext cx="10156371" cy="0"/>
          </a:xfrm>
          <a:prstGeom prst="line">
            <a:avLst/>
          </a:prstGeom>
          <a:ln>
            <a:solidFill>
              <a:srgbClr val="73000A"/>
            </a:solidFill>
          </a:ln>
        </p:spPr>
        <p:style>
          <a:lnRef idx="2">
            <a:schemeClr val="accent1"/>
          </a:lnRef>
          <a:fillRef idx="0">
            <a:schemeClr val="accent1"/>
          </a:fillRef>
          <a:effectRef idx="1">
            <a:schemeClr val="accent1"/>
          </a:effectRef>
          <a:fontRef idx="minor">
            <a:schemeClr val="tx1"/>
          </a:fontRef>
        </p:style>
      </p:cxnSp>
      <p:sp>
        <p:nvSpPr>
          <p:cNvPr id="12" name="Subtitle 2">
            <a:extLst>
              <a:ext uri="{FF2B5EF4-FFF2-40B4-BE49-F238E27FC236}">
                <a16:creationId xmlns:a16="http://schemas.microsoft.com/office/drawing/2014/main" id="{522C522C-189E-E345-55A5-F92D4350F77D}"/>
              </a:ext>
            </a:extLst>
          </p:cNvPr>
          <p:cNvSpPr txBox="1">
            <a:spLocks/>
          </p:cNvSpPr>
          <p:nvPr userDrawn="1"/>
        </p:nvSpPr>
        <p:spPr>
          <a:xfrm>
            <a:off x="1518557" y="3276601"/>
            <a:ext cx="9144000" cy="28620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solidFill>
                  <a:schemeClr val="tx1"/>
                </a:solidFill>
              </a:rPr>
              <a:t>Today’s Objectives</a:t>
            </a:r>
          </a:p>
          <a:p>
            <a:endParaRPr lang="en-US" sz="2400" dirty="0">
              <a:solidFill>
                <a:schemeClr val="tx1"/>
              </a:solidFill>
            </a:endParaRPr>
          </a:p>
          <a:p>
            <a:endParaRPr lang="en-US" sz="2400" dirty="0">
              <a:solidFill>
                <a:schemeClr val="tx1"/>
              </a:solidFill>
            </a:endParaRPr>
          </a:p>
          <a:p>
            <a:endParaRPr lang="en-US" sz="2400" dirty="0">
              <a:solidFill>
                <a:schemeClr val="tx1"/>
              </a:solidFill>
            </a:endParaRPr>
          </a:p>
          <a:p>
            <a:endParaRPr lang="en-US" sz="2400" dirty="0">
              <a:solidFill>
                <a:schemeClr val="tx1"/>
              </a:solidFill>
            </a:endParaRPr>
          </a:p>
          <a:p>
            <a:endParaRPr lang="en-US" sz="3800" dirty="0">
              <a:solidFill>
                <a:schemeClr val="tx1"/>
              </a:solidFill>
            </a:endParaRPr>
          </a:p>
        </p:txBody>
      </p:sp>
      <p:sp>
        <p:nvSpPr>
          <p:cNvPr id="13" name="Rectangle 12">
            <a:extLst>
              <a:ext uri="{FF2B5EF4-FFF2-40B4-BE49-F238E27FC236}">
                <a16:creationId xmlns:a16="http://schemas.microsoft.com/office/drawing/2014/main" id="{BFBD97F3-4925-C570-5514-2E8A7F901638}"/>
              </a:ext>
            </a:extLst>
          </p:cNvPr>
          <p:cNvSpPr/>
          <p:nvPr userDrawn="1"/>
        </p:nvSpPr>
        <p:spPr>
          <a:xfrm>
            <a:off x="0" y="0"/>
            <a:ext cx="12192000" cy="10341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E6434-D3C5-35B8-2A5B-12571E53B479}"/>
              </a:ext>
            </a:extLst>
          </p:cNvPr>
          <p:cNvSpPr>
            <a:spLocks noGrp="1"/>
          </p:cNvSpPr>
          <p:nvPr>
            <p:ph type="ctrTitle" hasCustomPrompt="1"/>
          </p:nvPr>
        </p:nvSpPr>
        <p:spPr>
          <a:xfrm>
            <a:off x="-5443" y="-244251"/>
            <a:ext cx="12192000" cy="2387600"/>
          </a:xfrm>
        </p:spPr>
        <p:txBody>
          <a:bodyPr anchor="b"/>
          <a:lstStyle>
            <a:lvl1pPr algn="ctr">
              <a:defRPr sz="4800">
                <a:solidFill>
                  <a:schemeClr val="tx1"/>
                </a:solidFill>
              </a:defRPr>
            </a:lvl1pPr>
          </a:lstStyle>
          <a:p>
            <a:r>
              <a:rPr lang="en-US" dirty="0"/>
              <a:t>GEOL 599</a:t>
            </a:r>
            <a:br>
              <a:rPr lang="en-US" dirty="0"/>
            </a:br>
            <a:r>
              <a:rPr lang="en-US" dirty="0"/>
              <a:t>Applied Machine Learning for Geoscience Data</a:t>
            </a:r>
          </a:p>
        </p:txBody>
      </p:sp>
    </p:spTree>
    <p:extLst>
      <p:ext uri="{BB962C8B-B14F-4D97-AF65-F5344CB8AC3E}">
        <p14:creationId xmlns:p14="http://schemas.microsoft.com/office/powerpoint/2010/main" val="2969113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505B7-09A3-CD35-0F48-F6AC4FE002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18CA42-DE5B-A0F5-7D42-23509A2DDD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DB7EA-5BEF-6A60-8C8C-EE99F86D730B}"/>
              </a:ext>
            </a:extLst>
          </p:cNvPr>
          <p:cNvSpPr>
            <a:spLocks noGrp="1"/>
          </p:cNvSpPr>
          <p:nvPr>
            <p:ph type="dt" sz="half" idx="10"/>
          </p:nvPr>
        </p:nvSpPr>
        <p:spPr>
          <a:xfrm>
            <a:off x="838200" y="6356350"/>
            <a:ext cx="2743200" cy="365125"/>
          </a:xfrm>
          <a:prstGeom prst="rect">
            <a:avLst/>
          </a:prstGeom>
        </p:spPr>
        <p:txBody>
          <a:bodyPr/>
          <a:lstStyle/>
          <a:p>
            <a:fld id="{09418D03-48AA-CB49-A132-AF8A2DA0E64B}" type="datetime1">
              <a:rPr lang="en-US" smtClean="0"/>
              <a:t>8/26/26</a:t>
            </a:fld>
            <a:endParaRPr lang="en-US"/>
          </a:p>
        </p:txBody>
      </p:sp>
      <p:sp>
        <p:nvSpPr>
          <p:cNvPr id="5" name="Footer Placeholder 4">
            <a:extLst>
              <a:ext uri="{FF2B5EF4-FFF2-40B4-BE49-F238E27FC236}">
                <a16:creationId xmlns:a16="http://schemas.microsoft.com/office/drawing/2014/main" id="{DAEF1026-75B7-EFCA-1EB7-A6D8B3B464D5}"/>
              </a:ext>
            </a:extLst>
          </p:cNvPr>
          <p:cNvSpPr>
            <a:spLocks noGrp="1"/>
          </p:cNvSpPr>
          <p:nvPr>
            <p:ph type="ftr" sz="quarter" idx="11"/>
          </p:nvPr>
        </p:nvSpPr>
        <p:spPr/>
        <p:txBody>
          <a:bodyPr/>
          <a:lstStyle/>
          <a:p>
            <a:r>
              <a:rPr lang="en-US"/>
              <a:t>GEOL 599</a:t>
            </a:r>
          </a:p>
        </p:txBody>
      </p:sp>
      <p:sp>
        <p:nvSpPr>
          <p:cNvPr id="6" name="Slide Number Placeholder 5">
            <a:extLst>
              <a:ext uri="{FF2B5EF4-FFF2-40B4-BE49-F238E27FC236}">
                <a16:creationId xmlns:a16="http://schemas.microsoft.com/office/drawing/2014/main" id="{FCE2B28F-DC4B-2CAA-D736-7042BDD1564F}"/>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204787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75A5D-6083-49E0-EB07-46E46705DB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794158-D0ED-B328-7FB6-8508C50E72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EA2D35-2853-8EB1-AFAE-2A9E5C2B43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F664778-0B2B-73D7-BD5C-AE37BF503074}"/>
              </a:ext>
            </a:extLst>
          </p:cNvPr>
          <p:cNvSpPr>
            <a:spLocks noGrp="1"/>
          </p:cNvSpPr>
          <p:nvPr>
            <p:ph type="ftr" sz="quarter" idx="11"/>
          </p:nvPr>
        </p:nvSpPr>
        <p:spPr/>
        <p:txBody>
          <a:bodyPr/>
          <a:lstStyle/>
          <a:p>
            <a:r>
              <a:rPr lang="en-US"/>
              <a:t>GEOL 599</a:t>
            </a:r>
          </a:p>
        </p:txBody>
      </p:sp>
      <p:sp>
        <p:nvSpPr>
          <p:cNvPr id="7" name="Slide Number Placeholder 6">
            <a:extLst>
              <a:ext uri="{FF2B5EF4-FFF2-40B4-BE49-F238E27FC236}">
                <a16:creationId xmlns:a16="http://schemas.microsoft.com/office/drawing/2014/main" id="{77B6A1EE-6D0F-02A2-34F3-06FAF29A1888}"/>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3066510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FD206-18F2-9CE1-11FE-5F7FD5C753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1E4094-9CD9-970B-A183-C9901E31D423}"/>
              </a:ext>
            </a:extLst>
          </p:cNvPr>
          <p:cNvSpPr>
            <a:spLocks noGrp="1"/>
          </p:cNvSpPr>
          <p:nvPr>
            <p:ph type="dt" sz="half" idx="10"/>
          </p:nvPr>
        </p:nvSpPr>
        <p:spPr>
          <a:xfrm>
            <a:off x="838200" y="6356350"/>
            <a:ext cx="2743200" cy="365125"/>
          </a:xfrm>
          <a:prstGeom prst="rect">
            <a:avLst/>
          </a:prstGeom>
        </p:spPr>
        <p:txBody>
          <a:bodyPr/>
          <a:lstStyle/>
          <a:p>
            <a:fld id="{22FBD965-6108-7945-883E-024EB22FF9F9}" type="datetime1">
              <a:rPr lang="en-US" smtClean="0"/>
              <a:t>8/26/26</a:t>
            </a:fld>
            <a:endParaRPr lang="en-US"/>
          </a:p>
        </p:txBody>
      </p:sp>
      <p:sp>
        <p:nvSpPr>
          <p:cNvPr id="4" name="Footer Placeholder 3">
            <a:extLst>
              <a:ext uri="{FF2B5EF4-FFF2-40B4-BE49-F238E27FC236}">
                <a16:creationId xmlns:a16="http://schemas.microsoft.com/office/drawing/2014/main" id="{78655C67-D7DD-F09A-B00B-A801CAB65AC7}"/>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84401E41-A874-FA58-18A5-EA60211D0E73}"/>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502197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F5D95-40F0-0635-C904-7E748079148B}"/>
              </a:ext>
            </a:extLst>
          </p:cNvPr>
          <p:cNvSpPr>
            <a:spLocks noGrp="1"/>
          </p:cNvSpPr>
          <p:nvPr>
            <p:ph type="dt" sz="half" idx="10"/>
          </p:nvPr>
        </p:nvSpPr>
        <p:spPr>
          <a:xfrm>
            <a:off x="838200" y="6356350"/>
            <a:ext cx="2743200" cy="365125"/>
          </a:xfrm>
          <a:prstGeom prst="rect">
            <a:avLst/>
          </a:prstGeom>
        </p:spPr>
        <p:txBody>
          <a:bodyPr/>
          <a:lstStyle/>
          <a:p>
            <a:fld id="{0275880B-0B4C-2E4A-B266-E0FE9A68D62F}" type="datetime1">
              <a:rPr lang="en-US" smtClean="0"/>
              <a:t>8/26/26</a:t>
            </a:fld>
            <a:endParaRPr lang="en-US"/>
          </a:p>
        </p:txBody>
      </p:sp>
      <p:sp>
        <p:nvSpPr>
          <p:cNvPr id="3" name="Footer Placeholder 2">
            <a:extLst>
              <a:ext uri="{FF2B5EF4-FFF2-40B4-BE49-F238E27FC236}">
                <a16:creationId xmlns:a16="http://schemas.microsoft.com/office/drawing/2014/main" id="{74DB12B9-C9F2-BACD-A839-913B604B56CD}"/>
              </a:ext>
            </a:extLst>
          </p:cNvPr>
          <p:cNvSpPr>
            <a:spLocks noGrp="1"/>
          </p:cNvSpPr>
          <p:nvPr>
            <p:ph type="ftr" sz="quarter" idx="11"/>
          </p:nvPr>
        </p:nvSpPr>
        <p:spPr/>
        <p:txBody>
          <a:bodyPr/>
          <a:lstStyle/>
          <a:p>
            <a:r>
              <a:rPr lang="en-US"/>
              <a:t>GEOL 599</a:t>
            </a:r>
          </a:p>
        </p:txBody>
      </p:sp>
      <p:sp>
        <p:nvSpPr>
          <p:cNvPr id="4" name="Slide Number Placeholder 3">
            <a:extLst>
              <a:ext uri="{FF2B5EF4-FFF2-40B4-BE49-F238E27FC236}">
                <a16:creationId xmlns:a16="http://schemas.microsoft.com/office/drawing/2014/main" id="{84A29665-3410-49BB-1D7A-41AF6002487A}"/>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1924849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3C0E-7FC5-B6FD-1C83-A481576B9B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A655D9-2AF1-203E-B440-CA1770A50A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0E54E5-7F53-5749-117E-C893269717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A3D668-5A6A-2815-6A54-44B974F023FF}"/>
              </a:ext>
            </a:extLst>
          </p:cNvPr>
          <p:cNvSpPr>
            <a:spLocks noGrp="1"/>
          </p:cNvSpPr>
          <p:nvPr>
            <p:ph type="dt" sz="half" idx="10"/>
          </p:nvPr>
        </p:nvSpPr>
        <p:spPr>
          <a:xfrm>
            <a:off x="838200" y="6356350"/>
            <a:ext cx="2743200" cy="365125"/>
          </a:xfrm>
          <a:prstGeom prst="rect">
            <a:avLst/>
          </a:prstGeom>
        </p:spPr>
        <p:txBody>
          <a:bodyPr/>
          <a:lstStyle/>
          <a:p>
            <a:fld id="{12EC2D56-32BF-9F41-918E-49D0AA578943}" type="datetime1">
              <a:rPr lang="en-US" smtClean="0"/>
              <a:t>8/26/26</a:t>
            </a:fld>
            <a:endParaRPr lang="en-US"/>
          </a:p>
        </p:txBody>
      </p:sp>
      <p:sp>
        <p:nvSpPr>
          <p:cNvPr id="6" name="Footer Placeholder 5">
            <a:extLst>
              <a:ext uri="{FF2B5EF4-FFF2-40B4-BE49-F238E27FC236}">
                <a16:creationId xmlns:a16="http://schemas.microsoft.com/office/drawing/2014/main" id="{8053E52E-D8F4-5313-1B36-986748552080}"/>
              </a:ext>
            </a:extLst>
          </p:cNvPr>
          <p:cNvSpPr>
            <a:spLocks noGrp="1"/>
          </p:cNvSpPr>
          <p:nvPr>
            <p:ph type="ftr" sz="quarter" idx="11"/>
          </p:nvPr>
        </p:nvSpPr>
        <p:spPr/>
        <p:txBody>
          <a:bodyPr/>
          <a:lstStyle/>
          <a:p>
            <a:r>
              <a:rPr lang="en-US"/>
              <a:t>GEOL 599</a:t>
            </a:r>
          </a:p>
        </p:txBody>
      </p:sp>
      <p:sp>
        <p:nvSpPr>
          <p:cNvPr id="7" name="Slide Number Placeholder 6">
            <a:extLst>
              <a:ext uri="{FF2B5EF4-FFF2-40B4-BE49-F238E27FC236}">
                <a16:creationId xmlns:a16="http://schemas.microsoft.com/office/drawing/2014/main" id="{2BC80849-1A56-0383-E5C4-97DDE0488723}"/>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857416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B588-3C09-D5CF-2676-6FC7737E3C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D266BE-5A12-67D9-057B-1BBF237367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161E22-66C9-B589-0129-498B002A0EC5}"/>
              </a:ext>
            </a:extLst>
          </p:cNvPr>
          <p:cNvSpPr>
            <a:spLocks noGrp="1"/>
          </p:cNvSpPr>
          <p:nvPr>
            <p:ph type="dt" sz="half" idx="10"/>
          </p:nvPr>
        </p:nvSpPr>
        <p:spPr>
          <a:xfrm>
            <a:off x="838200" y="6356350"/>
            <a:ext cx="2743200" cy="365125"/>
          </a:xfrm>
          <a:prstGeom prst="rect">
            <a:avLst/>
          </a:prstGeom>
        </p:spPr>
        <p:txBody>
          <a:bodyPr/>
          <a:lstStyle/>
          <a:p>
            <a:fld id="{59722F35-E892-0345-AB79-C0946392D699}" type="datetime1">
              <a:rPr lang="en-US" smtClean="0"/>
              <a:t>8/26/26</a:t>
            </a:fld>
            <a:endParaRPr lang="en-US"/>
          </a:p>
        </p:txBody>
      </p:sp>
      <p:sp>
        <p:nvSpPr>
          <p:cNvPr id="5" name="Footer Placeholder 4">
            <a:extLst>
              <a:ext uri="{FF2B5EF4-FFF2-40B4-BE49-F238E27FC236}">
                <a16:creationId xmlns:a16="http://schemas.microsoft.com/office/drawing/2014/main" id="{67AE1508-762A-D53F-C7EC-9D9BF416BA06}"/>
              </a:ext>
            </a:extLst>
          </p:cNvPr>
          <p:cNvSpPr>
            <a:spLocks noGrp="1"/>
          </p:cNvSpPr>
          <p:nvPr>
            <p:ph type="ftr" sz="quarter" idx="11"/>
          </p:nvPr>
        </p:nvSpPr>
        <p:spPr/>
        <p:txBody>
          <a:bodyPr/>
          <a:lstStyle/>
          <a:p>
            <a:r>
              <a:rPr lang="en-US"/>
              <a:t>GEOL 599</a:t>
            </a:r>
          </a:p>
        </p:txBody>
      </p:sp>
      <p:sp>
        <p:nvSpPr>
          <p:cNvPr id="6" name="Slide Number Placeholder 5">
            <a:extLst>
              <a:ext uri="{FF2B5EF4-FFF2-40B4-BE49-F238E27FC236}">
                <a16:creationId xmlns:a16="http://schemas.microsoft.com/office/drawing/2014/main" id="{3410CDCB-37FC-4C2D-A3D2-0DD3FFECEA4F}"/>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1323050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3F802EE-C334-A1A8-98B8-350093E9A97B}"/>
              </a:ext>
            </a:extLst>
          </p:cNvPr>
          <p:cNvSpPr/>
          <p:nvPr userDrawn="1"/>
        </p:nvSpPr>
        <p:spPr>
          <a:xfrm>
            <a:off x="0" y="0"/>
            <a:ext cx="12192000" cy="1001486"/>
          </a:xfrm>
          <a:prstGeom prst="rect">
            <a:avLst/>
          </a:prstGeom>
          <a:solidFill>
            <a:srgbClr val="7300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DE59E362-3E7B-106E-C26F-017E025D026C}"/>
              </a:ext>
            </a:extLst>
          </p:cNvPr>
          <p:cNvSpPr>
            <a:spLocks noGrp="1"/>
          </p:cNvSpPr>
          <p:nvPr>
            <p:ph type="title"/>
          </p:nvPr>
        </p:nvSpPr>
        <p:spPr>
          <a:xfrm>
            <a:off x="838200" y="223611"/>
            <a:ext cx="10515600" cy="68787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DB616FF-4C58-32D3-4174-A5F9887DA9DC}"/>
              </a:ext>
            </a:extLst>
          </p:cNvPr>
          <p:cNvSpPr>
            <a:spLocks noGrp="1"/>
          </p:cNvSpPr>
          <p:nvPr>
            <p:ph type="body" idx="1"/>
          </p:nvPr>
        </p:nvSpPr>
        <p:spPr>
          <a:xfrm>
            <a:off x="838200" y="1135094"/>
            <a:ext cx="10515600" cy="50114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A32BC8C-1205-6412-7DF1-F9370BF637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US" dirty="0">
                <a:solidFill>
                  <a:schemeClr val="tx1"/>
                </a:solidFill>
              </a:rPr>
              <a:t>GEOL 599</a:t>
            </a:r>
          </a:p>
        </p:txBody>
      </p:sp>
      <p:sp>
        <p:nvSpPr>
          <p:cNvPr id="6" name="Slide Number Placeholder 5">
            <a:extLst>
              <a:ext uri="{FF2B5EF4-FFF2-40B4-BE49-F238E27FC236}">
                <a16:creationId xmlns:a16="http://schemas.microsoft.com/office/drawing/2014/main" id="{DADF6326-AC4E-DA41-3F99-70C0F11188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10A4AB6E-1AC4-C44F-A0CC-883A0306AF8B}" type="slidenum">
              <a:rPr lang="en-US" smtClean="0"/>
              <a:pPr/>
              <a:t>‹#›</a:t>
            </a:fld>
            <a:endParaRPr lang="en-US" dirty="0">
              <a:solidFill>
                <a:schemeClr val="tx1"/>
              </a:solidFill>
            </a:endParaRPr>
          </a:p>
        </p:txBody>
      </p:sp>
      <p:pic>
        <p:nvPicPr>
          <p:cNvPr id="8" name="Graphic 7">
            <a:extLst>
              <a:ext uri="{FF2B5EF4-FFF2-40B4-BE49-F238E27FC236}">
                <a16:creationId xmlns:a16="http://schemas.microsoft.com/office/drawing/2014/main" id="{896C53DE-F0FB-6345-E263-C4CF733709AE}"/>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78922" y="6036159"/>
            <a:ext cx="3159579" cy="913432"/>
          </a:xfrm>
          <a:prstGeom prst="rect">
            <a:avLst/>
          </a:prstGeom>
        </p:spPr>
      </p:pic>
    </p:spTree>
    <p:extLst>
      <p:ext uri="{BB962C8B-B14F-4D97-AF65-F5344CB8AC3E}">
        <p14:creationId xmlns:p14="http://schemas.microsoft.com/office/powerpoint/2010/main" val="4041495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57" r:id="rId6"/>
    <p:sldLayoutId id="2147483658" r:id="rId7"/>
  </p:sldLayoutIdLst>
  <p:hf hd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dblaskey/ML_Course_Cod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1D74B-1267-62B5-F4B9-8B9EE90CEDDD}"/>
              </a:ext>
            </a:extLst>
          </p:cNvPr>
          <p:cNvSpPr>
            <a:spLocks noGrp="1"/>
          </p:cNvSpPr>
          <p:nvPr>
            <p:ph type="ctrTitle"/>
          </p:nvPr>
        </p:nvSpPr>
        <p:spPr/>
        <p:txBody>
          <a:bodyPr/>
          <a:lstStyle/>
          <a:p>
            <a:r>
              <a:rPr lang="en-US" dirty="0"/>
              <a:t>GEOL 599</a:t>
            </a:r>
            <a:br>
              <a:rPr lang="en-US" dirty="0"/>
            </a:br>
            <a:r>
              <a:rPr lang="en-US" dirty="0"/>
              <a:t>Applied Machine Learning for Geoscience Data</a:t>
            </a:r>
          </a:p>
        </p:txBody>
      </p:sp>
      <p:sp>
        <p:nvSpPr>
          <p:cNvPr id="3" name="Subtitle 2">
            <a:extLst>
              <a:ext uri="{FF2B5EF4-FFF2-40B4-BE49-F238E27FC236}">
                <a16:creationId xmlns:a16="http://schemas.microsoft.com/office/drawing/2014/main" id="{D9FB06DC-E070-314E-1C1A-F8B257144CDD}"/>
              </a:ext>
            </a:extLst>
          </p:cNvPr>
          <p:cNvSpPr>
            <a:spLocks noGrp="1"/>
          </p:cNvSpPr>
          <p:nvPr>
            <p:ph type="subTitle" idx="1"/>
          </p:nvPr>
        </p:nvSpPr>
        <p:spPr/>
        <p:txBody>
          <a:bodyPr/>
          <a:lstStyle/>
          <a:p>
            <a:r>
              <a:rPr lang="en-US" dirty="0"/>
              <a:t>Lecture 3</a:t>
            </a:r>
          </a:p>
        </p:txBody>
      </p:sp>
      <p:sp>
        <p:nvSpPr>
          <p:cNvPr id="10" name="TextBox 9">
            <a:extLst>
              <a:ext uri="{FF2B5EF4-FFF2-40B4-BE49-F238E27FC236}">
                <a16:creationId xmlns:a16="http://schemas.microsoft.com/office/drawing/2014/main" id="{F1FCA0F4-200B-9DEE-1D44-C6B1B4432703}"/>
              </a:ext>
              <a:ext uri="{C183D7F6-B498-43B3-948B-1728B52AA6E4}">
                <adec:decorative xmlns:adec="http://schemas.microsoft.com/office/drawing/2017/decorative" val="0"/>
              </a:ext>
            </a:extLst>
          </p:cNvPr>
          <p:cNvSpPr txBox="1"/>
          <p:nvPr/>
        </p:nvSpPr>
        <p:spPr>
          <a:xfrm>
            <a:off x="949124" y="3703898"/>
            <a:ext cx="10232020" cy="1200329"/>
          </a:xfrm>
          <a:prstGeom prst="rect">
            <a:avLst/>
          </a:prstGeom>
          <a:noFill/>
        </p:spPr>
        <p:txBody>
          <a:bodyPr wrap="square" rtlCol="0">
            <a:spAutoFit/>
          </a:bodyPr>
          <a:lstStyle/>
          <a:p>
            <a:pPr marL="342900" indent="-342900">
              <a:buFont typeface="+mj-lt"/>
              <a:buAutoNum type="arabicPeriod"/>
            </a:pPr>
            <a:r>
              <a:rPr lang="en-US" sz="2400" dirty="0"/>
              <a:t>Cross validation</a:t>
            </a:r>
          </a:p>
          <a:p>
            <a:pPr marL="342900" indent="-342900">
              <a:buFont typeface="+mj-lt"/>
              <a:buAutoNum type="arabicPeriod"/>
            </a:pPr>
            <a:r>
              <a:rPr lang="en-US" sz="2400" dirty="0"/>
              <a:t>Model evaluation</a:t>
            </a:r>
          </a:p>
          <a:p>
            <a:pPr marL="342900" indent="-342900">
              <a:buFont typeface="+mj-lt"/>
              <a:buAutoNum type="arabicPeriod"/>
            </a:pPr>
            <a:r>
              <a:rPr lang="en-US" sz="2400" dirty="0"/>
              <a:t>Baseline models</a:t>
            </a:r>
          </a:p>
        </p:txBody>
      </p:sp>
      <p:sp>
        <p:nvSpPr>
          <p:cNvPr id="4" name="Footer Placeholder 3">
            <a:extLst>
              <a:ext uri="{FF2B5EF4-FFF2-40B4-BE49-F238E27FC236}">
                <a16:creationId xmlns:a16="http://schemas.microsoft.com/office/drawing/2014/main" id="{496939D3-C906-D27A-E627-E49703BA5AE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solidFill>
                  <a:schemeClr val="tx1"/>
                </a:solidFill>
              </a:rPr>
              <a:t>GEOL 599</a:t>
            </a:r>
            <a:endParaRPr lang="en-US" dirty="0">
              <a:solidFill>
                <a:schemeClr val="tx1"/>
              </a:solidFill>
            </a:endParaRPr>
          </a:p>
        </p:txBody>
      </p:sp>
      <p:sp>
        <p:nvSpPr>
          <p:cNvPr id="5" name="Slide Number Placeholder 4">
            <a:extLst>
              <a:ext uri="{FF2B5EF4-FFF2-40B4-BE49-F238E27FC236}">
                <a16:creationId xmlns:a16="http://schemas.microsoft.com/office/drawing/2014/main" id="{BE1ED953-1DCE-B252-D7D6-5DDFEE91540D}"/>
              </a:ext>
              <a:ext uri="{C183D7F6-B498-43B3-948B-1728B52AA6E4}">
                <adec:decorative xmlns:adec="http://schemas.microsoft.com/office/drawing/2017/decorative" val="1"/>
              </a:ext>
            </a:extLst>
          </p:cNvPr>
          <p:cNvSpPr>
            <a:spLocks noGrp="1"/>
          </p:cNvSpPr>
          <p:nvPr>
            <p:ph type="sldNum" sz="quarter" idx="12"/>
          </p:nvPr>
        </p:nvSpPr>
        <p:spPr/>
        <p:txBody>
          <a:bodyPr/>
          <a:lstStyle/>
          <a:p>
            <a:fld id="{10A4AB6E-1AC4-C44F-A0CC-883A0306AF8B}" type="slidenum">
              <a:rPr lang="en-US" smtClean="0"/>
              <a:pPr/>
              <a:t>1</a:t>
            </a:fld>
            <a:endParaRPr lang="en-US" dirty="0"/>
          </a:p>
        </p:txBody>
      </p:sp>
    </p:spTree>
    <p:extLst>
      <p:ext uri="{BB962C8B-B14F-4D97-AF65-F5344CB8AC3E}">
        <p14:creationId xmlns:p14="http://schemas.microsoft.com/office/powerpoint/2010/main" val="3198711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71B4E-352C-B7D7-8AD5-3D6D12B2779F}"/>
              </a:ext>
            </a:extLst>
          </p:cNvPr>
          <p:cNvSpPr>
            <a:spLocks noGrp="1"/>
          </p:cNvSpPr>
          <p:nvPr>
            <p:ph type="title"/>
          </p:nvPr>
        </p:nvSpPr>
        <p:spPr/>
        <p:txBody>
          <a:bodyPr>
            <a:normAutofit fontScale="90000"/>
          </a:bodyPr>
          <a:lstStyle/>
          <a:p>
            <a:r>
              <a:rPr lang="en-US" dirty="0"/>
              <a:t>Trivia of the day</a:t>
            </a:r>
          </a:p>
        </p:txBody>
      </p:sp>
      <p:sp>
        <p:nvSpPr>
          <p:cNvPr id="3" name="Content Placeholder 2">
            <a:extLst>
              <a:ext uri="{FF2B5EF4-FFF2-40B4-BE49-F238E27FC236}">
                <a16:creationId xmlns:a16="http://schemas.microsoft.com/office/drawing/2014/main" id="{FFA436AA-CCFD-E65C-7EB8-79906D371557}"/>
              </a:ext>
            </a:extLst>
          </p:cNvPr>
          <p:cNvSpPr>
            <a:spLocks noGrp="1"/>
          </p:cNvSpPr>
          <p:nvPr>
            <p:ph idx="1"/>
          </p:nvPr>
        </p:nvSpPr>
        <p:spPr>
          <a:xfrm>
            <a:off x="838200" y="1671121"/>
            <a:ext cx="10515600" cy="2680161"/>
          </a:xfrm>
        </p:spPr>
        <p:txBody>
          <a:bodyPr/>
          <a:lstStyle/>
          <a:p>
            <a:pPr marL="0" indent="0">
              <a:buNone/>
            </a:pPr>
            <a:r>
              <a:rPr lang="en-US" dirty="0"/>
              <a:t>When was the term “machine learning” first used?</a:t>
            </a:r>
          </a:p>
          <a:p>
            <a:pPr marL="514350" indent="-514350">
              <a:buAutoNum type="alphaUcPeriod"/>
            </a:pPr>
            <a:r>
              <a:rPr lang="en-US" dirty="0"/>
              <a:t>1959</a:t>
            </a:r>
          </a:p>
          <a:p>
            <a:pPr marL="514350" indent="-514350">
              <a:buAutoNum type="alphaUcPeriod"/>
            </a:pPr>
            <a:r>
              <a:rPr lang="en-US" dirty="0"/>
              <a:t>1979</a:t>
            </a:r>
          </a:p>
          <a:p>
            <a:pPr marL="514350" indent="-514350">
              <a:buAutoNum type="alphaUcPeriod"/>
            </a:pPr>
            <a:r>
              <a:rPr lang="en-US" dirty="0"/>
              <a:t>1999</a:t>
            </a:r>
          </a:p>
          <a:p>
            <a:pPr marL="514350" indent="-514350">
              <a:buAutoNum type="alphaUcPeriod"/>
            </a:pPr>
            <a:r>
              <a:rPr lang="en-US" dirty="0"/>
              <a:t>2019</a:t>
            </a:r>
          </a:p>
        </p:txBody>
      </p:sp>
      <p:sp>
        <p:nvSpPr>
          <p:cNvPr id="4" name="Footer Placeholder 3">
            <a:extLst>
              <a:ext uri="{FF2B5EF4-FFF2-40B4-BE49-F238E27FC236}">
                <a16:creationId xmlns:a16="http://schemas.microsoft.com/office/drawing/2014/main" id="{9CB0EC1E-DE98-C4CB-3CCF-19088E4A0F0C}"/>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12B554DD-B403-78C1-26A6-F74A2F610EEF}"/>
              </a:ext>
            </a:extLst>
          </p:cNvPr>
          <p:cNvSpPr>
            <a:spLocks noGrp="1"/>
          </p:cNvSpPr>
          <p:nvPr>
            <p:ph type="sldNum" sz="quarter" idx="12"/>
          </p:nvPr>
        </p:nvSpPr>
        <p:spPr/>
        <p:txBody>
          <a:bodyPr/>
          <a:lstStyle/>
          <a:p>
            <a:fld id="{10A4AB6E-1AC4-C44F-A0CC-883A0306AF8B}" type="slidenum">
              <a:rPr lang="en-US" smtClean="0"/>
              <a:t>2</a:t>
            </a:fld>
            <a:endParaRPr lang="en-US"/>
          </a:p>
        </p:txBody>
      </p:sp>
    </p:spTree>
    <p:extLst>
      <p:ext uri="{BB962C8B-B14F-4D97-AF65-F5344CB8AC3E}">
        <p14:creationId xmlns:p14="http://schemas.microsoft.com/office/powerpoint/2010/main" val="3876001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01A42-2326-2143-4496-F18058645613}"/>
              </a:ext>
            </a:extLst>
          </p:cNvPr>
          <p:cNvSpPr>
            <a:spLocks noGrp="1"/>
          </p:cNvSpPr>
          <p:nvPr>
            <p:ph type="title"/>
          </p:nvPr>
        </p:nvSpPr>
        <p:spPr/>
        <p:txBody>
          <a:bodyPr>
            <a:normAutofit fontScale="90000"/>
          </a:bodyPr>
          <a:lstStyle/>
          <a:p>
            <a:r>
              <a:rPr lang="en-US" dirty="0"/>
              <a:t>Results from last class</a:t>
            </a:r>
          </a:p>
        </p:txBody>
      </p:sp>
      <p:sp>
        <p:nvSpPr>
          <p:cNvPr id="3" name="Content Placeholder 2">
            <a:extLst>
              <a:ext uri="{FF2B5EF4-FFF2-40B4-BE49-F238E27FC236}">
                <a16:creationId xmlns:a16="http://schemas.microsoft.com/office/drawing/2014/main" id="{BEE1F369-CC6E-F86D-2979-E79FA26A328E}"/>
              </a:ext>
            </a:extLst>
          </p:cNvPr>
          <p:cNvSpPr>
            <a:spLocks noGrp="1"/>
          </p:cNvSpPr>
          <p:nvPr>
            <p:ph idx="1"/>
          </p:nvPr>
        </p:nvSpPr>
        <p:spPr/>
        <p:txBody>
          <a:bodyPr/>
          <a:lstStyle/>
          <a:p>
            <a:r>
              <a:rPr lang="en-US" dirty="0"/>
              <a:t>How should missing data be filled?</a:t>
            </a:r>
          </a:p>
          <a:p>
            <a:pPr lvl="1"/>
            <a:r>
              <a:rPr lang="en-US" dirty="0"/>
              <a:t>Missing months?</a:t>
            </a:r>
          </a:p>
          <a:p>
            <a:pPr lvl="1"/>
            <a:r>
              <a:rPr lang="en-US" dirty="0"/>
              <a:t>Climate data (air temperature, precipitation, wind speed, humidity, </a:t>
            </a:r>
            <a:r>
              <a:rPr lang="en-US" dirty="0" err="1"/>
              <a:t>etc</a:t>
            </a:r>
            <a:r>
              <a:rPr lang="en-US" dirty="0"/>
              <a:t>)</a:t>
            </a:r>
          </a:p>
          <a:p>
            <a:pPr lvl="1"/>
            <a:r>
              <a:rPr lang="en-US" dirty="0"/>
              <a:t>Should latitude, longitude, altitude, and proximity to water even be included?</a:t>
            </a:r>
          </a:p>
          <a:p>
            <a:pPr lvl="1"/>
            <a:r>
              <a:rPr lang="en-US" dirty="0"/>
              <a:t>Prevent temporal leakage?</a:t>
            </a:r>
          </a:p>
          <a:p>
            <a:r>
              <a:rPr lang="en-US" dirty="0"/>
              <a:t>How should data be split into testing and training?</a:t>
            </a:r>
          </a:p>
          <a:p>
            <a:endParaRPr lang="en-US" dirty="0"/>
          </a:p>
        </p:txBody>
      </p:sp>
      <p:sp>
        <p:nvSpPr>
          <p:cNvPr id="4" name="Footer Placeholder 3">
            <a:extLst>
              <a:ext uri="{FF2B5EF4-FFF2-40B4-BE49-F238E27FC236}">
                <a16:creationId xmlns:a16="http://schemas.microsoft.com/office/drawing/2014/main" id="{8CB81518-A6C5-AC7A-5419-AC580A7A7951}"/>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36767426-9DDA-3B29-3411-A328F51D617F}"/>
              </a:ext>
            </a:extLst>
          </p:cNvPr>
          <p:cNvSpPr>
            <a:spLocks noGrp="1"/>
          </p:cNvSpPr>
          <p:nvPr>
            <p:ph type="sldNum" sz="quarter" idx="12"/>
          </p:nvPr>
        </p:nvSpPr>
        <p:spPr/>
        <p:txBody>
          <a:bodyPr/>
          <a:lstStyle/>
          <a:p>
            <a:fld id="{10A4AB6E-1AC4-C44F-A0CC-883A0306AF8B}" type="slidenum">
              <a:rPr lang="en-US" smtClean="0"/>
              <a:t>3</a:t>
            </a:fld>
            <a:endParaRPr lang="en-US"/>
          </a:p>
        </p:txBody>
      </p:sp>
      <p:pic>
        <p:nvPicPr>
          <p:cNvPr id="7" name="Picture 6" descr="Dataset from last class">
            <a:extLst>
              <a:ext uri="{FF2B5EF4-FFF2-40B4-BE49-F238E27FC236}">
                <a16:creationId xmlns:a16="http://schemas.microsoft.com/office/drawing/2014/main" id="{5A31EC98-664C-8E51-4EA1-1506B0097862}"/>
              </a:ext>
            </a:extLst>
          </p:cNvPr>
          <p:cNvPicPr>
            <a:picLocks noChangeAspect="1"/>
          </p:cNvPicPr>
          <p:nvPr/>
        </p:nvPicPr>
        <p:blipFill>
          <a:blip r:embed="rId2"/>
          <a:stretch>
            <a:fillRect/>
          </a:stretch>
        </p:blipFill>
        <p:spPr>
          <a:xfrm>
            <a:off x="293719" y="4205534"/>
            <a:ext cx="11604561" cy="1517372"/>
          </a:xfrm>
          <a:prstGeom prst="rect">
            <a:avLst/>
          </a:prstGeom>
        </p:spPr>
      </p:pic>
    </p:spTree>
    <p:extLst>
      <p:ext uri="{BB962C8B-B14F-4D97-AF65-F5344CB8AC3E}">
        <p14:creationId xmlns:p14="http://schemas.microsoft.com/office/powerpoint/2010/main" val="1837148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AA9AB7-73DF-FDEC-E5DF-FD4A41F5A721}"/>
              </a:ext>
            </a:extLst>
          </p:cNvPr>
          <p:cNvSpPr>
            <a:spLocks noGrp="1"/>
          </p:cNvSpPr>
          <p:nvPr>
            <p:ph idx="1"/>
          </p:nvPr>
        </p:nvSpPr>
        <p:spPr>
          <a:xfrm>
            <a:off x="838200" y="1135094"/>
            <a:ext cx="10515600" cy="5221256"/>
          </a:xfrm>
        </p:spPr>
        <p:txBody>
          <a:bodyPr>
            <a:normAutofit/>
          </a:bodyPr>
          <a:lstStyle/>
          <a:p>
            <a:pPr marL="0" indent="0">
              <a:buNone/>
            </a:pPr>
            <a:r>
              <a:rPr lang="en-US" dirty="0"/>
              <a:t>K=3 vs k=5</a:t>
            </a:r>
          </a:p>
          <a:p>
            <a:pPr marL="0" indent="0">
              <a:buNone/>
            </a:pPr>
            <a:r>
              <a:rPr lang="en-US" dirty="0"/>
              <a:t>How to choose the optimal number of neighbors?</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63F8F0D1-4AB7-A55D-B068-94E200DB26E6}"/>
              </a:ext>
            </a:extLst>
          </p:cNvPr>
          <p:cNvSpPr>
            <a:spLocks noGrp="1"/>
          </p:cNvSpPr>
          <p:nvPr>
            <p:ph type="title"/>
          </p:nvPr>
        </p:nvSpPr>
        <p:spPr/>
        <p:txBody>
          <a:bodyPr>
            <a:normAutofit fontScale="90000"/>
          </a:bodyPr>
          <a:lstStyle/>
          <a:p>
            <a:r>
              <a:rPr lang="en-US" dirty="0"/>
              <a:t>Number of neighbors</a:t>
            </a:r>
          </a:p>
        </p:txBody>
      </p:sp>
      <p:sp>
        <p:nvSpPr>
          <p:cNvPr id="4" name="Footer Placeholder 3">
            <a:extLst>
              <a:ext uri="{FF2B5EF4-FFF2-40B4-BE49-F238E27FC236}">
                <a16:creationId xmlns:a16="http://schemas.microsoft.com/office/drawing/2014/main" id="{D875422F-824E-4A0D-9545-9B51A29EF134}"/>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CC765F13-51FB-2E9E-DBBC-B6AFAF12F53A}"/>
              </a:ext>
            </a:extLst>
          </p:cNvPr>
          <p:cNvSpPr>
            <a:spLocks noGrp="1"/>
          </p:cNvSpPr>
          <p:nvPr>
            <p:ph type="sldNum" sz="quarter" idx="12"/>
          </p:nvPr>
        </p:nvSpPr>
        <p:spPr/>
        <p:txBody>
          <a:bodyPr/>
          <a:lstStyle/>
          <a:p>
            <a:fld id="{10A4AB6E-1AC4-C44F-A0CC-883A0306AF8B}" type="slidenum">
              <a:rPr lang="en-US" smtClean="0"/>
              <a:t>4</a:t>
            </a:fld>
            <a:endParaRPr lang="en-US"/>
          </a:p>
        </p:txBody>
      </p:sp>
      <p:pic>
        <p:nvPicPr>
          <p:cNvPr id="7" name="Graphic 6" descr="Figure of KNN showing that if K is 3 the point in question would be a red triangle. If K=5 it would be a blue square.">
            <a:extLst>
              <a:ext uri="{FF2B5EF4-FFF2-40B4-BE49-F238E27FC236}">
                <a16:creationId xmlns:a16="http://schemas.microsoft.com/office/drawing/2014/main" id="{065E040E-89F7-BF89-6F56-69B90372CD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9950" y="2709863"/>
            <a:ext cx="2832100" cy="2552700"/>
          </a:xfrm>
          <a:prstGeom prst="rect">
            <a:avLst/>
          </a:prstGeom>
        </p:spPr>
      </p:pic>
    </p:spTree>
    <p:extLst>
      <p:ext uri="{BB962C8B-B14F-4D97-AF65-F5344CB8AC3E}">
        <p14:creationId xmlns:p14="http://schemas.microsoft.com/office/powerpoint/2010/main" val="584635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9C3C3-366C-48D2-A2FB-C834144FCA4F}"/>
              </a:ext>
            </a:extLst>
          </p:cNvPr>
          <p:cNvSpPr>
            <a:spLocks noGrp="1"/>
          </p:cNvSpPr>
          <p:nvPr>
            <p:ph type="title"/>
          </p:nvPr>
        </p:nvSpPr>
        <p:spPr/>
        <p:txBody>
          <a:bodyPr>
            <a:normAutofit fontScale="90000"/>
          </a:bodyPr>
          <a:lstStyle/>
          <a:p>
            <a:r>
              <a:rPr lang="en-US" dirty="0"/>
              <a:t>Standard Cross Validation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0DFCB3-7DB1-0062-E2DD-AEC821FB0891}"/>
                  </a:ext>
                </a:extLst>
              </p:cNvPr>
              <p:cNvSpPr>
                <a:spLocks noGrp="1"/>
              </p:cNvSpPr>
              <p:nvPr>
                <p:ph idx="1"/>
              </p:nvPr>
            </p:nvSpPr>
            <p:spPr>
              <a:xfrm>
                <a:off x="838200" y="1135094"/>
                <a:ext cx="10515600" cy="3102522"/>
              </a:xfrm>
            </p:spPr>
            <p:txBody>
              <a:bodyPr>
                <a:normAutofit fontScale="85000" lnSpcReduction="20000"/>
              </a:bodyPr>
              <a:lstStyle/>
              <a:p>
                <a:r>
                  <a:rPr lang="en-US" dirty="0"/>
                  <a:t>The data are divided into </a:t>
                </a:r>
                <a14:m>
                  <m:oMath xmlns:m="http://schemas.openxmlformats.org/officeDocument/2006/math">
                    <m:r>
                      <a:rPr lang="en-US" i="1">
                        <a:latin typeface="Cambria Math" panose="02040503050406030204" pitchFamily="18" charset="0"/>
                      </a:rPr>
                      <m:t>𝑘</m:t>
                    </m:r>
                  </m:oMath>
                </a14:m>
                <a:r>
                  <a:rPr lang="en-US" dirty="0"/>
                  <a:t> folds. The model trains on </a:t>
                </a:r>
                <a14:m>
                  <m:oMath xmlns:m="http://schemas.openxmlformats.org/officeDocument/2006/math">
                    <m:r>
                      <a:rPr lang="en-US" i="1">
                        <a:latin typeface="Cambria Math" panose="02040503050406030204" pitchFamily="18" charset="0"/>
                      </a:rPr>
                      <m:t>𝑘</m:t>
                    </m:r>
                    <m:r>
                      <a:rPr lang="en-US">
                        <a:latin typeface="Cambria Math" panose="02040503050406030204" pitchFamily="18" charset="0"/>
                      </a:rPr>
                      <m:t>−1</m:t>
                    </m:r>
                  </m:oMath>
                </a14:m>
                <a:r>
                  <a:rPr lang="en-US" dirty="0"/>
                  <a:t> folds and tests on the remaining fold. This repeats until every fold has served as the test set.</a:t>
                </a:r>
              </a:p>
              <a:p>
                <a:r>
                  <a:rPr lang="en-US" dirty="0"/>
                  <a:t>Advantages:</a:t>
                </a:r>
              </a:p>
              <a:p>
                <a:pPr lvl="1"/>
                <a:r>
                  <a:rPr lang="en-US" dirty="0"/>
                  <a:t>More stable than one split.</a:t>
                </a:r>
              </a:p>
              <a:p>
                <a:pPr lvl="1"/>
                <a:r>
                  <a:rPr lang="en-US" dirty="0"/>
                  <a:t>Uses all observations for testing once.</a:t>
                </a:r>
              </a:p>
              <a:p>
                <a:pPr lvl="1"/>
                <a:r>
                  <a:rPr lang="en-US" dirty="0"/>
                  <a:t>Efficient for small datasets.</a:t>
                </a:r>
              </a:p>
              <a:p>
                <a:r>
                  <a:rPr lang="en-US" dirty="0"/>
                  <a:t>Limitations:</a:t>
                </a:r>
              </a:p>
              <a:p>
                <a:pPr lvl="1"/>
                <a:r>
                  <a:rPr lang="en-US" dirty="0"/>
                  <a:t>Assumes observations are exchangeable.</a:t>
                </a:r>
              </a:p>
              <a:p>
                <a:pPr lvl="1"/>
                <a:r>
                  <a:rPr lang="en-US" dirty="0"/>
                  <a:t>Can be misleading for spatial, temporal, or grouped data.</a:t>
                </a:r>
              </a:p>
              <a:p>
                <a:pPr lvl="1"/>
                <a:r>
                  <a:rPr lang="en-US" dirty="0"/>
                  <a:t>Often too optimistic for geoscience applications.</a:t>
                </a:r>
              </a:p>
              <a:p>
                <a:endParaRPr lang="en-US" dirty="0"/>
              </a:p>
            </p:txBody>
          </p:sp>
        </mc:Choice>
        <mc:Fallback xmlns="">
          <p:sp>
            <p:nvSpPr>
              <p:cNvPr id="3" name="Content Placeholder 2">
                <a:extLst>
                  <a:ext uri="{FF2B5EF4-FFF2-40B4-BE49-F238E27FC236}">
                    <a16:creationId xmlns:a16="http://schemas.microsoft.com/office/drawing/2014/main" id="{FE0DFCB3-7DB1-0062-E2DD-AEC821FB0891}"/>
                  </a:ext>
                </a:extLst>
              </p:cNvPr>
              <p:cNvSpPr>
                <a:spLocks noGrp="1" noRot="1" noChangeAspect="1" noMove="1" noResize="1" noEditPoints="1" noAdjustHandles="1" noChangeArrowheads="1" noChangeShapeType="1" noTextEdit="1"/>
              </p:cNvSpPr>
              <p:nvPr>
                <p:ph idx="1"/>
              </p:nvPr>
            </p:nvSpPr>
            <p:spPr>
              <a:xfrm>
                <a:off x="838200" y="1135094"/>
                <a:ext cx="10515600" cy="3102522"/>
              </a:xfrm>
              <a:blipFill>
                <a:blip r:embed="rId3"/>
                <a:stretch>
                  <a:fillRect l="-844" t="-4490" r="-724" b="-204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B0D57F1-E4E4-9B70-137D-D69D60FB4555}"/>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E36E67B0-8B53-DC8E-0C32-8CCCF9227058}"/>
              </a:ext>
            </a:extLst>
          </p:cNvPr>
          <p:cNvSpPr>
            <a:spLocks noGrp="1"/>
          </p:cNvSpPr>
          <p:nvPr>
            <p:ph type="sldNum" sz="quarter" idx="12"/>
          </p:nvPr>
        </p:nvSpPr>
        <p:spPr/>
        <p:txBody>
          <a:bodyPr/>
          <a:lstStyle/>
          <a:p>
            <a:fld id="{10A4AB6E-1AC4-C44F-A0CC-883A0306AF8B}" type="slidenum">
              <a:rPr lang="en-US" smtClean="0"/>
              <a:t>5</a:t>
            </a:fld>
            <a:endParaRPr lang="en-US"/>
          </a:p>
        </p:txBody>
      </p:sp>
      <p:pic>
        <p:nvPicPr>
          <p:cNvPr id="7" name="Picture 6" descr="Diagram showing a sequence of 12 labeled red squares representing training data and one blue square representing test data. The diagram includes a legend with red and blue color codes labeled &quot;Train&quot; and &quot;Test,&quot; respectively, and parameters n=12 and k=3 indicating dataset size and test subset.&#10;">
            <a:extLst>
              <a:ext uri="{FF2B5EF4-FFF2-40B4-BE49-F238E27FC236}">
                <a16:creationId xmlns:a16="http://schemas.microsoft.com/office/drawing/2014/main" id="{F0E9050E-B087-6835-784C-C2AAB39F6276}"/>
              </a:ext>
            </a:extLst>
          </p:cNvPr>
          <p:cNvPicPr>
            <a:picLocks noChangeAspect="1"/>
          </p:cNvPicPr>
          <p:nvPr/>
        </p:nvPicPr>
        <p:blipFill>
          <a:blip r:embed="rId4"/>
          <a:stretch>
            <a:fillRect/>
          </a:stretch>
        </p:blipFill>
        <p:spPr>
          <a:xfrm>
            <a:off x="1866900" y="4406395"/>
            <a:ext cx="7772400" cy="1781175"/>
          </a:xfrm>
          <a:prstGeom prst="rect">
            <a:avLst/>
          </a:prstGeom>
        </p:spPr>
      </p:pic>
    </p:spTree>
    <p:extLst>
      <p:ext uri="{BB962C8B-B14F-4D97-AF65-F5344CB8AC3E}">
        <p14:creationId xmlns:p14="http://schemas.microsoft.com/office/powerpoint/2010/main" val="2305513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F935A-1DE1-9E2E-901A-A7E35A2FB181}"/>
              </a:ext>
            </a:extLst>
          </p:cNvPr>
          <p:cNvSpPr>
            <a:spLocks noGrp="1"/>
          </p:cNvSpPr>
          <p:nvPr>
            <p:ph type="title"/>
          </p:nvPr>
        </p:nvSpPr>
        <p:spPr/>
        <p:txBody>
          <a:bodyPr>
            <a:normAutofit fontScale="90000"/>
          </a:bodyPr>
          <a:lstStyle/>
          <a:p>
            <a:r>
              <a:rPr lang="en-US" dirty="0"/>
              <a:t>Stratified k-fold cross-validation</a:t>
            </a:r>
          </a:p>
        </p:txBody>
      </p:sp>
      <p:sp>
        <p:nvSpPr>
          <p:cNvPr id="3" name="Content Placeholder 2">
            <a:extLst>
              <a:ext uri="{FF2B5EF4-FFF2-40B4-BE49-F238E27FC236}">
                <a16:creationId xmlns:a16="http://schemas.microsoft.com/office/drawing/2014/main" id="{70868F8D-0668-E26C-9E5D-FEB136B1EFB8}"/>
              </a:ext>
            </a:extLst>
          </p:cNvPr>
          <p:cNvSpPr>
            <a:spLocks noGrp="1"/>
          </p:cNvSpPr>
          <p:nvPr>
            <p:ph idx="1"/>
          </p:nvPr>
        </p:nvSpPr>
        <p:spPr>
          <a:xfrm>
            <a:off x="838200" y="1135094"/>
            <a:ext cx="6310745" cy="5011428"/>
          </a:xfrm>
        </p:spPr>
        <p:txBody>
          <a:bodyPr>
            <a:normAutofit/>
          </a:bodyPr>
          <a:lstStyle/>
          <a:p>
            <a:r>
              <a:rPr lang="en-US" dirty="0"/>
              <a:t>Each fold preserves the class distribution.</a:t>
            </a:r>
          </a:p>
          <a:p>
            <a:r>
              <a:rPr lang="en-US" dirty="0"/>
              <a:t>Useful for:</a:t>
            </a:r>
          </a:p>
          <a:p>
            <a:pPr lvl="1"/>
            <a:r>
              <a:rPr lang="en-US" dirty="0"/>
              <a:t>Imbalanced classification.</a:t>
            </a:r>
          </a:p>
          <a:p>
            <a:pPr lvl="1"/>
            <a:r>
              <a:rPr lang="en-US" dirty="0"/>
              <a:t>Rare events.</a:t>
            </a:r>
          </a:p>
          <a:p>
            <a:pPr lvl="1"/>
            <a:r>
              <a:rPr lang="en-US" dirty="0"/>
              <a:t>Multiclass land-cover classification.</a:t>
            </a:r>
          </a:p>
          <a:p>
            <a:r>
              <a:rPr lang="en-US" dirty="0"/>
              <a:t>Limitation:</a:t>
            </a:r>
          </a:p>
          <a:p>
            <a:pPr lvl="1"/>
            <a:r>
              <a:rPr lang="en-US" dirty="0"/>
              <a:t>Stratification by class does not solve spatial or temporal leakage.</a:t>
            </a:r>
          </a:p>
          <a:p>
            <a:pPr lvl="1"/>
            <a:r>
              <a:rPr lang="en-US" dirty="0"/>
              <a:t>A fold can have the right number of landslide pixels but still include landslide pixels adjacent to training pixels.</a:t>
            </a:r>
          </a:p>
        </p:txBody>
      </p:sp>
      <p:sp>
        <p:nvSpPr>
          <p:cNvPr id="4" name="Footer Placeholder 3">
            <a:extLst>
              <a:ext uri="{FF2B5EF4-FFF2-40B4-BE49-F238E27FC236}">
                <a16:creationId xmlns:a16="http://schemas.microsoft.com/office/drawing/2014/main" id="{B96F9FE5-D967-850B-B9E3-BE8EC9EDB6B8}"/>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4E77F870-0256-5588-DB55-41EAE60708D8}"/>
              </a:ext>
            </a:extLst>
          </p:cNvPr>
          <p:cNvSpPr>
            <a:spLocks noGrp="1"/>
          </p:cNvSpPr>
          <p:nvPr>
            <p:ph type="sldNum" sz="quarter" idx="12"/>
          </p:nvPr>
        </p:nvSpPr>
        <p:spPr/>
        <p:txBody>
          <a:bodyPr/>
          <a:lstStyle/>
          <a:p>
            <a:fld id="{10A4AB6E-1AC4-C44F-A0CC-883A0306AF8B}" type="slidenum">
              <a:rPr lang="en-US" smtClean="0"/>
              <a:t>6</a:t>
            </a:fld>
            <a:endParaRPr lang="en-US"/>
          </a:p>
        </p:txBody>
      </p:sp>
      <p:pic>
        <p:nvPicPr>
          <p:cNvPr id="7" name="Picture 6" descr="Stacked bar chart illustrating data distribution across five cross-validation iterations for training and testing sets, with sample indices grouped by class. Bars use blue for training sets and red for testing sets, showing varying proportions of samples allocated to each set per iteration.">
            <a:extLst>
              <a:ext uri="{FF2B5EF4-FFF2-40B4-BE49-F238E27FC236}">
                <a16:creationId xmlns:a16="http://schemas.microsoft.com/office/drawing/2014/main" id="{0182AD6F-C740-03DE-B5AA-FE73359E01DC}"/>
              </a:ext>
            </a:extLst>
          </p:cNvPr>
          <p:cNvPicPr>
            <a:picLocks noChangeAspect="1"/>
          </p:cNvPicPr>
          <p:nvPr/>
        </p:nvPicPr>
        <p:blipFill>
          <a:blip r:embed="rId3"/>
          <a:stretch>
            <a:fillRect/>
          </a:stretch>
        </p:blipFill>
        <p:spPr>
          <a:xfrm>
            <a:off x="7187767" y="2039453"/>
            <a:ext cx="5004233" cy="3202709"/>
          </a:xfrm>
          <a:prstGeom prst="rect">
            <a:avLst/>
          </a:prstGeom>
        </p:spPr>
      </p:pic>
    </p:spTree>
    <p:extLst>
      <p:ext uri="{BB962C8B-B14F-4D97-AF65-F5344CB8AC3E}">
        <p14:creationId xmlns:p14="http://schemas.microsoft.com/office/powerpoint/2010/main" val="101566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87C44-BA32-794A-FFB2-60FA55889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7242B-614B-3358-8E6C-AD93E0A60360}"/>
              </a:ext>
            </a:extLst>
          </p:cNvPr>
          <p:cNvSpPr>
            <a:spLocks noGrp="1"/>
          </p:cNvSpPr>
          <p:nvPr>
            <p:ph type="title"/>
          </p:nvPr>
        </p:nvSpPr>
        <p:spPr/>
        <p:txBody>
          <a:bodyPr>
            <a:normAutofit fontScale="90000"/>
          </a:bodyPr>
          <a:lstStyle/>
          <a:p>
            <a:r>
              <a:rPr lang="en-US" dirty="0"/>
              <a:t>Group k-fold cross-validation</a:t>
            </a:r>
          </a:p>
        </p:txBody>
      </p:sp>
      <p:sp>
        <p:nvSpPr>
          <p:cNvPr id="3" name="Content Placeholder 2">
            <a:extLst>
              <a:ext uri="{FF2B5EF4-FFF2-40B4-BE49-F238E27FC236}">
                <a16:creationId xmlns:a16="http://schemas.microsoft.com/office/drawing/2014/main" id="{FE729E43-35F5-CEBA-65A8-93145232A1BD}"/>
              </a:ext>
            </a:extLst>
          </p:cNvPr>
          <p:cNvSpPr>
            <a:spLocks noGrp="1"/>
          </p:cNvSpPr>
          <p:nvPr>
            <p:ph idx="1"/>
          </p:nvPr>
        </p:nvSpPr>
        <p:spPr/>
        <p:txBody>
          <a:bodyPr>
            <a:normAutofit/>
          </a:bodyPr>
          <a:lstStyle/>
          <a:p>
            <a:r>
              <a:rPr lang="en-US" dirty="0"/>
              <a:t>Keeps all observations from the same group in the same fold.</a:t>
            </a:r>
          </a:p>
          <a:p>
            <a:r>
              <a:rPr lang="en-US" dirty="0"/>
              <a:t>Examples:</a:t>
            </a:r>
          </a:p>
          <a:p>
            <a:pPr lvl="1"/>
            <a:r>
              <a:rPr lang="en-US" dirty="0"/>
              <a:t>Leave stations out.</a:t>
            </a:r>
          </a:p>
          <a:p>
            <a:pPr lvl="1"/>
            <a:r>
              <a:rPr lang="en-US" dirty="0"/>
              <a:t>Leave watersheds out.</a:t>
            </a:r>
          </a:p>
          <a:p>
            <a:pPr lvl="1"/>
            <a:r>
              <a:rPr lang="en-US" dirty="0"/>
              <a:t>Leave remote sensing scenes out.</a:t>
            </a:r>
          </a:p>
          <a:p>
            <a:pPr lvl="1"/>
            <a:r>
              <a:rPr lang="en-US" dirty="0"/>
              <a:t>Leave storm events out.</a:t>
            </a:r>
          </a:p>
          <a:p>
            <a:pPr lvl="1"/>
            <a:r>
              <a:rPr lang="en-US" dirty="0"/>
              <a:t>Leave field campaigns out.</a:t>
            </a:r>
          </a:p>
          <a:p>
            <a:r>
              <a:rPr lang="en-US" dirty="0"/>
              <a:t>Example:</a:t>
            </a:r>
          </a:p>
          <a:p>
            <a:pPr lvl="1"/>
            <a:r>
              <a:rPr lang="en-US" dirty="0"/>
              <a:t>If the task is to predict streamflow at ungauged basins, the cross-validation groups should be basins, not individual daily observations.</a:t>
            </a:r>
          </a:p>
        </p:txBody>
      </p:sp>
      <p:sp>
        <p:nvSpPr>
          <p:cNvPr id="4" name="Footer Placeholder 3">
            <a:extLst>
              <a:ext uri="{FF2B5EF4-FFF2-40B4-BE49-F238E27FC236}">
                <a16:creationId xmlns:a16="http://schemas.microsoft.com/office/drawing/2014/main" id="{A5F228C2-05C4-ECCF-6A15-614AF8077FFB}"/>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5B6FD7D6-54D3-4D39-A24F-F00DEE3D5401}"/>
              </a:ext>
            </a:extLst>
          </p:cNvPr>
          <p:cNvSpPr>
            <a:spLocks noGrp="1"/>
          </p:cNvSpPr>
          <p:nvPr>
            <p:ph type="sldNum" sz="quarter" idx="12"/>
          </p:nvPr>
        </p:nvSpPr>
        <p:spPr/>
        <p:txBody>
          <a:bodyPr/>
          <a:lstStyle/>
          <a:p>
            <a:fld id="{10A4AB6E-1AC4-C44F-A0CC-883A0306AF8B}" type="slidenum">
              <a:rPr lang="en-US" smtClean="0"/>
              <a:t>7</a:t>
            </a:fld>
            <a:endParaRPr lang="en-US"/>
          </a:p>
        </p:txBody>
      </p:sp>
      <p:pic>
        <p:nvPicPr>
          <p:cNvPr id="7" name="Picture 6" descr="Horizontal stacked bar chart showing distribution of training and testing sets across five cross-validation iterations for GroupKFold. Bars use blue for training and orange for testing, with additional color-coded bars below representing class and group sample indices, highlighting consistent group separation in each fold.&#10;&#10;">
            <a:extLst>
              <a:ext uri="{FF2B5EF4-FFF2-40B4-BE49-F238E27FC236}">
                <a16:creationId xmlns:a16="http://schemas.microsoft.com/office/drawing/2014/main" id="{BE6B9118-070C-A4BA-AC1B-B9FB66993C17}"/>
              </a:ext>
            </a:extLst>
          </p:cNvPr>
          <p:cNvPicPr>
            <a:picLocks noChangeAspect="1"/>
          </p:cNvPicPr>
          <p:nvPr/>
        </p:nvPicPr>
        <p:blipFill>
          <a:blip r:embed="rId3"/>
          <a:stretch>
            <a:fillRect/>
          </a:stretch>
        </p:blipFill>
        <p:spPr>
          <a:xfrm>
            <a:off x="6477000" y="1697708"/>
            <a:ext cx="5486400" cy="2743200"/>
          </a:xfrm>
          <a:prstGeom prst="rect">
            <a:avLst/>
          </a:prstGeom>
        </p:spPr>
      </p:pic>
    </p:spTree>
    <p:extLst>
      <p:ext uri="{BB962C8B-B14F-4D97-AF65-F5344CB8AC3E}">
        <p14:creationId xmlns:p14="http://schemas.microsoft.com/office/powerpoint/2010/main" val="2044117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98E53-3471-C887-51AB-0D55C9D8E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129AF8-700A-8B22-BD2B-5F1C640CD499}"/>
              </a:ext>
            </a:extLst>
          </p:cNvPr>
          <p:cNvSpPr>
            <a:spLocks noGrp="1"/>
          </p:cNvSpPr>
          <p:nvPr>
            <p:ph type="title"/>
          </p:nvPr>
        </p:nvSpPr>
        <p:spPr/>
        <p:txBody>
          <a:bodyPr>
            <a:normAutofit fontScale="90000"/>
          </a:bodyPr>
          <a:lstStyle/>
          <a:p>
            <a:r>
              <a:rPr lang="en-US" dirty="0"/>
              <a:t>Nested cross-validation</a:t>
            </a:r>
          </a:p>
        </p:txBody>
      </p:sp>
      <p:sp>
        <p:nvSpPr>
          <p:cNvPr id="3" name="Content Placeholder 2">
            <a:extLst>
              <a:ext uri="{FF2B5EF4-FFF2-40B4-BE49-F238E27FC236}">
                <a16:creationId xmlns:a16="http://schemas.microsoft.com/office/drawing/2014/main" id="{9A50E434-E479-88EC-F4A0-AD461BF994B7}"/>
              </a:ext>
            </a:extLst>
          </p:cNvPr>
          <p:cNvSpPr>
            <a:spLocks noGrp="1"/>
          </p:cNvSpPr>
          <p:nvPr>
            <p:ph idx="1"/>
          </p:nvPr>
        </p:nvSpPr>
        <p:spPr/>
        <p:txBody>
          <a:bodyPr>
            <a:normAutofit/>
          </a:bodyPr>
          <a:lstStyle/>
          <a:p>
            <a:r>
              <a:rPr lang="en-US" dirty="0"/>
              <a:t>Nested CV separates model tuning from final performance estimation.</a:t>
            </a:r>
          </a:p>
          <a:p>
            <a:r>
              <a:rPr lang="en-US" dirty="0"/>
              <a:t>Outer loop: estimates performance; Inner loop: tunes hyperparameters.</a:t>
            </a:r>
          </a:p>
          <a:p>
            <a:r>
              <a:rPr lang="en-US" dirty="0"/>
              <a:t>If you tune hyperparameters and evaluate on the same folds, performance estimates can be optimistic.</a:t>
            </a:r>
          </a:p>
          <a:p>
            <a:r>
              <a:rPr lang="en-US" dirty="0"/>
              <a:t>Nested CV is especially useful when:</a:t>
            </a:r>
          </a:p>
          <a:p>
            <a:pPr lvl="1"/>
            <a:r>
              <a:rPr lang="en-US" dirty="0"/>
              <a:t>Comparing algorithms.</a:t>
            </a:r>
          </a:p>
          <a:p>
            <a:pPr lvl="1"/>
            <a:r>
              <a:rPr lang="en-US" dirty="0"/>
              <a:t>Performing substantial hyperparameter tuning.</a:t>
            </a:r>
          </a:p>
          <a:p>
            <a:pPr lvl="1"/>
            <a:r>
              <a:rPr lang="en-US" dirty="0"/>
              <a:t>Publishing performance claims.</a:t>
            </a:r>
          </a:p>
          <a:p>
            <a:pPr lvl="1"/>
            <a:r>
              <a:rPr lang="en-US" dirty="0"/>
              <a:t>Working with small datasets.</a:t>
            </a:r>
          </a:p>
          <a:p>
            <a:endParaRPr lang="en-US" dirty="0"/>
          </a:p>
        </p:txBody>
      </p:sp>
      <p:sp>
        <p:nvSpPr>
          <p:cNvPr id="4" name="Footer Placeholder 3">
            <a:extLst>
              <a:ext uri="{FF2B5EF4-FFF2-40B4-BE49-F238E27FC236}">
                <a16:creationId xmlns:a16="http://schemas.microsoft.com/office/drawing/2014/main" id="{73C080BA-7999-CF24-ACA1-E668E0865C53}"/>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A8072FEE-4C72-877A-6714-8ACF195490F4}"/>
              </a:ext>
            </a:extLst>
          </p:cNvPr>
          <p:cNvSpPr>
            <a:spLocks noGrp="1"/>
          </p:cNvSpPr>
          <p:nvPr>
            <p:ph type="sldNum" sz="quarter" idx="12"/>
          </p:nvPr>
        </p:nvSpPr>
        <p:spPr/>
        <p:txBody>
          <a:bodyPr/>
          <a:lstStyle/>
          <a:p>
            <a:fld id="{10A4AB6E-1AC4-C44F-A0CC-883A0306AF8B}" type="slidenum">
              <a:rPr lang="en-US" smtClean="0"/>
              <a:t>8</a:t>
            </a:fld>
            <a:endParaRPr lang="en-US"/>
          </a:p>
        </p:txBody>
      </p:sp>
    </p:spTree>
    <p:extLst>
      <p:ext uri="{BB962C8B-B14F-4D97-AF65-F5344CB8AC3E}">
        <p14:creationId xmlns:p14="http://schemas.microsoft.com/office/powerpoint/2010/main" val="839738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C94BE-DAF4-420E-1613-FCB328464099}"/>
              </a:ext>
            </a:extLst>
          </p:cNvPr>
          <p:cNvSpPr>
            <a:spLocks noGrp="1"/>
          </p:cNvSpPr>
          <p:nvPr>
            <p:ph type="title"/>
          </p:nvPr>
        </p:nvSpPr>
        <p:spPr/>
        <p:txBody>
          <a:bodyPr>
            <a:normAutofit fontScale="90000"/>
          </a:bodyPr>
          <a:lstStyle/>
          <a:p>
            <a:r>
              <a:rPr lang="en-US" dirty="0"/>
              <a:t>Match Model Goal with Method</a:t>
            </a:r>
          </a:p>
        </p:txBody>
      </p:sp>
      <p:graphicFrame>
        <p:nvGraphicFramePr>
          <p:cNvPr id="6" name="Content Placeholder 5">
            <a:extLst>
              <a:ext uri="{FF2B5EF4-FFF2-40B4-BE49-F238E27FC236}">
                <a16:creationId xmlns:a16="http://schemas.microsoft.com/office/drawing/2014/main" id="{8F77E895-197B-66BA-DE9C-6E3E0C7C28A0}"/>
              </a:ext>
            </a:extLst>
          </p:cNvPr>
          <p:cNvGraphicFramePr>
            <a:graphicFrameLocks noGrp="1"/>
          </p:cNvGraphicFramePr>
          <p:nvPr>
            <p:ph idx="1"/>
            <p:extLst>
              <p:ext uri="{D42A27DB-BD31-4B8C-83A1-F6EECF244321}">
                <p14:modId xmlns:p14="http://schemas.microsoft.com/office/powerpoint/2010/main" val="656029375"/>
              </p:ext>
            </p:extLst>
          </p:nvPr>
        </p:nvGraphicFramePr>
        <p:xfrm>
          <a:off x="952500" y="1622236"/>
          <a:ext cx="10515600" cy="4023360"/>
        </p:xfrm>
        <a:graphic>
          <a:graphicData uri="http://schemas.openxmlformats.org/drawingml/2006/table">
            <a:tbl>
              <a:tblPr firstRow="1"/>
              <a:tblGrid>
                <a:gridCol w="4691063">
                  <a:extLst>
                    <a:ext uri="{9D8B030D-6E8A-4147-A177-3AD203B41FA5}">
                      <a16:colId xmlns:a16="http://schemas.microsoft.com/office/drawing/2014/main" val="3314251091"/>
                    </a:ext>
                  </a:extLst>
                </a:gridCol>
                <a:gridCol w="5824537">
                  <a:extLst>
                    <a:ext uri="{9D8B030D-6E8A-4147-A177-3AD203B41FA5}">
                      <a16:colId xmlns:a16="http://schemas.microsoft.com/office/drawing/2014/main" val="733573866"/>
                    </a:ext>
                  </a:extLst>
                </a:gridCol>
              </a:tblGrid>
              <a:tr h="0">
                <a:tc>
                  <a:txBody>
                    <a:bodyPr/>
                    <a:lstStyle/>
                    <a:p>
                      <a:pPr algn="l">
                        <a:buNone/>
                      </a:pPr>
                      <a:r>
                        <a:rPr lang="en-US" sz="2400" b="1" i="0" dirty="0">
                          <a:solidFill>
                            <a:schemeClr val="tx1"/>
                          </a:solidFill>
                          <a:effectLst/>
                        </a:rPr>
                        <a:t>Generalization goal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400" b="1" i="0" dirty="0">
                          <a:solidFill>
                            <a:schemeClr val="tx1"/>
                          </a:solidFill>
                          <a:effectLst/>
                        </a:rPr>
                        <a:t>Appropriate 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946792"/>
                  </a:ext>
                </a:extLst>
              </a:tr>
              <a:tr h="0">
                <a:tc>
                  <a:txBody>
                    <a:bodyPr/>
                    <a:lstStyle/>
                    <a:p>
                      <a:pPr algn="l">
                        <a:buNone/>
                      </a:pPr>
                      <a:r>
                        <a:rPr lang="en-US" sz="2400" b="0" i="0" dirty="0">
                          <a:solidFill>
                            <a:schemeClr val="tx1"/>
                          </a:solidFill>
                          <a:effectLst/>
                        </a:rPr>
                        <a:t>New random samples from same population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400" b="0" i="0" dirty="0">
                          <a:solidFill>
                            <a:schemeClr val="tx1"/>
                          </a:solidFill>
                          <a:effectLst/>
                        </a:rPr>
                        <a:t>Random k-fold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5160190"/>
                  </a:ext>
                </a:extLst>
              </a:tr>
              <a:tr h="0">
                <a:tc>
                  <a:txBody>
                    <a:bodyPr/>
                    <a:lstStyle/>
                    <a:p>
                      <a:pPr algn="l">
                        <a:buNone/>
                      </a:pPr>
                      <a:r>
                        <a:rPr lang="en-US" sz="2400" b="0" i="0">
                          <a:solidFill>
                            <a:schemeClr val="tx1"/>
                          </a:solidFill>
                          <a:effectLst/>
                        </a:rPr>
                        <a:t>New locations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400" b="0" i="0" dirty="0">
                          <a:solidFill>
                            <a:schemeClr val="tx1"/>
                          </a:solidFill>
                          <a:effectLst/>
                        </a:rPr>
                        <a:t>Spatial block CV or group-by-location 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5093955"/>
                  </a:ext>
                </a:extLst>
              </a:tr>
              <a:tr h="0">
                <a:tc>
                  <a:txBody>
                    <a:bodyPr/>
                    <a:lstStyle/>
                    <a:p>
                      <a:pPr algn="l">
                        <a:buNone/>
                      </a:pPr>
                      <a:r>
                        <a:rPr lang="en-US" sz="2400" b="0" i="0">
                          <a:solidFill>
                            <a:schemeClr val="tx1"/>
                          </a:solidFill>
                          <a:effectLst/>
                        </a:rPr>
                        <a:t>New time periods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400" b="0" i="0" dirty="0">
                          <a:solidFill>
                            <a:schemeClr val="tx1"/>
                          </a:solidFill>
                          <a:effectLst/>
                        </a:rPr>
                        <a:t>Temporal CV or rolling-origin 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9970896"/>
                  </a:ext>
                </a:extLst>
              </a:tr>
              <a:tr h="0">
                <a:tc>
                  <a:txBody>
                    <a:bodyPr/>
                    <a:lstStyle/>
                    <a:p>
                      <a:pPr algn="l">
                        <a:buNone/>
                      </a:pPr>
                      <a:r>
                        <a:rPr lang="en-US" sz="2400" b="0" i="0">
                          <a:solidFill>
                            <a:schemeClr val="tx1"/>
                          </a:solidFill>
                          <a:effectLst/>
                        </a:rPr>
                        <a:t>New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400" b="0" i="0" dirty="0">
                          <a:solidFill>
                            <a:schemeClr val="tx1"/>
                          </a:solidFill>
                          <a:effectLst/>
                        </a:rPr>
                        <a:t>Leave-station-out 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7714937"/>
                  </a:ext>
                </a:extLst>
              </a:tr>
              <a:tr h="0">
                <a:tc>
                  <a:txBody>
                    <a:bodyPr/>
                    <a:lstStyle/>
                    <a:p>
                      <a:pPr algn="l">
                        <a:buNone/>
                      </a:pPr>
                      <a:r>
                        <a:rPr lang="en-US" sz="2400" b="0" i="0">
                          <a:solidFill>
                            <a:schemeClr val="tx1"/>
                          </a:solidFill>
                          <a:effectLst/>
                        </a:rPr>
                        <a:t>New watersheds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400" b="0" i="0" dirty="0">
                          <a:solidFill>
                            <a:schemeClr val="tx1"/>
                          </a:solidFill>
                          <a:effectLst/>
                        </a:rPr>
                        <a:t>Leave-watershed-out 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7934335"/>
                  </a:ext>
                </a:extLst>
              </a:tr>
              <a:tr h="0">
                <a:tc>
                  <a:txBody>
                    <a:bodyPr/>
                    <a:lstStyle/>
                    <a:p>
                      <a:pPr algn="l">
                        <a:buNone/>
                      </a:pPr>
                      <a:r>
                        <a:rPr lang="en-US" sz="2400" b="0" i="0">
                          <a:solidFill>
                            <a:schemeClr val="tx1"/>
                          </a:solidFill>
                          <a:effectLst/>
                        </a:rPr>
                        <a:t>New satellite scenes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400" b="0" i="0" dirty="0">
                          <a:solidFill>
                            <a:schemeClr val="tx1"/>
                          </a:solidFill>
                          <a:effectLst/>
                        </a:rPr>
                        <a:t>Leave-scene-out 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5151526"/>
                  </a:ext>
                </a:extLst>
              </a:tr>
              <a:tr h="0">
                <a:tc>
                  <a:txBody>
                    <a:bodyPr/>
                    <a:lstStyle/>
                    <a:p>
                      <a:pPr algn="l">
                        <a:buNone/>
                      </a:pPr>
                      <a:r>
                        <a:rPr lang="en-US" sz="2400" b="0" i="0" dirty="0">
                          <a:solidFill>
                            <a:schemeClr val="tx1"/>
                          </a:solidFill>
                          <a:effectLst/>
                        </a:rPr>
                        <a:t>New regions and future periods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2400" b="0" i="0" dirty="0">
                          <a:solidFill>
                            <a:schemeClr val="tx1"/>
                          </a:solidFill>
                          <a:effectLst/>
                        </a:rPr>
                        <a:t>Spatiotemporal blocked 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8473029"/>
                  </a:ext>
                </a:extLst>
              </a:tr>
            </a:tbl>
          </a:graphicData>
        </a:graphic>
      </p:graphicFrame>
      <p:sp>
        <p:nvSpPr>
          <p:cNvPr id="4" name="Footer Placeholder 3">
            <a:extLst>
              <a:ext uri="{FF2B5EF4-FFF2-40B4-BE49-F238E27FC236}">
                <a16:creationId xmlns:a16="http://schemas.microsoft.com/office/drawing/2014/main" id="{4AA90533-6527-0377-782D-1142A8DFB9BF}"/>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6DC4E380-D5E8-662F-F198-962AD7231FF5}"/>
              </a:ext>
            </a:extLst>
          </p:cNvPr>
          <p:cNvSpPr>
            <a:spLocks noGrp="1"/>
          </p:cNvSpPr>
          <p:nvPr>
            <p:ph type="sldNum" sz="quarter" idx="12"/>
          </p:nvPr>
        </p:nvSpPr>
        <p:spPr/>
        <p:txBody>
          <a:bodyPr/>
          <a:lstStyle/>
          <a:p>
            <a:fld id="{10A4AB6E-1AC4-C44F-A0CC-883A0306AF8B}" type="slidenum">
              <a:rPr lang="en-US" smtClean="0"/>
              <a:t>9</a:t>
            </a:fld>
            <a:endParaRPr lang="en-US"/>
          </a:p>
        </p:txBody>
      </p:sp>
    </p:spTree>
    <p:extLst>
      <p:ext uri="{BB962C8B-B14F-4D97-AF65-F5344CB8AC3E}">
        <p14:creationId xmlns:p14="http://schemas.microsoft.com/office/powerpoint/2010/main" val="3503020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EF420-037E-CA3C-AAE8-D97BFAF470DD}"/>
              </a:ext>
            </a:extLst>
          </p:cNvPr>
          <p:cNvSpPr>
            <a:spLocks noGrp="1"/>
          </p:cNvSpPr>
          <p:nvPr>
            <p:ph type="title"/>
          </p:nvPr>
        </p:nvSpPr>
        <p:spPr/>
        <p:txBody>
          <a:bodyPr>
            <a:normAutofit fontScale="90000"/>
          </a:bodyPr>
          <a:lstStyle/>
          <a:p>
            <a:r>
              <a:rPr lang="en-US" dirty="0"/>
              <a:t>Overfitting</a:t>
            </a:r>
          </a:p>
        </p:txBody>
      </p:sp>
      <p:sp>
        <p:nvSpPr>
          <p:cNvPr id="3" name="Content Placeholder 2">
            <a:extLst>
              <a:ext uri="{FF2B5EF4-FFF2-40B4-BE49-F238E27FC236}">
                <a16:creationId xmlns:a16="http://schemas.microsoft.com/office/drawing/2014/main" id="{BEB3D678-9776-3EA3-2320-F656F4F8B29C}"/>
              </a:ext>
            </a:extLst>
          </p:cNvPr>
          <p:cNvSpPr>
            <a:spLocks noGrp="1"/>
          </p:cNvSpPr>
          <p:nvPr>
            <p:ph idx="1"/>
          </p:nvPr>
        </p:nvSpPr>
        <p:spPr/>
        <p:txBody>
          <a:bodyPr/>
          <a:lstStyle/>
          <a:p>
            <a:r>
              <a:rPr lang="en-US" dirty="0"/>
              <a:t>K-fold cross validation helps reduce the possibility of </a:t>
            </a:r>
            <a:r>
              <a:rPr lang="en-US" b="1" dirty="0"/>
              <a:t>overfitting</a:t>
            </a:r>
            <a:r>
              <a:rPr lang="en-US" dirty="0"/>
              <a:t>.</a:t>
            </a:r>
          </a:p>
          <a:p>
            <a:pPr lvl="1"/>
            <a:r>
              <a:rPr lang="en-US" dirty="0"/>
              <a:t>A model that would just repeat the labels of the samples that it has just seen would have a perfect score but would fail to predict anything useful on yet unseen data. </a:t>
            </a:r>
          </a:p>
        </p:txBody>
      </p:sp>
      <p:sp>
        <p:nvSpPr>
          <p:cNvPr id="4" name="Footer Placeholder 3">
            <a:extLst>
              <a:ext uri="{FF2B5EF4-FFF2-40B4-BE49-F238E27FC236}">
                <a16:creationId xmlns:a16="http://schemas.microsoft.com/office/drawing/2014/main" id="{FA97B7CE-F3B4-43E4-EA6B-0E0D4C92E115}"/>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937955CD-C221-8635-C24B-20B2347114AC}"/>
              </a:ext>
            </a:extLst>
          </p:cNvPr>
          <p:cNvSpPr>
            <a:spLocks noGrp="1"/>
          </p:cNvSpPr>
          <p:nvPr>
            <p:ph type="sldNum" sz="quarter" idx="12"/>
          </p:nvPr>
        </p:nvSpPr>
        <p:spPr/>
        <p:txBody>
          <a:bodyPr/>
          <a:lstStyle/>
          <a:p>
            <a:fld id="{10A4AB6E-1AC4-C44F-A0CC-883A0306AF8B}" type="slidenum">
              <a:rPr lang="en-US" smtClean="0"/>
              <a:t>10</a:t>
            </a:fld>
            <a:endParaRPr lang="en-US"/>
          </a:p>
        </p:txBody>
      </p:sp>
      <p:pic>
        <p:nvPicPr>
          <p:cNvPr id="9" name="Picture 8" descr="Photograph of a wooden bed frame with a mattress shaped like a person sleeping on their side, illustrating the concept of overfitting in machine learning. Text below the bed reads &quot;THE BEST WAY TO EXPLAIN OVERFITTING,&quot; emphasizing how overfitting results in a model that fits training data too precisely but lacks generalizability.">
            <a:extLst>
              <a:ext uri="{FF2B5EF4-FFF2-40B4-BE49-F238E27FC236}">
                <a16:creationId xmlns:a16="http://schemas.microsoft.com/office/drawing/2014/main" id="{50ED60FD-F54F-F9D5-02E9-2495C80E312B}"/>
              </a:ext>
            </a:extLst>
          </p:cNvPr>
          <p:cNvPicPr>
            <a:picLocks noChangeAspect="1"/>
          </p:cNvPicPr>
          <p:nvPr/>
        </p:nvPicPr>
        <p:blipFill>
          <a:blip r:embed="rId2"/>
          <a:stretch>
            <a:fillRect/>
          </a:stretch>
        </p:blipFill>
        <p:spPr>
          <a:xfrm>
            <a:off x="3482975" y="2858325"/>
            <a:ext cx="5226050" cy="3498025"/>
          </a:xfrm>
          <a:prstGeom prst="rect">
            <a:avLst/>
          </a:prstGeom>
        </p:spPr>
      </p:pic>
    </p:spTree>
    <p:extLst>
      <p:ext uri="{BB962C8B-B14F-4D97-AF65-F5344CB8AC3E}">
        <p14:creationId xmlns:p14="http://schemas.microsoft.com/office/powerpoint/2010/main" val="356614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33CA7-EDBE-D1AD-354C-30DCFB73110B}"/>
              </a:ext>
            </a:extLst>
          </p:cNvPr>
          <p:cNvSpPr>
            <a:spLocks noGrp="1"/>
          </p:cNvSpPr>
          <p:nvPr>
            <p:ph type="title"/>
          </p:nvPr>
        </p:nvSpPr>
        <p:spPr/>
        <p:txBody>
          <a:bodyPr>
            <a:normAutofit fontScale="90000"/>
          </a:bodyPr>
          <a:lstStyle/>
          <a:p>
            <a:r>
              <a:rPr lang="en-US" dirty="0"/>
              <a:t>Model complexity vs overfit/underfit</a:t>
            </a:r>
          </a:p>
        </p:txBody>
      </p:sp>
      <p:sp>
        <p:nvSpPr>
          <p:cNvPr id="4" name="Footer Placeholder 3">
            <a:extLst>
              <a:ext uri="{FF2B5EF4-FFF2-40B4-BE49-F238E27FC236}">
                <a16:creationId xmlns:a16="http://schemas.microsoft.com/office/drawing/2014/main" id="{DFBE844F-38A7-2845-9717-D861E670A659}"/>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66BE9A6B-EB39-E871-402C-9DE920AB0749}"/>
              </a:ext>
            </a:extLst>
          </p:cNvPr>
          <p:cNvSpPr>
            <a:spLocks noGrp="1"/>
          </p:cNvSpPr>
          <p:nvPr>
            <p:ph type="sldNum" sz="quarter" idx="12"/>
          </p:nvPr>
        </p:nvSpPr>
        <p:spPr/>
        <p:txBody>
          <a:bodyPr/>
          <a:lstStyle/>
          <a:p>
            <a:fld id="{10A4AB6E-1AC4-C44F-A0CC-883A0306AF8B}" type="slidenum">
              <a:rPr lang="en-US" smtClean="0"/>
              <a:t>11</a:t>
            </a:fld>
            <a:endParaRPr lang="en-US"/>
          </a:p>
        </p:txBody>
      </p:sp>
      <p:pic>
        <p:nvPicPr>
          <p:cNvPr id="11" name="Content Placeholder 10" descr="Diagram showing under-fitting, optimal-fitting, and over-fitting concepts in regression and classification. It includes scatter plots with fitted lines for regression and classification, highlighting error reduction trends and model performance differences.&#10;&#10;">
            <a:extLst>
              <a:ext uri="{FF2B5EF4-FFF2-40B4-BE49-F238E27FC236}">
                <a16:creationId xmlns:a16="http://schemas.microsoft.com/office/drawing/2014/main" id="{6D77F545-9756-DCE2-0518-0B7DD5EF6B3F}"/>
              </a:ext>
            </a:extLst>
          </p:cNvPr>
          <p:cNvPicPr>
            <a:picLocks noGrp="1" noChangeAspect="1"/>
          </p:cNvPicPr>
          <p:nvPr>
            <p:ph idx="1"/>
          </p:nvPr>
        </p:nvPicPr>
        <p:blipFill>
          <a:blip r:embed="rId2"/>
          <a:srcRect b="30105"/>
          <a:stretch>
            <a:fillRect/>
          </a:stretch>
        </p:blipFill>
        <p:spPr>
          <a:xfrm>
            <a:off x="2933077" y="1776085"/>
            <a:ext cx="6325845" cy="3502925"/>
          </a:xfrm>
          <a:prstGeom prst="rect">
            <a:avLst/>
          </a:prstGeom>
        </p:spPr>
      </p:pic>
    </p:spTree>
    <p:extLst>
      <p:ext uri="{BB962C8B-B14F-4D97-AF65-F5344CB8AC3E}">
        <p14:creationId xmlns:p14="http://schemas.microsoft.com/office/powerpoint/2010/main" val="2497839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B1110-5E1B-458B-98AE-7D3B188FC04C}"/>
              </a:ext>
            </a:extLst>
          </p:cNvPr>
          <p:cNvSpPr>
            <a:spLocks noGrp="1"/>
          </p:cNvSpPr>
          <p:nvPr>
            <p:ph type="title"/>
          </p:nvPr>
        </p:nvSpPr>
        <p:spPr/>
        <p:txBody>
          <a:bodyPr>
            <a:normAutofit fontScale="90000"/>
          </a:bodyPr>
          <a:lstStyle/>
          <a:p>
            <a:r>
              <a:rPr lang="en-US" dirty="0"/>
              <a:t>Bias and variance</a:t>
            </a:r>
          </a:p>
        </p:txBody>
      </p:sp>
      <p:sp>
        <p:nvSpPr>
          <p:cNvPr id="4" name="Footer Placeholder 3">
            <a:extLst>
              <a:ext uri="{FF2B5EF4-FFF2-40B4-BE49-F238E27FC236}">
                <a16:creationId xmlns:a16="http://schemas.microsoft.com/office/drawing/2014/main" id="{272F39AB-39FE-9C51-7F6F-9AB57FAE53D9}"/>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F2ACD89B-D824-63B6-FF30-248BA1A6FCC3}"/>
              </a:ext>
            </a:extLst>
          </p:cNvPr>
          <p:cNvSpPr>
            <a:spLocks noGrp="1"/>
          </p:cNvSpPr>
          <p:nvPr>
            <p:ph type="sldNum" sz="quarter" idx="12"/>
          </p:nvPr>
        </p:nvSpPr>
        <p:spPr/>
        <p:txBody>
          <a:bodyPr/>
          <a:lstStyle/>
          <a:p>
            <a:fld id="{10A4AB6E-1AC4-C44F-A0CC-883A0306AF8B}" type="slidenum">
              <a:rPr lang="en-US" smtClean="0"/>
              <a:t>12</a:t>
            </a:fld>
            <a:endParaRPr lang="en-US"/>
          </a:p>
        </p:txBody>
      </p:sp>
      <p:pic>
        <p:nvPicPr>
          <p:cNvPr id="6" name="Content Placeholder 6" descr="Diagram with four target-like circles illustrating bias and variance concepts. Targets labeled low/high bias and low/high variance show blue dots clustered tightly or spread out, highlighting accuracy and consistency differences.&#10;">
            <a:extLst>
              <a:ext uri="{FF2B5EF4-FFF2-40B4-BE49-F238E27FC236}">
                <a16:creationId xmlns:a16="http://schemas.microsoft.com/office/drawing/2014/main" id="{F848AF7E-AB52-402D-F27A-A3340EDB0BB7}"/>
              </a:ext>
            </a:extLst>
          </p:cNvPr>
          <p:cNvPicPr>
            <a:picLocks noGrp="1" noChangeAspect="1"/>
          </p:cNvPicPr>
          <p:nvPr>
            <p:ph idx="1"/>
          </p:nvPr>
        </p:nvPicPr>
        <p:blipFill>
          <a:blip r:embed="rId3"/>
          <a:stretch>
            <a:fillRect/>
          </a:stretch>
        </p:blipFill>
        <p:spPr>
          <a:xfrm>
            <a:off x="454031" y="1146807"/>
            <a:ext cx="5114919" cy="5011737"/>
          </a:xfrm>
          <a:prstGeom prst="rect">
            <a:avLst/>
          </a:prstGeom>
        </p:spPr>
      </p:pic>
      <p:pic>
        <p:nvPicPr>
          <p:cNvPr id="3" name="Content Placeholder 8" descr="Figure showing that has models get more complex, bias general decreases but variance increases. There is an optium model complexit that balances the two.">
            <a:extLst>
              <a:ext uri="{FF2B5EF4-FFF2-40B4-BE49-F238E27FC236}">
                <a16:creationId xmlns:a16="http://schemas.microsoft.com/office/drawing/2014/main" id="{7C26D904-924D-5507-4871-F041AE2F37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68950" y="1841971"/>
            <a:ext cx="5784850" cy="3621410"/>
          </a:xfrm>
          <a:prstGeom prst="rect">
            <a:avLst/>
          </a:prstGeom>
        </p:spPr>
      </p:pic>
    </p:spTree>
    <p:extLst>
      <p:ext uri="{BB962C8B-B14F-4D97-AF65-F5344CB8AC3E}">
        <p14:creationId xmlns:p14="http://schemas.microsoft.com/office/powerpoint/2010/main" val="1124193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BC049-73D5-3026-16FE-78C77046C307}"/>
              </a:ext>
            </a:extLst>
          </p:cNvPr>
          <p:cNvSpPr>
            <a:spLocks noGrp="1"/>
          </p:cNvSpPr>
          <p:nvPr>
            <p:ph type="title"/>
          </p:nvPr>
        </p:nvSpPr>
        <p:spPr/>
        <p:txBody>
          <a:bodyPr>
            <a:normAutofit fontScale="90000"/>
          </a:bodyPr>
          <a:lstStyle/>
          <a:p>
            <a:r>
              <a:rPr lang="en-US" dirty="0"/>
              <a:t>Mean Error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61F14A-96C4-AC41-5B7C-4FF9AA1DC7A9}"/>
                  </a:ext>
                </a:extLst>
              </p:cNvPr>
              <p:cNvSpPr>
                <a:spLocks noGrp="1"/>
              </p:cNvSpPr>
              <p:nvPr>
                <p:ph idx="1"/>
              </p:nvPr>
            </p:nvSpPr>
            <p:spPr/>
            <p:txBody>
              <a:bodyPr>
                <a:normAutofit lnSpcReduction="10000"/>
              </a:bodyPr>
              <a:lstStyle/>
              <a:p>
                <a:pPr marL="0" indent="0">
                  <a:buNone/>
                </a:pPr>
                <a14:m>
                  <m:oMathPara xmlns:m="http://schemas.openxmlformats.org/officeDocument/2006/math">
                    <m:oMath>
                      <m:r>
                        <a:rPr lang="en-US" i="1">
                          <a:latin typeface="Cambria Math" panose="02040503050406030204" pitchFamily="18" charset="0"/>
                        </a:rPr>
                        <m:t>𝑀𝐸</m:t>
                      </m:r>
                      <m:r>
                        <a:rPr lang="en-US">
                          <a:latin typeface="Cambria Math" panose="02040503050406030204" pitchFamily="18" charset="0"/>
                        </a:rPr>
                        <m:t>=</m:t>
                      </m:r>
                      <m:f>
                        <m:fPr>
                          <m:ctrlPr>
                            <a:rPr lang="en-US">
                              <a:latin typeface="Cambria Math" panose="02040503050406030204" pitchFamily="18" charset="0"/>
                            </a:rPr>
                          </m:ctrlPr>
                        </m:fPr>
                        <m:num>
                          <m:r>
                            <a:rPr lang="en-US">
                              <a:latin typeface="Cambria Math" panose="02040503050406030204" pitchFamily="18" charset="0"/>
                            </a:rPr>
                            <m:t>1</m:t>
                          </m:r>
                        </m:num>
                        <m:den>
                          <m:r>
                            <a:rPr lang="en-US" i="1">
                              <a:latin typeface="Cambria Math" panose="02040503050406030204" pitchFamily="18" charset="0"/>
                            </a:rPr>
                            <m:t>𝑛</m:t>
                          </m:r>
                        </m:den>
                      </m:f>
                      <m:nary>
                        <m:naryPr>
                          <m:chr m:val="∑"/>
                          <m:grow m:val="on"/>
                          <m:ctrlPr>
                            <a:rPr lang="en-US" i="1">
                              <a:latin typeface="Cambria Math" panose="02040503050406030204" pitchFamily="18" charset="0"/>
                            </a:rPr>
                          </m:ctrlPr>
                        </m:naryPr>
                        <m:sub>
                          <m:r>
                            <a:rPr lang="en-US" i="1">
                              <a:latin typeface="Cambria Math" panose="02040503050406030204" pitchFamily="18" charset="0"/>
                            </a:rPr>
                            <m:t>𝑖</m:t>
                          </m:r>
                          <m:r>
                            <a:rPr lang="en-US">
                              <a:latin typeface="Cambria Math" panose="02040503050406030204" pitchFamily="18" charset="0"/>
                            </a:rPr>
                            <m:t>=1</m:t>
                          </m:r>
                        </m:sub>
                        <m:sup>
                          <m:r>
                            <a:rPr lang="en-US" i="1">
                              <a:latin typeface="Cambria Math" panose="02040503050406030204" pitchFamily="18" charset="0"/>
                            </a:rPr>
                            <m:t>𝑛</m:t>
                          </m:r>
                        </m:sup>
                        <m:e>
                          <m:r>
                            <a:rPr lang="en-US">
                              <a:latin typeface="Cambria Math" panose="02040503050406030204" pitchFamily="18" charset="0"/>
                            </a:rPr>
                            <m:t>(</m:t>
                          </m:r>
                        </m:e>
                      </m:nary>
                      <m:d>
                        <m:dPr>
                          <m:begChr m:val=""/>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oMath>
                  </m:oMathPara>
                </a14:m>
                <a:endParaRPr lang="en-US" dirty="0"/>
              </a:p>
              <a:p>
                <a:endParaRPr lang="en-US" dirty="0"/>
              </a:p>
              <a:p>
                <a:pPr marL="0" indent="0">
                  <a:buNone/>
                </a:pPr>
                <a:r>
                  <a:rPr lang="en-US" dirty="0"/>
                  <a:t>Mean error measures average bias.</a:t>
                </a:r>
              </a:p>
              <a:p>
                <a:pPr marL="0" indent="0">
                  <a:buNone/>
                </a:pPr>
                <a:r>
                  <a:rPr lang="en-US" dirty="0"/>
                  <a:t>Interpretation:</a:t>
                </a:r>
              </a:p>
              <a:p>
                <a:pPr lvl="1"/>
                <a:r>
                  <a:rPr lang="en-US" dirty="0"/>
                  <a:t>Positive: model tends to overpredict.</a:t>
                </a:r>
              </a:p>
              <a:p>
                <a:pPr lvl="1"/>
                <a:r>
                  <a:rPr lang="en-US" dirty="0"/>
                  <a:t>Negative: model tends to underpredict.</a:t>
                </a:r>
              </a:p>
              <a:p>
                <a:pPr lvl="1"/>
                <a:r>
                  <a:rPr lang="en-US" dirty="0"/>
                  <a:t>Near zero: no average bias.</a:t>
                </a:r>
              </a:p>
              <a:p>
                <a:pPr marL="0" indent="0">
                  <a:buNone/>
                </a:pPr>
                <a:r>
                  <a:rPr lang="en-US" dirty="0"/>
                  <a:t>Important caveat:</a:t>
                </a:r>
              </a:p>
              <a:p>
                <a:pPr marL="457200" lvl="1" indent="0">
                  <a:buNone/>
                </a:pPr>
                <a:r>
                  <a:rPr lang="en-US" dirty="0"/>
                  <a:t>Positive and negative errors can cancel, so a model can have mean error near zero but still be inaccurate.</a:t>
                </a:r>
              </a:p>
            </p:txBody>
          </p:sp>
        </mc:Choice>
        <mc:Fallback xmlns="">
          <p:sp>
            <p:nvSpPr>
              <p:cNvPr id="3" name="Content Placeholder 2">
                <a:extLst>
                  <a:ext uri="{FF2B5EF4-FFF2-40B4-BE49-F238E27FC236}">
                    <a16:creationId xmlns:a16="http://schemas.microsoft.com/office/drawing/2014/main" id="{3F61F14A-96C4-AC41-5B7C-4FF9AA1DC7A9}"/>
                  </a:ext>
                </a:extLst>
              </p:cNvPr>
              <p:cNvSpPr>
                <a:spLocks noGrp="1" noRot="1" noChangeAspect="1" noMove="1" noResize="1" noEditPoints="1" noAdjustHandles="1" noChangeArrowheads="1" noChangeShapeType="1" noTextEdit="1"/>
              </p:cNvSpPr>
              <p:nvPr>
                <p:ph idx="1"/>
              </p:nvPr>
            </p:nvSpPr>
            <p:spPr>
              <a:blipFill>
                <a:blip r:embed="rId2"/>
                <a:stretch>
                  <a:fillRect l="-1206" t="-29114"/>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58E227DB-5517-10C8-EDDE-13B7DB622A41}"/>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455A461B-F4D7-BD9B-E40E-58D26BD922DB}"/>
              </a:ext>
            </a:extLst>
          </p:cNvPr>
          <p:cNvSpPr>
            <a:spLocks noGrp="1"/>
          </p:cNvSpPr>
          <p:nvPr>
            <p:ph type="sldNum" sz="quarter" idx="12"/>
          </p:nvPr>
        </p:nvSpPr>
        <p:spPr/>
        <p:txBody>
          <a:bodyPr/>
          <a:lstStyle/>
          <a:p>
            <a:fld id="{10A4AB6E-1AC4-C44F-A0CC-883A0306AF8B}" type="slidenum">
              <a:rPr lang="en-US" smtClean="0"/>
              <a:t>13</a:t>
            </a:fld>
            <a:endParaRPr lang="en-US"/>
          </a:p>
        </p:txBody>
      </p:sp>
    </p:spTree>
    <p:extLst>
      <p:ext uri="{BB962C8B-B14F-4D97-AF65-F5344CB8AC3E}">
        <p14:creationId xmlns:p14="http://schemas.microsoft.com/office/powerpoint/2010/main" val="3910662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FE525-FABB-3F95-26F6-1F74FFD8D09D}"/>
              </a:ext>
            </a:extLst>
          </p:cNvPr>
          <p:cNvSpPr>
            <a:spLocks noGrp="1"/>
          </p:cNvSpPr>
          <p:nvPr>
            <p:ph type="title"/>
          </p:nvPr>
        </p:nvSpPr>
        <p:spPr/>
        <p:txBody>
          <a:bodyPr>
            <a:normAutofit fontScale="90000"/>
          </a:bodyPr>
          <a:lstStyle/>
          <a:p>
            <a:r>
              <a:rPr lang="en-US" dirty="0"/>
              <a:t>Mean absolute error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58E878-EC2B-7CEF-6042-BFB16E813DC0}"/>
                  </a:ext>
                </a:extLst>
              </p:cNvPr>
              <p:cNvSpPr>
                <a:spLocks noGrp="1"/>
              </p:cNvSpPr>
              <p:nvPr>
                <p:ph idx="1"/>
              </p:nvPr>
            </p:nvSpPr>
            <p:spPr/>
            <p:txBody>
              <a:bodyPr>
                <a:normAutofit lnSpcReduction="10000"/>
              </a:bodyPr>
              <a:lstStyle/>
              <a:p>
                <a:pPr marL="0" indent="0">
                  <a:buNone/>
                </a:pPr>
                <a14:m>
                  <m:oMathPara xmlns:m="http://schemas.openxmlformats.org/officeDocument/2006/math">
                    <m:oMath>
                      <m:r>
                        <a:rPr lang="en-US" i="1">
                          <a:latin typeface="Cambria Math" panose="02040503050406030204" pitchFamily="18" charset="0"/>
                        </a:rPr>
                        <m:t>𝑀𝐴𝐸</m:t>
                      </m:r>
                      <m:r>
                        <a:rPr lang="en-US">
                          <a:latin typeface="Cambria Math" panose="02040503050406030204" pitchFamily="18" charset="0"/>
                        </a:rPr>
                        <m:t>=</m:t>
                      </m:r>
                      <m:f>
                        <m:fPr>
                          <m:ctrlPr>
                            <a:rPr lang="en-US">
                              <a:latin typeface="Cambria Math" panose="02040503050406030204" pitchFamily="18" charset="0"/>
                            </a:rPr>
                          </m:ctrlPr>
                        </m:fPr>
                        <m:num>
                          <m:r>
                            <a:rPr lang="en-US">
                              <a:latin typeface="Cambria Math" panose="02040503050406030204" pitchFamily="18" charset="0"/>
                            </a:rPr>
                            <m:t>1</m:t>
                          </m:r>
                        </m:num>
                        <m:den>
                          <m:r>
                            <a:rPr lang="en-US" i="1">
                              <a:latin typeface="Cambria Math" panose="02040503050406030204" pitchFamily="18" charset="0"/>
                            </a:rPr>
                            <m:t>𝑛</m:t>
                          </m:r>
                        </m:den>
                      </m:f>
                      <m:nary>
                        <m:naryPr>
                          <m:chr m:val="∑"/>
                          <m:grow m:val="on"/>
                          <m:ctrlPr>
                            <a:rPr lang="en-US" i="1">
                              <a:latin typeface="Cambria Math" panose="02040503050406030204" pitchFamily="18" charset="0"/>
                            </a:rPr>
                          </m:ctrlPr>
                        </m:naryPr>
                        <m:sub>
                          <m:r>
                            <a:rPr lang="en-US" i="1">
                              <a:latin typeface="Cambria Math" panose="02040503050406030204" pitchFamily="18" charset="0"/>
                            </a:rPr>
                            <m:t>𝑖</m:t>
                          </m:r>
                          <m:r>
                            <a:rPr lang="en-US">
                              <a:latin typeface="Cambria Math" panose="02040503050406030204" pitchFamily="18" charset="0"/>
                            </a:rPr>
                            <m:t>=1</m:t>
                          </m:r>
                        </m:sub>
                        <m:sup>
                          <m:r>
                            <a:rPr lang="en-US" i="1">
                              <a:latin typeface="Cambria Math" panose="02040503050406030204" pitchFamily="18" charset="0"/>
                            </a:rPr>
                            <m:t>𝑛</m:t>
                          </m:r>
                        </m:sup>
                        <m:e>
                          <m:r>
                            <a:rPr lang="en-US">
                              <a:latin typeface="Cambria Math" panose="02040503050406030204" pitchFamily="18" charset="0"/>
                            </a:rPr>
                            <m:t>∣</m:t>
                          </m:r>
                        </m:e>
                      </m:nary>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a:latin typeface="Cambria Math" panose="02040503050406030204" pitchFamily="18" charset="0"/>
                        </a:rPr>
                        <m:t>∣</m:t>
                      </m:r>
                    </m:oMath>
                  </m:oMathPara>
                </a14:m>
                <a:endParaRPr lang="en-US" dirty="0"/>
              </a:p>
              <a:p>
                <a:endParaRPr lang="en-US" dirty="0"/>
              </a:p>
              <a:p>
                <a:pPr marL="0" indent="0">
                  <a:buNone/>
                </a:pPr>
                <a:r>
                  <a:rPr lang="en-US" dirty="0"/>
                  <a:t>MAE measures average absolute error in the original units.</a:t>
                </a:r>
              </a:p>
              <a:p>
                <a:pPr marL="0" indent="0">
                  <a:buNone/>
                </a:pPr>
                <a:r>
                  <a:rPr lang="en-US" dirty="0"/>
                  <a:t>Advantages:</a:t>
                </a:r>
              </a:p>
              <a:p>
                <a:pPr lvl="1"/>
                <a:r>
                  <a:rPr lang="en-US" dirty="0"/>
                  <a:t>Easy to interpret.</a:t>
                </a:r>
              </a:p>
              <a:p>
                <a:pPr lvl="1"/>
                <a:r>
                  <a:rPr lang="en-US" dirty="0"/>
                  <a:t>Less sensitive to large outliers than RMSE.</a:t>
                </a:r>
              </a:p>
              <a:p>
                <a:pPr lvl="1"/>
                <a:r>
                  <a:rPr lang="en-US" dirty="0"/>
                  <a:t>Useful when all errors scale linearly in importance.</a:t>
                </a:r>
              </a:p>
              <a:p>
                <a:pPr marL="0" indent="0">
                  <a:buNone/>
                </a:pPr>
                <a:r>
                  <a:rPr lang="en-US" dirty="0"/>
                  <a:t>Example:</a:t>
                </a:r>
              </a:p>
              <a:p>
                <a:pPr marL="457200" lvl="1" indent="0">
                  <a:buNone/>
                </a:pPr>
                <a:r>
                  <a:rPr lang="en-US" dirty="0"/>
                  <a:t>A soil moisture MAE of 0.04 volumetric water content means predictions are off by 0.04 on average.</a:t>
                </a:r>
              </a:p>
              <a:p>
                <a:endParaRPr lang="en-US" dirty="0"/>
              </a:p>
            </p:txBody>
          </p:sp>
        </mc:Choice>
        <mc:Fallback xmlns="">
          <p:sp>
            <p:nvSpPr>
              <p:cNvPr id="3" name="Content Placeholder 2">
                <a:extLst>
                  <a:ext uri="{FF2B5EF4-FFF2-40B4-BE49-F238E27FC236}">
                    <a16:creationId xmlns:a16="http://schemas.microsoft.com/office/drawing/2014/main" id="{1C58E878-EC2B-7CEF-6042-BFB16E813DC0}"/>
                  </a:ext>
                </a:extLst>
              </p:cNvPr>
              <p:cNvSpPr>
                <a:spLocks noGrp="1" noRot="1" noChangeAspect="1" noMove="1" noResize="1" noEditPoints="1" noAdjustHandles="1" noChangeArrowheads="1" noChangeShapeType="1" noTextEdit="1"/>
              </p:cNvSpPr>
              <p:nvPr>
                <p:ph idx="1"/>
              </p:nvPr>
            </p:nvSpPr>
            <p:spPr>
              <a:blipFill>
                <a:blip r:embed="rId2"/>
                <a:stretch>
                  <a:fillRect l="-1206" t="-29114"/>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712EFFC-9262-8464-C78F-7536F4CEA6A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CF9649AE-CF0A-CA3F-A34F-1FF532C473FF}"/>
              </a:ext>
            </a:extLst>
          </p:cNvPr>
          <p:cNvSpPr>
            <a:spLocks noGrp="1"/>
          </p:cNvSpPr>
          <p:nvPr>
            <p:ph type="sldNum" sz="quarter" idx="12"/>
          </p:nvPr>
        </p:nvSpPr>
        <p:spPr/>
        <p:txBody>
          <a:bodyPr/>
          <a:lstStyle/>
          <a:p>
            <a:fld id="{10A4AB6E-1AC4-C44F-A0CC-883A0306AF8B}" type="slidenum">
              <a:rPr lang="en-US" smtClean="0"/>
              <a:t>14</a:t>
            </a:fld>
            <a:endParaRPr lang="en-US"/>
          </a:p>
        </p:txBody>
      </p:sp>
    </p:spTree>
    <p:extLst>
      <p:ext uri="{BB962C8B-B14F-4D97-AF65-F5344CB8AC3E}">
        <p14:creationId xmlns:p14="http://schemas.microsoft.com/office/powerpoint/2010/main" val="2890626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3C0B-DE1A-9107-2DBC-1E9B2DD06D4E}"/>
              </a:ext>
            </a:extLst>
          </p:cNvPr>
          <p:cNvSpPr>
            <a:spLocks noGrp="1"/>
          </p:cNvSpPr>
          <p:nvPr>
            <p:ph type="title"/>
          </p:nvPr>
        </p:nvSpPr>
        <p:spPr/>
        <p:txBody>
          <a:bodyPr>
            <a:normAutofit fontScale="90000"/>
          </a:bodyPr>
          <a:lstStyle/>
          <a:p>
            <a:r>
              <a:rPr lang="en-US" dirty="0"/>
              <a:t>Root mean squared error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68C6CB-CED1-E376-049A-E85380A92CF3}"/>
                  </a:ext>
                </a:extLst>
              </p:cNvPr>
              <p:cNvSpPr>
                <a:spLocks noGrp="1"/>
              </p:cNvSpPr>
              <p:nvPr>
                <p:ph idx="1"/>
              </p:nvPr>
            </p:nvSpPr>
            <p:spPr/>
            <p:txBody>
              <a:bodyPr>
                <a:normAutofit fontScale="85000" lnSpcReduction="20000"/>
              </a:bodyPr>
              <a:lstStyle/>
              <a:p>
                <a:pPr marL="0" indent="0">
                  <a:buNone/>
                </a:pPr>
                <a14:m>
                  <m:oMathPara xmlns:m="http://schemas.openxmlformats.org/officeDocument/2006/math">
                    <m:oMath>
                      <m:r>
                        <a:rPr lang="en-US" i="1">
                          <a:latin typeface="Cambria Math" panose="02040503050406030204" pitchFamily="18" charset="0"/>
                        </a:rPr>
                        <m:t>𝑅𝑀𝑆𝐸</m:t>
                      </m:r>
                      <m:r>
                        <a:rPr lang="en-US">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a:latin typeface="Cambria Math" panose="02040503050406030204" pitchFamily="18" charset="0"/>
                                </a:rPr>
                              </m:ctrlPr>
                            </m:fPr>
                            <m:num>
                              <m:r>
                                <a:rPr lang="en-US">
                                  <a:latin typeface="Cambria Math" panose="02040503050406030204" pitchFamily="18" charset="0"/>
                                </a:rPr>
                                <m:t>1</m:t>
                              </m:r>
                            </m:num>
                            <m:den>
                              <m:r>
                                <a:rPr lang="en-US" i="1">
                                  <a:latin typeface="Cambria Math" panose="02040503050406030204" pitchFamily="18" charset="0"/>
                                </a:rPr>
                                <m:t>𝑛</m:t>
                              </m:r>
                            </m:den>
                          </m:f>
                          <m:nary>
                            <m:naryPr>
                              <m:chr m:val="∑"/>
                              <m:grow m:val="on"/>
                              <m:ctrlPr>
                                <a:rPr lang="en-US" i="1">
                                  <a:latin typeface="Cambria Math" panose="02040503050406030204" pitchFamily="18" charset="0"/>
                                </a:rPr>
                              </m:ctrlPr>
                            </m:naryPr>
                            <m:sub>
                              <m:r>
                                <a:rPr lang="en-US" i="1">
                                  <a:latin typeface="Cambria Math" panose="02040503050406030204" pitchFamily="18" charset="0"/>
                                </a:rPr>
                                <m:t>𝑖</m:t>
                              </m:r>
                              <m:r>
                                <a:rPr lang="en-US">
                                  <a:latin typeface="Cambria Math" panose="02040503050406030204" pitchFamily="18" charset="0"/>
                                </a:rPr>
                                <m:t>=1</m:t>
                              </m:r>
                            </m:sub>
                            <m:sup>
                              <m:r>
                                <a:rPr lang="en-US" i="1">
                                  <a:latin typeface="Cambria Math" panose="02040503050406030204" pitchFamily="18" charset="0"/>
                                </a:rPr>
                                <m:t>𝑛</m:t>
                              </m:r>
                            </m:sup>
                            <m:e>
                              <m:r>
                                <a:rPr lang="en-US">
                                  <a:latin typeface="Cambria Math" panose="02040503050406030204" pitchFamily="18" charset="0"/>
                                </a:rPr>
                                <m:t>(</m:t>
                              </m:r>
                            </m:e>
                          </m:nary>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sSup>
                                <m:sSupPr>
                                  <m:ctrlPr>
                                    <a:rPr lang="en-US" i="1">
                                      <a:latin typeface="Cambria Math" panose="02040503050406030204" pitchFamily="18" charset="0"/>
                                    </a:rPr>
                                  </m:ctrlPr>
                                </m:sSupPr>
                                <m:e>
                                  <m:d>
                                    <m:dPr>
                                      <m:begChr m:val=""/>
                                      <m:endChr m:val=""/>
                                      <m:ctrlPr>
                                        <a:rPr lang="en-US">
                                          <a:latin typeface="Cambria Math" panose="02040503050406030204" pitchFamily="18" charset="0"/>
                                        </a:rPr>
                                      </m:ctrlPr>
                                    </m:dPr>
                                    <m:e>
                                      <m:r>
                                        <a:rPr lang="en-US">
                                          <a:latin typeface="Cambria Math" panose="02040503050406030204" pitchFamily="18" charset="0"/>
                                        </a:rPr>
                                        <m:t>)</m:t>
                                      </m:r>
                                    </m:e>
                                  </m:d>
                                </m:e>
                                <m:sup>
                                  <m:r>
                                    <a:rPr lang="en-US">
                                      <a:latin typeface="Cambria Math" panose="02040503050406030204" pitchFamily="18" charset="0"/>
                                    </a:rPr>
                                    <m:t>2</m:t>
                                  </m:r>
                                </m:sup>
                              </m:sSup>
                            </m:e>
                          </m:d>
                        </m:e>
                      </m:rad>
                    </m:oMath>
                  </m:oMathPara>
                </a14:m>
                <a:endParaRPr lang="en-US" dirty="0"/>
              </a:p>
              <a:p>
                <a:pPr marL="0" indent="0">
                  <a:buNone/>
                </a:pPr>
                <a:r>
                  <a:rPr lang="en-US" dirty="0"/>
                  <a:t>RMSE penalizes large errors more heavily than MAE.</a:t>
                </a:r>
              </a:p>
              <a:p>
                <a:pPr marL="0" indent="0">
                  <a:buNone/>
                </a:pPr>
                <a:r>
                  <a:rPr lang="en-US" dirty="0"/>
                  <a:t>Advantages:</a:t>
                </a:r>
              </a:p>
              <a:p>
                <a:pPr lvl="1"/>
                <a:r>
                  <a:rPr lang="en-US" dirty="0"/>
                  <a:t>Common in geoscience.</a:t>
                </a:r>
              </a:p>
              <a:p>
                <a:pPr lvl="1"/>
                <a:r>
                  <a:rPr lang="en-US" dirty="0"/>
                  <a:t>Same units as the target.</a:t>
                </a:r>
              </a:p>
              <a:p>
                <a:pPr lvl="1"/>
                <a:r>
                  <a:rPr lang="en-US" dirty="0"/>
                  <a:t>Sensitive to large errors.</a:t>
                </a:r>
              </a:p>
              <a:p>
                <a:pPr marL="0" indent="0">
                  <a:buNone/>
                </a:pPr>
                <a:r>
                  <a:rPr lang="en-US" dirty="0"/>
                  <a:t>Limitations:</a:t>
                </a:r>
              </a:p>
              <a:p>
                <a:pPr lvl="1"/>
                <a:r>
                  <a:rPr lang="en-US" dirty="0"/>
                  <a:t>Can be dominated by extreme values.</a:t>
                </a:r>
              </a:p>
              <a:p>
                <a:pPr lvl="1"/>
                <a:r>
                  <a:rPr lang="en-US" dirty="0"/>
                  <a:t>May overemphasize rare large errors.</a:t>
                </a:r>
              </a:p>
              <a:p>
                <a:pPr lvl="1"/>
                <a:r>
                  <a:rPr lang="en-US" dirty="0"/>
                  <a:t>Hard to compare across datasets with different target scales.</a:t>
                </a:r>
              </a:p>
              <a:p>
                <a:r>
                  <a:rPr lang="en-US" dirty="0"/>
                  <a:t>Use RMSE when large errors are especially costly, such as flood height prediction or contaminant concentration.</a:t>
                </a:r>
              </a:p>
              <a:p>
                <a:endParaRPr lang="en-US" dirty="0"/>
              </a:p>
            </p:txBody>
          </p:sp>
        </mc:Choice>
        <mc:Fallback xmlns="">
          <p:sp>
            <p:nvSpPr>
              <p:cNvPr id="3" name="Content Placeholder 2">
                <a:extLst>
                  <a:ext uri="{FF2B5EF4-FFF2-40B4-BE49-F238E27FC236}">
                    <a16:creationId xmlns:a16="http://schemas.microsoft.com/office/drawing/2014/main" id="{2C68C6CB-CED1-E376-049A-E85380A92CF3}"/>
                  </a:ext>
                </a:extLst>
              </p:cNvPr>
              <p:cNvSpPr>
                <a:spLocks noGrp="1" noRot="1" noChangeAspect="1" noMove="1" noResize="1" noEditPoints="1" noAdjustHandles="1" noChangeArrowheads="1" noChangeShapeType="1" noTextEdit="1"/>
              </p:cNvSpPr>
              <p:nvPr>
                <p:ph idx="1"/>
              </p:nvPr>
            </p:nvSpPr>
            <p:spPr>
              <a:blipFill>
                <a:blip r:embed="rId2"/>
                <a:stretch>
                  <a:fillRect l="-965" t="-21013"/>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BDC333E-5BE3-4AD9-7039-A53A9B6EF617}"/>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B5EA8A3-3C32-EB78-0A4C-F3ACC27E16E2}"/>
              </a:ext>
            </a:extLst>
          </p:cNvPr>
          <p:cNvSpPr>
            <a:spLocks noGrp="1"/>
          </p:cNvSpPr>
          <p:nvPr>
            <p:ph type="sldNum" sz="quarter" idx="12"/>
          </p:nvPr>
        </p:nvSpPr>
        <p:spPr/>
        <p:txBody>
          <a:bodyPr/>
          <a:lstStyle/>
          <a:p>
            <a:fld id="{10A4AB6E-1AC4-C44F-A0CC-883A0306AF8B}" type="slidenum">
              <a:rPr lang="en-US" smtClean="0"/>
              <a:t>15</a:t>
            </a:fld>
            <a:endParaRPr lang="en-US"/>
          </a:p>
        </p:txBody>
      </p:sp>
    </p:spTree>
    <p:extLst>
      <p:ext uri="{BB962C8B-B14F-4D97-AF65-F5344CB8AC3E}">
        <p14:creationId xmlns:p14="http://schemas.microsoft.com/office/powerpoint/2010/main" val="3280457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36D81-4A6A-2529-32E4-7B94CDF7028F}"/>
              </a:ext>
            </a:extLst>
          </p:cNvPr>
          <p:cNvSpPr>
            <a:spLocks noGrp="1"/>
          </p:cNvSpPr>
          <p:nvPr>
            <p:ph type="title"/>
          </p:nvPr>
        </p:nvSpPr>
        <p:spPr/>
        <p:txBody>
          <a:bodyPr>
            <a:normAutofit fontScale="90000"/>
          </a:bodyPr>
          <a:lstStyle/>
          <a:p>
            <a:r>
              <a:rPr lang="en-US" dirty="0"/>
              <a:t>Normalized RMSE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BDFF7C-E1F5-8087-2A8C-DB27CBE5AFB0}"/>
                  </a:ext>
                </a:extLst>
              </p:cNvPr>
              <p:cNvSpPr>
                <a:spLocks noGrp="1"/>
              </p:cNvSpPr>
              <p:nvPr>
                <p:ph idx="1"/>
              </p:nvPr>
            </p:nvSpPr>
            <p:spPr/>
            <p:txBody>
              <a:bodyPr/>
              <a:lstStyle/>
              <a:p>
                <a:pPr marL="0" indent="0">
                  <a:buNone/>
                </a:pPr>
                <a:r>
                  <a:rPr lang="en-US" dirty="0"/>
                  <a:t>Useful when comparing across variables or regions.</a:t>
                </a:r>
              </a:p>
              <a:p>
                <a:endParaRPr lang="en-US" dirty="0"/>
              </a:p>
              <a:p>
                <a:pPr marL="0" indent="0">
                  <a:buNone/>
                </a:pPr>
                <a14:m>
                  <m:oMathPara xmlns:m="http://schemas.openxmlformats.org/officeDocument/2006/math">
                    <m:oMath>
                      <m:r>
                        <a:rPr lang="en-US" i="1">
                          <a:latin typeface="Cambria Math" panose="02040503050406030204" pitchFamily="18" charset="0"/>
                        </a:rPr>
                        <m:t>𝑁𝑅𝑀𝑆𝐸</m:t>
                      </m:r>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𝑅𝑀𝑆𝐸</m:t>
                          </m:r>
                        </m:num>
                        <m:den>
                          <m:acc>
                            <m:accPr>
                              <m:chr m:val="̅"/>
                              <m:ctrlPr>
                                <a:rPr lang="en-US" i="1">
                                  <a:latin typeface="Cambria Math" panose="02040503050406030204" pitchFamily="18" charset="0"/>
                                </a:rPr>
                              </m:ctrlPr>
                            </m:accPr>
                            <m:e>
                              <m:r>
                                <a:rPr lang="en-US" i="1">
                                  <a:latin typeface="Cambria Math" panose="02040503050406030204" pitchFamily="18" charset="0"/>
                                </a:rPr>
                                <m:t>𝑦</m:t>
                              </m:r>
                            </m:e>
                          </m:acc>
                        </m:den>
                      </m:f>
                    </m:oMath>
                  </m:oMathPara>
                </a14:m>
                <a:endParaRPr lang="en-US" dirty="0"/>
              </a:p>
              <a:p>
                <a:pPr marL="0" indent="0">
                  <a:buNone/>
                </a:pPr>
                <a:endParaRPr lang="en-US" dirty="0"/>
              </a:p>
              <a:p>
                <a:pPr marL="0" indent="0">
                  <a:buNone/>
                </a:pPr>
                <a14:m>
                  <m:oMathPara xmlns:m="http://schemas.openxmlformats.org/officeDocument/2006/math">
                    <m:oMath>
                      <m:r>
                        <a:rPr lang="en-US" i="1">
                          <a:latin typeface="Cambria Math" panose="02040503050406030204" pitchFamily="18" charset="0"/>
                        </a:rPr>
                        <m:t>𝑁𝑅𝑀𝑆𝐸</m:t>
                      </m:r>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𝑅𝑀𝑆𝐸</m:t>
                          </m:r>
                        </m:num>
                        <m:den>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𝑚𝑎𝑥</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𝑚𝑖𝑛</m:t>
                              </m:r>
                            </m:sub>
                          </m:sSub>
                        </m:den>
                      </m:f>
                    </m:oMath>
                  </m:oMathPara>
                </a14:m>
                <a:endParaRPr lang="en-US" dirty="0"/>
              </a:p>
              <a:p>
                <a:pPr marL="0" indent="0">
                  <a:buNone/>
                </a:pPr>
                <a:endParaRPr lang="en-US" dirty="0"/>
              </a:p>
              <a:p>
                <a:pPr marL="457200" lvl="1" indent="0">
                  <a:buNone/>
                </a:pPr>
                <a:r>
                  <a:rPr lang="en-US" dirty="0"/>
                  <a:t>Note: You must specify how they normalized it.</a:t>
                </a:r>
              </a:p>
              <a:p>
                <a:endParaRPr lang="en-US" dirty="0"/>
              </a:p>
            </p:txBody>
          </p:sp>
        </mc:Choice>
        <mc:Fallback xmlns="">
          <p:sp>
            <p:nvSpPr>
              <p:cNvPr id="3" name="Content Placeholder 2">
                <a:extLst>
                  <a:ext uri="{FF2B5EF4-FFF2-40B4-BE49-F238E27FC236}">
                    <a16:creationId xmlns:a16="http://schemas.microsoft.com/office/drawing/2014/main" id="{82BDFF7C-E1F5-8087-2A8C-DB27CBE5AFB0}"/>
                  </a:ext>
                </a:extLst>
              </p:cNvPr>
              <p:cNvSpPr>
                <a:spLocks noGrp="1" noRot="1" noChangeAspect="1" noMove="1" noResize="1" noEditPoints="1" noAdjustHandles="1" noChangeArrowheads="1" noChangeShapeType="1" noTextEdit="1"/>
              </p:cNvSpPr>
              <p:nvPr>
                <p:ph idx="1"/>
              </p:nvPr>
            </p:nvSpPr>
            <p:spPr>
              <a:blipFill>
                <a:blip r:embed="rId2"/>
                <a:stretch>
                  <a:fillRect l="-1206" t="-202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F79CFC6-1D4F-1905-BBA5-070929E309B5}"/>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E1405AE8-6F86-CC7A-9514-BBEB40062261}"/>
              </a:ext>
            </a:extLst>
          </p:cNvPr>
          <p:cNvSpPr>
            <a:spLocks noGrp="1"/>
          </p:cNvSpPr>
          <p:nvPr>
            <p:ph type="sldNum" sz="quarter" idx="12"/>
          </p:nvPr>
        </p:nvSpPr>
        <p:spPr/>
        <p:txBody>
          <a:bodyPr/>
          <a:lstStyle/>
          <a:p>
            <a:fld id="{10A4AB6E-1AC4-C44F-A0CC-883A0306AF8B}" type="slidenum">
              <a:rPr lang="en-US" smtClean="0"/>
              <a:t>16</a:t>
            </a:fld>
            <a:endParaRPr lang="en-US"/>
          </a:p>
        </p:txBody>
      </p:sp>
    </p:spTree>
    <p:extLst>
      <p:ext uri="{BB962C8B-B14F-4D97-AF65-F5344CB8AC3E}">
        <p14:creationId xmlns:p14="http://schemas.microsoft.com/office/powerpoint/2010/main" val="2663509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A177E-0EF4-2FF9-3F15-DE0CE8E46603}"/>
              </a:ext>
            </a:extLst>
          </p:cNvPr>
          <p:cNvSpPr>
            <a:spLocks noGrp="1"/>
          </p:cNvSpPr>
          <p:nvPr>
            <p:ph type="title"/>
          </p:nvPr>
        </p:nvSpPr>
        <p:spPr/>
        <p:txBody>
          <a:bodyPr>
            <a:normAutofit fontScale="90000"/>
          </a:bodyPr>
          <a:lstStyle/>
          <a:p>
            <a:r>
              <a:rPr lang="en-US" dirty="0"/>
              <a:t>Mean squared error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E34AC40-6048-3878-27E1-4031245815E1}"/>
                  </a:ext>
                </a:extLst>
              </p:cNvPr>
              <p:cNvSpPr>
                <a:spLocks noGrp="1"/>
              </p:cNvSpPr>
              <p:nvPr>
                <p:ph idx="1"/>
              </p:nvPr>
            </p:nvSpPr>
            <p:spPr/>
            <p:txBody>
              <a:bodyPr>
                <a:normAutofit/>
              </a:bodyPr>
              <a:lstStyle/>
              <a:p>
                <a:pPr marL="0" indent="0">
                  <a:buNone/>
                </a:pPr>
                <a14:m>
                  <m:oMathPara xmlns:m="http://schemas.openxmlformats.org/officeDocument/2006/math">
                    <m:oMath>
                      <m:r>
                        <a:rPr lang="en-US" i="1">
                          <a:latin typeface="Cambria Math" panose="02040503050406030204" pitchFamily="18" charset="0"/>
                        </a:rPr>
                        <m:t>𝑀𝑆𝐸</m:t>
                      </m:r>
                      <m:r>
                        <a:rPr lang="en-US">
                          <a:latin typeface="Cambria Math" panose="02040503050406030204" pitchFamily="18" charset="0"/>
                        </a:rPr>
                        <m:t>=</m:t>
                      </m:r>
                      <m:f>
                        <m:fPr>
                          <m:ctrlPr>
                            <a:rPr lang="en-US">
                              <a:latin typeface="Cambria Math" panose="02040503050406030204" pitchFamily="18" charset="0"/>
                            </a:rPr>
                          </m:ctrlPr>
                        </m:fPr>
                        <m:num>
                          <m:r>
                            <a:rPr lang="en-US">
                              <a:latin typeface="Cambria Math" panose="02040503050406030204" pitchFamily="18" charset="0"/>
                            </a:rPr>
                            <m:t>1</m:t>
                          </m:r>
                        </m:num>
                        <m:den>
                          <m:r>
                            <a:rPr lang="en-US" i="1">
                              <a:latin typeface="Cambria Math" panose="02040503050406030204" pitchFamily="18" charset="0"/>
                            </a:rPr>
                            <m:t>𝑛</m:t>
                          </m:r>
                        </m:den>
                      </m:f>
                      <m:nary>
                        <m:naryPr>
                          <m:chr m:val="∑"/>
                          <m:grow m:val="on"/>
                          <m:ctrlPr>
                            <a:rPr lang="en-US" i="1">
                              <a:latin typeface="Cambria Math" panose="02040503050406030204" pitchFamily="18" charset="0"/>
                            </a:rPr>
                          </m:ctrlPr>
                        </m:naryPr>
                        <m:sub>
                          <m:r>
                            <a:rPr lang="en-US" i="1">
                              <a:latin typeface="Cambria Math" panose="02040503050406030204" pitchFamily="18" charset="0"/>
                            </a:rPr>
                            <m:t>𝑖</m:t>
                          </m:r>
                          <m:r>
                            <a:rPr lang="en-US">
                              <a:latin typeface="Cambria Math" panose="02040503050406030204" pitchFamily="18" charset="0"/>
                            </a:rPr>
                            <m:t>=1</m:t>
                          </m:r>
                        </m:sub>
                        <m:sup>
                          <m:r>
                            <a:rPr lang="en-US" i="1">
                              <a:latin typeface="Cambria Math" panose="02040503050406030204" pitchFamily="18" charset="0"/>
                            </a:rPr>
                            <m:t>𝑛</m:t>
                          </m:r>
                        </m:sup>
                        <m:e>
                          <m:r>
                            <a:rPr lang="en-US">
                              <a:latin typeface="Cambria Math" panose="02040503050406030204" pitchFamily="18" charset="0"/>
                            </a:rPr>
                            <m:t>(</m:t>
                          </m:r>
                        </m:e>
                      </m:nary>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sSup>
                            <m:sSupPr>
                              <m:ctrlPr>
                                <a:rPr lang="en-US" i="1">
                                  <a:latin typeface="Cambria Math" panose="02040503050406030204" pitchFamily="18" charset="0"/>
                                </a:rPr>
                              </m:ctrlPr>
                            </m:sSupPr>
                            <m:e>
                              <m:d>
                                <m:dPr>
                                  <m:begChr m:val=""/>
                                  <m:endChr m:val=""/>
                                  <m:ctrlPr>
                                    <a:rPr lang="en-US">
                                      <a:latin typeface="Cambria Math" panose="02040503050406030204" pitchFamily="18" charset="0"/>
                                    </a:rPr>
                                  </m:ctrlPr>
                                </m:dPr>
                                <m:e>
                                  <m:r>
                                    <a:rPr lang="en-US">
                                      <a:latin typeface="Cambria Math" panose="02040503050406030204" pitchFamily="18" charset="0"/>
                                    </a:rPr>
                                    <m:t>)</m:t>
                                  </m:r>
                                </m:e>
                              </m:d>
                            </m:e>
                            <m:sup>
                              <m:r>
                                <a:rPr lang="en-US">
                                  <a:latin typeface="Cambria Math" panose="02040503050406030204" pitchFamily="18" charset="0"/>
                                </a:rPr>
                                <m:t>2</m:t>
                              </m:r>
                            </m:sup>
                          </m:sSup>
                        </m:e>
                      </m:d>
                    </m:oMath>
                  </m:oMathPara>
                </a14:m>
                <a:endParaRPr lang="en-US" dirty="0"/>
              </a:p>
              <a:p>
                <a:pPr marL="0" indent="0">
                  <a:buNone/>
                </a:pPr>
                <a:endParaRPr lang="en-US" dirty="0"/>
              </a:p>
              <a:p>
                <a:pPr marL="0" indent="0">
                  <a:buNone/>
                </a:pPr>
                <a:r>
                  <a:rPr lang="en-US" dirty="0"/>
                  <a:t>MSE is useful mathematically but less interpretable because it is in squared units.</a:t>
                </a:r>
              </a:p>
              <a:p>
                <a:pPr marL="0" indent="0">
                  <a:buNone/>
                </a:pPr>
                <a:endParaRPr lang="en-US" dirty="0"/>
              </a:p>
              <a:p>
                <a:pPr marL="0" indent="0">
                  <a:buNone/>
                </a:pPr>
                <a:r>
                  <a:rPr lang="en-US" dirty="0"/>
                  <a:t>Example:</a:t>
                </a:r>
              </a:p>
              <a:p>
                <a:pPr marL="0" indent="0">
                  <a:buNone/>
                </a:pPr>
                <a:r>
                  <a:rPr lang="en-US" dirty="0"/>
                  <a:t>	If the target is temperature in °C, MSE is in °C².</a:t>
                </a:r>
              </a:p>
            </p:txBody>
          </p:sp>
        </mc:Choice>
        <mc:Fallback xmlns="">
          <p:sp>
            <p:nvSpPr>
              <p:cNvPr id="3" name="Content Placeholder 2">
                <a:extLst>
                  <a:ext uri="{FF2B5EF4-FFF2-40B4-BE49-F238E27FC236}">
                    <a16:creationId xmlns:a16="http://schemas.microsoft.com/office/drawing/2014/main" id="{3E34AC40-6048-3878-27E1-4031245815E1}"/>
                  </a:ext>
                </a:extLst>
              </p:cNvPr>
              <p:cNvSpPr>
                <a:spLocks noGrp="1" noRot="1" noChangeAspect="1" noMove="1" noResize="1" noEditPoints="1" noAdjustHandles="1" noChangeArrowheads="1" noChangeShapeType="1" noTextEdit="1"/>
              </p:cNvSpPr>
              <p:nvPr>
                <p:ph idx="1"/>
              </p:nvPr>
            </p:nvSpPr>
            <p:spPr>
              <a:blipFill>
                <a:blip r:embed="rId2"/>
                <a:stretch>
                  <a:fillRect l="-1206" t="-29114" r="-483"/>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E7F13E6-97AF-9703-592A-3A838B3FB12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F0EBA4C8-FC16-2ED7-E645-CFE9D375F1DA}"/>
              </a:ext>
            </a:extLst>
          </p:cNvPr>
          <p:cNvSpPr>
            <a:spLocks noGrp="1"/>
          </p:cNvSpPr>
          <p:nvPr>
            <p:ph type="sldNum" sz="quarter" idx="12"/>
          </p:nvPr>
        </p:nvSpPr>
        <p:spPr/>
        <p:txBody>
          <a:bodyPr/>
          <a:lstStyle/>
          <a:p>
            <a:fld id="{10A4AB6E-1AC4-C44F-A0CC-883A0306AF8B}" type="slidenum">
              <a:rPr lang="en-US" smtClean="0"/>
              <a:t>17</a:t>
            </a:fld>
            <a:endParaRPr lang="en-US"/>
          </a:p>
        </p:txBody>
      </p:sp>
    </p:spTree>
    <p:extLst>
      <p:ext uri="{BB962C8B-B14F-4D97-AF65-F5344CB8AC3E}">
        <p14:creationId xmlns:p14="http://schemas.microsoft.com/office/powerpoint/2010/main" val="2323767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46FDA-3E24-0DC1-35F3-B18E66DA8211}"/>
              </a:ext>
            </a:extLst>
          </p:cNvPr>
          <p:cNvSpPr>
            <a:spLocks noGrp="1"/>
          </p:cNvSpPr>
          <p:nvPr>
            <p:ph type="title"/>
          </p:nvPr>
        </p:nvSpPr>
        <p:spPr/>
        <p:txBody>
          <a:bodyPr>
            <a:normAutofit fontScale="90000"/>
          </a:bodyPr>
          <a:lstStyle/>
          <a:p>
            <a:r>
              <a:rPr lang="en-US" dirty="0"/>
              <a:t>Coefficient of determination (R</a:t>
            </a:r>
            <a:r>
              <a:rPr lang="en-US" baseline="30000" dirty="0"/>
              <a:t>2</a:t>
            </a:r>
            <a:r>
              <a:rPr lang="en-US" dirty="0"/>
              <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007115-15AB-BE82-BAC1-15446B5C4392}"/>
                  </a:ext>
                </a:extLst>
              </p:cNvPr>
              <p:cNvSpPr>
                <a:spLocks noGrp="1"/>
              </p:cNvSpPr>
              <p:nvPr>
                <p:ph idx="1"/>
              </p:nvPr>
            </p:nvSpPr>
            <p:spPr/>
            <p:txBody>
              <a:bodyPr>
                <a:normAutofit fontScale="92500" lnSpcReduction="20000"/>
              </a:bodyPr>
              <a:lstStyle/>
              <a:p>
                <a:pPr marL="0" indent="0">
                  <a:buNone/>
                </a:pPr>
                <a14:m>
                  <m:oMathPara xmlns:m="http://schemas.openxmlformats.org/officeDocument/2006/math">
                    <m:o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a:latin typeface="Cambria Math" panose="02040503050406030204" pitchFamily="18" charset="0"/>
                            </a:rPr>
                            <m:t>2</m:t>
                          </m:r>
                        </m:sup>
                      </m:sSup>
                      <m:r>
                        <a:rPr lang="en-US">
                          <a:latin typeface="Cambria Math" panose="02040503050406030204" pitchFamily="18" charset="0"/>
                        </a:rPr>
                        <m:t>=1−</m:t>
                      </m:r>
                      <m:f>
                        <m:fPr>
                          <m:ctrlPr>
                            <a:rPr lang="en-US" i="1">
                              <a:latin typeface="Cambria Math" panose="02040503050406030204" pitchFamily="18" charset="0"/>
                            </a:rPr>
                          </m:ctrlPr>
                        </m:fPr>
                        <m:num>
                          <m:nary>
                            <m:naryPr>
                              <m:chr m:val="∑"/>
                              <m:grow m:val="on"/>
                              <m:supHide m:val="on"/>
                              <m:ctrlPr>
                                <a:rPr lang="en-US" i="1">
                                  <a:latin typeface="Cambria Math" panose="02040503050406030204" pitchFamily="18" charset="0"/>
                                </a:rPr>
                              </m:ctrlPr>
                            </m:naryPr>
                            <m:sub>
                              <m:r>
                                <a:rPr lang="en-US" i="1">
                                  <a:latin typeface="Cambria Math" panose="02040503050406030204" pitchFamily="18" charset="0"/>
                                </a:rPr>
                                <m:t>𝑖</m:t>
                              </m:r>
                            </m:sub>
                            <m:sup/>
                            <m:e>
                              <m:r>
                                <a:rPr lang="en-US">
                                  <a:latin typeface="Cambria Math" panose="02040503050406030204" pitchFamily="18" charset="0"/>
                                </a:rPr>
                                <m:t>(</m:t>
                              </m:r>
                            </m:e>
                          </m:nary>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sSup>
                                <m:sSupPr>
                                  <m:ctrlPr>
                                    <a:rPr lang="en-US" i="1">
                                      <a:latin typeface="Cambria Math" panose="02040503050406030204" pitchFamily="18" charset="0"/>
                                    </a:rPr>
                                  </m:ctrlPr>
                                </m:sSupPr>
                                <m:e>
                                  <m:d>
                                    <m:dPr>
                                      <m:begChr m:val=""/>
                                      <m:endChr m:val=""/>
                                      <m:ctrlPr>
                                        <a:rPr lang="en-US">
                                          <a:latin typeface="Cambria Math" panose="02040503050406030204" pitchFamily="18" charset="0"/>
                                        </a:rPr>
                                      </m:ctrlPr>
                                    </m:dPr>
                                    <m:e>
                                      <m:r>
                                        <a:rPr lang="en-US">
                                          <a:latin typeface="Cambria Math" panose="02040503050406030204" pitchFamily="18" charset="0"/>
                                        </a:rPr>
                                        <m:t>)</m:t>
                                      </m:r>
                                    </m:e>
                                  </m:d>
                                </m:e>
                                <m:sup>
                                  <m:r>
                                    <a:rPr lang="en-US">
                                      <a:latin typeface="Cambria Math" panose="02040503050406030204" pitchFamily="18" charset="0"/>
                                    </a:rPr>
                                    <m:t>2</m:t>
                                  </m:r>
                                </m:sup>
                              </m:sSup>
                            </m:e>
                          </m:d>
                        </m:num>
                        <m:den>
                          <m:nary>
                            <m:naryPr>
                              <m:chr m:val="∑"/>
                              <m:grow m:val="on"/>
                              <m:supHide m:val="on"/>
                              <m:ctrlPr>
                                <a:rPr lang="en-US" i="1">
                                  <a:latin typeface="Cambria Math" panose="02040503050406030204" pitchFamily="18" charset="0"/>
                                </a:rPr>
                              </m:ctrlPr>
                            </m:naryPr>
                            <m:sub>
                              <m:r>
                                <a:rPr lang="en-US" i="1">
                                  <a:latin typeface="Cambria Math" panose="02040503050406030204" pitchFamily="18" charset="0"/>
                                </a:rPr>
                                <m:t>𝑖</m:t>
                              </m:r>
                            </m:sub>
                            <m:sup/>
                            <m:e>
                              <m:r>
                                <a:rPr lang="en-US">
                                  <a:latin typeface="Cambria Math" panose="02040503050406030204" pitchFamily="18" charset="0"/>
                                </a:rPr>
                                <m:t>(</m:t>
                              </m:r>
                            </m:e>
                          </m:nary>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sSup>
                                <m:sSupPr>
                                  <m:ctrlPr>
                                    <a:rPr lang="en-US" i="1">
                                      <a:latin typeface="Cambria Math" panose="02040503050406030204" pitchFamily="18" charset="0"/>
                                    </a:rPr>
                                  </m:ctrlPr>
                                </m:sSupPr>
                                <m:e>
                                  <m:d>
                                    <m:dPr>
                                      <m:begChr m:val=""/>
                                      <m:endChr m:val=""/>
                                      <m:ctrlPr>
                                        <a:rPr lang="en-US">
                                          <a:latin typeface="Cambria Math" panose="02040503050406030204" pitchFamily="18" charset="0"/>
                                        </a:rPr>
                                      </m:ctrlPr>
                                    </m:dPr>
                                    <m:e>
                                      <m:r>
                                        <a:rPr lang="en-US">
                                          <a:latin typeface="Cambria Math" panose="02040503050406030204" pitchFamily="18" charset="0"/>
                                        </a:rPr>
                                        <m:t>)</m:t>
                                      </m:r>
                                    </m:e>
                                  </m:d>
                                </m:e>
                                <m:sup>
                                  <m:r>
                                    <a:rPr lang="en-US">
                                      <a:latin typeface="Cambria Math" panose="02040503050406030204" pitchFamily="18" charset="0"/>
                                    </a:rPr>
                                    <m:t>2</m:t>
                                  </m:r>
                                </m:sup>
                              </m:sSup>
                            </m:e>
                          </m:d>
                        </m:den>
                      </m:f>
                    </m:oMath>
                  </m:oMathPara>
                </a14:m>
                <a:endParaRPr lang="en-US" dirty="0"/>
              </a:p>
              <a:p>
                <a:pPr marL="0" indent="0">
                  <a:buNone/>
                </a:pP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a:latin typeface="Cambria Math" panose="02040503050406030204" pitchFamily="18" charset="0"/>
                          </a:rPr>
                          <m:t>2</m:t>
                        </m:r>
                      </m:sup>
                    </m:sSup>
                  </m:oMath>
                </a14:m>
                <a:r>
                  <a:rPr lang="en-US" dirty="0"/>
                  <a:t> measures the fraction of variance explained relative to predicting the mean.</a:t>
                </a:r>
              </a:p>
              <a:p>
                <a:pPr marL="0" indent="0">
                  <a:buNone/>
                </a:pPr>
                <a:r>
                  <a:rPr lang="en-US" dirty="0"/>
                  <a:t>Interpretation:</a:t>
                </a:r>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a:latin typeface="Cambria Math" panose="02040503050406030204" pitchFamily="18" charset="0"/>
                          </a:rPr>
                          <m:t>2</m:t>
                        </m:r>
                      </m:sup>
                    </m:sSup>
                    <m:r>
                      <a:rPr lang="en-US">
                        <a:latin typeface="Cambria Math" panose="02040503050406030204" pitchFamily="18" charset="0"/>
                      </a:rPr>
                      <m:t>=1</m:t>
                    </m:r>
                  </m:oMath>
                </a14:m>
                <a:r>
                  <a:rPr lang="en-US" dirty="0"/>
                  <a:t>: perfect predictions.</a:t>
                </a:r>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a:latin typeface="Cambria Math" panose="02040503050406030204" pitchFamily="18" charset="0"/>
                          </a:rPr>
                          <m:t>2</m:t>
                        </m:r>
                      </m:sup>
                    </m:sSup>
                    <m:r>
                      <a:rPr lang="en-US">
                        <a:latin typeface="Cambria Math" panose="02040503050406030204" pitchFamily="18" charset="0"/>
                      </a:rPr>
                      <m:t>=0</m:t>
                    </m:r>
                  </m:oMath>
                </a14:m>
                <a:r>
                  <a:rPr lang="en-US" dirty="0"/>
                  <a:t>: no better than predicting the mean.</a:t>
                </a:r>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a:latin typeface="Cambria Math" panose="02040503050406030204" pitchFamily="18" charset="0"/>
                          </a:rPr>
                          <m:t>2</m:t>
                        </m:r>
                      </m:sup>
                    </m:sSup>
                    <m:r>
                      <a:rPr lang="en-US">
                        <a:latin typeface="Cambria Math" panose="02040503050406030204" pitchFamily="18" charset="0"/>
                      </a:rPr>
                      <m:t>&lt;0</m:t>
                    </m:r>
                  </m:oMath>
                </a14:m>
                <a:r>
                  <a:rPr lang="en-US" dirty="0"/>
                  <a:t>: worse than predicting the mean.</a:t>
                </a:r>
              </a:p>
              <a:p>
                <a:pPr marL="0" indent="0">
                  <a:buNone/>
                </a:pPr>
                <a:r>
                  <a:rPr lang="en-US" dirty="0"/>
                  <a:t>Important caveats:</a:t>
                </a:r>
              </a:p>
              <a:p>
                <a:pPr lvl="1"/>
                <a:r>
                  <a:rPr lang="en-US" dirty="0"/>
                  <a:t>High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a:latin typeface="Cambria Math" panose="02040503050406030204" pitchFamily="18" charset="0"/>
                          </a:rPr>
                          <m:t>2</m:t>
                        </m:r>
                      </m:sup>
                    </m:sSup>
                  </m:oMath>
                </a14:m>
                <a:r>
                  <a:rPr lang="en-US" dirty="0"/>
                  <a:t> does not mean unbiased predictions.</a:t>
                </a:r>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a:latin typeface="Cambria Math" panose="02040503050406030204" pitchFamily="18" charset="0"/>
                          </a:rPr>
                          <m:t>2</m:t>
                        </m:r>
                      </m:sup>
                    </m:sSup>
                  </m:oMath>
                </a14:m>
                <a:r>
                  <a:rPr lang="en-US" dirty="0"/>
                  <a:t> can be inflated by spatial gradients.</a:t>
                </a:r>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a:latin typeface="Cambria Math" panose="02040503050406030204" pitchFamily="18" charset="0"/>
                          </a:rPr>
                          <m:t>2</m:t>
                        </m:r>
                      </m:sup>
                    </m:sSup>
                  </m:oMath>
                </a14:m>
                <a:r>
                  <a:rPr lang="en-US" dirty="0"/>
                  <a:t> may look good even when local errors are unacceptable.</a:t>
                </a:r>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a:latin typeface="Cambria Math" panose="02040503050406030204" pitchFamily="18" charset="0"/>
                          </a:rPr>
                          <m:t>2</m:t>
                        </m:r>
                      </m:sup>
                    </m:sSup>
                  </m:oMath>
                </a14:m>
                <a:r>
                  <a:rPr lang="en-US" dirty="0"/>
                  <a:t> can be poor for rare events or extreme values even if average predictions are useful.</a:t>
                </a:r>
              </a:p>
              <a:p>
                <a:endParaRPr lang="en-US" dirty="0"/>
              </a:p>
            </p:txBody>
          </p:sp>
        </mc:Choice>
        <mc:Fallback xmlns="">
          <p:sp>
            <p:nvSpPr>
              <p:cNvPr id="3" name="Content Placeholder 2">
                <a:extLst>
                  <a:ext uri="{FF2B5EF4-FFF2-40B4-BE49-F238E27FC236}">
                    <a16:creationId xmlns:a16="http://schemas.microsoft.com/office/drawing/2014/main" id="{B1007115-15AB-BE82-BAC1-15446B5C4392}"/>
                  </a:ext>
                </a:extLst>
              </p:cNvPr>
              <p:cNvSpPr>
                <a:spLocks noGrp="1" noRot="1" noChangeAspect="1" noMove="1" noResize="1" noEditPoints="1" noAdjustHandles="1" noChangeArrowheads="1" noChangeShapeType="1" noTextEdit="1"/>
              </p:cNvSpPr>
              <p:nvPr>
                <p:ph idx="1"/>
              </p:nvPr>
            </p:nvSpPr>
            <p:spPr>
              <a:blipFill>
                <a:blip r:embed="rId2"/>
                <a:stretch>
                  <a:fillRect l="-1086" t="-1746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8CD5137-CCAE-E63E-0B3D-993305C43453}"/>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AA413BC3-20A6-3280-E616-A4B9388D6D1F}"/>
              </a:ext>
            </a:extLst>
          </p:cNvPr>
          <p:cNvSpPr>
            <a:spLocks noGrp="1"/>
          </p:cNvSpPr>
          <p:nvPr>
            <p:ph type="sldNum" sz="quarter" idx="12"/>
          </p:nvPr>
        </p:nvSpPr>
        <p:spPr/>
        <p:txBody>
          <a:bodyPr/>
          <a:lstStyle/>
          <a:p>
            <a:fld id="{10A4AB6E-1AC4-C44F-A0CC-883A0306AF8B}" type="slidenum">
              <a:rPr lang="en-US" smtClean="0"/>
              <a:t>18</a:t>
            </a:fld>
            <a:endParaRPr lang="en-US"/>
          </a:p>
        </p:txBody>
      </p:sp>
    </p:spTree>
    <p:extLst>
      <p:ext uri="{BB962C8B-B14F-4D97-AF65-F5344CB8AC3E}">
        <p14:creationId xmlns:p14="http://schemas.microsoft.com/office/powerpoint/2010/main" val="4033917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B0A1A-86EF-1F77-40FF-4AC6AEBF177F}"/>
              </a:ext>
            </a:extLst>
          </p:cNvPr>
          <p:cNvSpPr>
            <a:spLocks noGrp="1"/>
          </p:cNvSpPr>
          <p:nvPr>
            <p:ph type="title"/>
          </p:nvPr>
        </p:nvSpPr>
        <p:spPr/>
        <p:txBody>
          <a:bodyPr>
            <a:normAutofit fontScale="90000"/>
          </a:bodyPr>
          <a:lstStyle/>
          <a:p>
            <a:r>
              <a:rPr lang="en-US" dirty="0"/>
              <a:t>Evaluation metric overview</a:t>
            </a:r>
          </a:p>
        </p:txBody>
      </p:sp>
      <p:graphicFrame>
        <p:nvGraphicFramePr>
          <p:cNvPr id="6" name="Content Placeholder 5">
            <a:extLst>
              <a:ext uri="{FF2B5EF4-FFF2-40B4-BE49-F238E27FC236}">
                <a16:creationId xmlns:a16="http://schemas.microsoft.com/office/drawing/2014/main" id="{9227C2BF-EF9B-8106-83D9-1A4A3F6460C0}"/>
              </a:ext>
            </a:extLst>
          </p:cNvPr>
          <p:cNvGraphicFramePr>
            <a:graphicFrameLocks noGrp="1"/>
          </p:cNvGraphicFramePr>
          <p:nvPr>
            <p:ph idx="1"/>
            <p:extLst>
              <p:ext uri="{D42A27DB-BD31-4B8C-83A1-F6EECF244321}">
                <p14:modId xmlns:p14="http://schemas.microsoft.com/office/powerpoint/2010/main" val="1363709377"/>
              </p:ext>
            </p:extLst>
          </p:nvPr>
        </p:nvGraphicFramePr>
        <p:xfrm>
          <a:off x="838200" y="1645920"/>
          <a:ext cx="10515600" cy="3566160"/>
        </p:xfrm>
        <a:graphic>
          <a:graphicData uri="http://schemas.openxmlformats.org/drawingml/2006/table">
            <a:tbl>
              <a:tblPr firstRow="1"/>
              <a:tblGrid>
                <a:gridCol w="4233863">
                  <a:extLst>
                    <a:ext uri="{9D8B030D-6E8A-4147-A177-3AD203B41FA5}">
                      <a16:colId xmlns:a16="http://schemas.microsoft.com/office/drawing/2014/main" val="1527460750"/>
                    </a:ext>
                  </a:extLst>
                </a:gridCol>
                <a:gridCol w="6281737">
                  <a:extLst>
                    <a:ext uri="{9D8B030D-6E8A-4147-A177-3AD203B41FA5}">
                      <a16:colId xmlns:a16="http://schemas.microsoft.com/office/drawing/2014/main" val="4116202580"/>
                    </a:ext>
                  </a:extLst>
                </a:gridCol>
              </a:tblGrid>
              <a:tr h="0">
                <a:tc>
                  <a:txBody>
                    <a:bodyPr/>
                    <a:lstStyle/>
                    <a:p>
                      <a:pPr algn="l">
                        <a:buNone/>
                      </a:pPr>
                      <a:r>
                        <a:rPr lang="en-US" sz="2400" b="1" i="0" dirty="0">
                          <a:solidFill>
                            <a:schemeClr val="tx1"/>
                          </a:solidFill>
                          <a:effectLst/>
                        </a:rPr>
                        <a:t>Scientific goal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1" i="0" dirty="0">
                          <a:solidFill>
                            <a:schemeClr val="tx1"/>
                          </a:solidFill>
                          <a:effectLst/>
                        </a:rPr>
                        <a:t>Useful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6219761"/>
                  </a:ext>
                </a:extLst>
              </a:tr>
              <a:tr h="0">
                <a:tc>
                  <a:txBody>
                    <a:bodyPr/>
                    <a:lstStyle/>
                    <a:p>
                      <a:pPr algn="l">
                        <a:buNone/>
                      </a:pPr>
                      <a:r>
                        <a:rPr lang="en-US" sz="2400" b="0" i="0">
                          <a:solidFill>
                            <a:schemeClr val="tx1"/>
                          </a:solidFill>
                          <a:effectLst/>
                        </a:rPr>
                        <a:t>Average prediction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0" i="0">
                          <a:solidFill>
                            <a:schemeClr val="tx1"/>
                          </a:solidFill>
                          <a:effectLst/>
                        </a:rPr>
                        <a:t>MAE, RMSE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5604411"/>
                  </a:ext>
                </a:extLst>
              </a:tr>
              <a:tr h="0">
                <a:tc>
                  <a:txBody>
                    <a:bodyPr/>
                    <a:lstStyle/>
                    <a:p>
                      <a:pPr algn="l">
                        <a:buNone/>
                      </a:pPr>
                      <a:r>
                        <a:rPr lang="en-US" sz="2400" b="0" i="0">
                          <a:solidFill>
                            <a:schemeClr val="tx1"/>
                          </a:solidFill>
                          <a:effectLst/>
                        </a:rPr>
                        <a:t>Penalize large errors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0" i="0">
                          <a:solidFill>
                            <a:schemeClr val="tx1"/>
                          </a:solidFill>
                          <a:effectLst/>
                        </a:rPr>
                        <a:t>RMSE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0634971"/>
                  </a:ext>
                </a:extLst>
              </a:tr>
              <a:tr h="0">
                <a:tc>
                  <a:txBody>
                    <a:bodyPr/>
                    <a:lstStyle/>
                    <a:p>
                      <a:pPr algn="l">
                        <a:buNone/>
                      </a:pPr>
                      <a:r>
                        <a:rPr lang="en-US" sz="2400" b="0" i="0">
                          <a:solidFill>
                            <a:schemeClr val="tx1"/>
                          </a:solidFill>
                          <a:effectLst/>
                        </a:rPr>
                        <a:t>Estimate systematic over/underprediction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0" i="0">
                          <a:solidFill>
                            <a:schemeClr val="tx1"/>
                          </a:solidFill>
                          <a:effectLst/>
                        </a:rPr>
                        <a:t>Mean 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546049"/>
                  </a:ext>
                </a:extLst>
              </a:tr>
              <a:tr h="0">
                <a:tc>
                  <a:txBody>
                    <a:bodyPr/>
                    <a:lstStyle/>
                    <a:p>
                      <a:pPr algn="l">
                        <a:buNone/>
                      </a:pPr>
                      <a:r>
                        <a:rPr lang="en-US" sz="2400" b="0" i="0">
                          <a:solidFill>
                            <a:schemeClr val="tx1"/>
                          </a:solidFill>
                          <a:effectLst/>
                        </a:rPr>
                        <a:t>Explain variance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0" i="0" dirty="0">
                          <a:solidFill>
                            <a:schemeClr val="tx1"/>
                          </a:solidFill>
                          <a:effectLst/>
                        </a:rPr>
                        <a:t>R</a:t>
                      </a:r>
                      <a:r>
                        <a:rPr lang="en-US" sz="2400" b="0" i="0" baseline="30000" dirty="0">
                          <a:solidFill>
                            <a:schemeClr val="tx1"/>
                          </a:solidFill>
                          <a:effectLst/>
                        </a:rPr>
                        <a:t>2</a:t>
                      </a:r>
                      <a:endParaRPr lang="en-US" sz="2400" b="0" i="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4673698"/>
                  </a:ext>
                </a:extLst>
              </a:tr>
              <a:tr h="0">
                <a:tc>
                  <a:txBody>
                    <a:bodyPr/>
                    <a:lstStyle/>
                    <a:p>
                      <a:pPr algn="l">
                        <a:buNone/>
                      </a:pPr>
                      <a:r>
                        <a:rPr lang="en-US" sz="2400" b="0" i="0">
                          <a:solidFill>
                            <a:schemeClr val="tx1"/>
                          </a:solidFill>
                          <a:effectLst/>
                        </a:rPr>
                        <a:t>Compare across scales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0" i="0">
                          <a:solidFill>
                            <a:schemeClr val="tx1"/>
                          </a:solidFill>
                          <a:effectLst/>
                        </a:rPr>
                        <a:t>Normalized RMSE, normalized MAE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5220561"/>
                  </a:ext>
                </a:extLst>
              </a:tr>
              <a:tr h="0">
                <a:tc>
                  <a:txBody>
                    <a:bodyPr/>
                    <a:lstStyle/>
                    <a:p>
                      <a:pPr algn="l">
                        <a:buNone/>
                      </a:pPr>
                      <a:r>
                        <a:rPr lang="en-US" sz="2400" b="0" i="0" dirty="0">
                          <a:solidFill>
                            <a:schemeClr val="tx1"/>
                          </a:solidFill>
                          <a:effectLst/>
                        </a:rPr>
                        <a:t>Extreme event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0" i="0" dirty="0">
                          <a:solidFill>
                            <a:schemeClr val="tx1"/>
                          </a:solidFill>
                          <a:effectLst/>
                        </a:rPr>
                        <a:t>Tail-specific MAE/RMSE, event-based metrics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6040041"/>
                  </a:ext>
                </a:extLst>
              </a:tr>
            </a:tbl>
          </a:graphicData>
        </a:graphic>
      </p:graphicFrame>
      <p:sp>
        <p:nvSpPr>
          <p:cNvPr id="4" name="Footer Placeholder 3">
            <a:extLst>
              <a:ext uri="{FF2B5EF4-FFF2-40B4-BE49-F238E27FC236}">
                <a16:creationId xmlns:a16="http://schemas.microsoft.com/office/drawing/2014/main" id="{9878865F-9B65-5B0E-062D-8F30A5D5F110}"/>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8649E98F-3CB0-68E9-17FB-954F9A633184}"/>
              </a:ext>
            </a:extLst>
          </p:cNvPr>
          <p:cNvSpPr>
            <a:spLocks noGrp="1"/>
          </p:cNvSpPr>
          <p:nvPr>
            <p:ph type="sldNum" sz="quarter" idx="12"/>
          </p:nvPr>
        </p:nvSpPr>
        <p:spPr/>
        <p:txBody>
          <a:bodyPr/>
          <a:lstStyle/>
          <a:p>
            <a:fld id="{10A4AB6E-1AC4-C44F-A0CC-883A0306AF8B}" type="slidenum">
              <a:rPr lang="en-US" smtClean="0"/>
              <a:t>19</a:t>
            </a:fld>
            <a:endParaRPr lang="en-US"/>
          </a:p>
        </p:txBody>
      </p:sp>
    </p:spTree>
    <p:extLst>
      <p:ext uri="{BB962C8B-B14F-4D97-AF65-F5344CB8AC3E}">
        <p14:creationId xmlns:p14="http://schemas.microsoft.com/office/powerpoint/2010/main" val="1791103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E09ED-E8B5-72B2-A64E-5FE427C41BA5}"/>
              </a:ext>
            </a:extLst>
          </p:cNvPr>
          <p:cNvSpPr>
            <a:spLocks noGrp="1"/>
          </p:cNvSpPr>
          <p:nvPr>
            <p:ph type="title"/>
          </p:nvPr>
        </p:nvSpPr>
        <p:spPr/>
        <p:txBody>
          <a:bodyPr>
            <a:normAutofit fontScale="90000"/>
          </a:bodyPr>
          <a:lstStyle/>
          <a:p>
            <a:r>
              <a:rPr lang="en-US" dirty="0"/>
              <a:t>Baselines</a:t>
            </a:r>
          </a:p>
        </p:txBody>
      </p:sp>
      <p:sp>
        <p:nvSpPr>
          <p:cNvPr id="3" name="Content Placeholder 2">
            <a:extLst>
              <a:ext uri="{FF2B5EF4-FFF2-40B4-BE49-F238E27FC236}">
                <a16:creationId xmlns:a16="http://schemas.microsoft.com/office/drawing/2014/main" id="{19596AAB-32FA-AED7-CD96-8D130E998C40}"/>
              </a:ext>
            </a:extLst>
          </p:cNvPr>
          <p:cNvSpPr>
            <a:spLocks noGrp="1"/>
          </p:cNvSpPr>
          <p:nvPr>
            <p:ph idx="1"/>
          </p:nvPr>
        </p:nvSpPr>
        <p:spPr/>
        <p:txBody>
          <a:bodyPr/>
          <a:lstStyle/>
          <a:p>
            <a:pPr marL="0" indent="0">
              <a:buNone/>
            </a:pPr>
            <a:r>
              <a:rPr lang="en-US" dirty="0"/>
              <a:t>Baselines are simple reference models. A complex ML model is not useful unless it beats a meaningful baseline.</a:t>
            </a:r>
          </a:p>
          <a:p>
            <a:pPr marL="0" indent="0">
              <a:buNone/>
            </a:pPr>
            <a:endParaRPr lang="en-US" sz="800" dirty="0"/>
          </a:p>
          <a:p>
            <a:pPr marL="0" indent="0">
              <a:buNone/>
            </a:pPr>
            <a:r>
              <a:rPr lang="en-US" b="1" dirty="0"/>
              <a:t>Why baselines matter</a:t>
            </a:r>
          </a:p>
          <a:p>
            <a:r>
              <a:rPr lang="en-US" dirty="0"/>
              <a:t>Is the ML model actually learning something useful?</a:t>
            </a:r>
          </a:p>
          <a:p>
            <a:r>
              <a:rPr lang="en-US" dirty="0"/>
              <a:t>Without a baseline, performance may be overinterpreted.</a:t>
            </a:r>
          </a:p>
          <a:p>
            <a:endParaRPr lang="en-US" sz="800" dirty="0"/>
          </a:p>
          <a:p>
            <a:pPr marL="0" indent="0">
              <a:buNone/>
            </a:pPr>
            <a:r>
              <a:rPr lang="en-US" dirty="0"/>
              <a:t>If a model does not beat simple baselines, it may not be adding value.</a:t>
            </a:r>
          </a:p>
          <a:p>
            <a:endParaRPr lang="en-US" dirty="0"/>
          </a:p>
        </p:txBody>
      </p:sp>
      <p:sp>
        <p:nvSpPr>
          <p:cNvPr id="4" name="Footer Placeholder 3">
            <a:extLst>
              <a:ext uri="{FF2B5EF4-FFF2-40B4-BE49-F238E27FC236}">
                <a16:creationId xmlns:a16="http://schemas.microsoft.com/office/drawing/2014/main" id="{66119D59-C184-2C69-3A5F-8C15DB7B1408}"/>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08174AF6-BC77-839E-8C12-27B628C3FB61}"/>
              </a:ext>
            </a:extLst>
          </p:cNvPr>
          <p:cNvSpPr>
            <a:spLocks noGrp="1"/>
          </p:cNvSpPr>
          <p:nvPr>
            <p:ph type="sldNum" sz="quarter" idx="12"/>
          </p:nvPr>
        </p:nvSpPr>
        <p:spPr/>
        <p:txBody>
          <a:bodyPr/>
          <a:lstStyle/>
          <a:p>
            <a:fld id="{10A4AB6E-1AC4-C44F-A0CC-883A0306AF8B}" type="slidenum">
              <a:rPr lang="en-US" smtClean="0"/>
              <a:t>20</a:t>
            </a:fld>
            <a:endParaRPr lang="en-US"/>
          </a:p>
        </p:txBody>
      </p:sp>
      <p:grpSp>
        <p:nvGrpSpPr>
          <p:cNvPr id="9" name="Group 8" descr="Figure showing a baseline comparison with various other models for river temperature in Alaska">
            <a:extLst>
              <a:ext uri="{FF2B5EF4-FFF2-40B4-BE49-F238E27FC236}">
                <a16:creationId xmlns:a16="http://schemas.microsoft.com/office/drawing/2014/main" id="{348D455D-782D-8C88-7356-EFA3C2BBFC47}"/>
              </a:ext>
            </a:extLst>
          </p:cNvPr>
          <p:cNvGrpSpPr/>
          <p:nvPr/>
        </p:nvGrpSpPr>
        <p:grpSpPr>
          <a:xfrm>
            <a:off x="1758581" y="4616450"/>
            <a:ext cx="9360638" cy="1634986"/>
            <a:chOff x="1758581" y="4616450"/>
            <a:chExt cx="9360638" cy="1634986"/>
          </a:xfrm>
        </p:grpSpPr>
        <p:pic>
          <p:nvPicPr>
            <p:cNvPr id="7" name="Picture 6">
              <a:extLst>
                <a:ext uri="{FF2B5EF4-FFF2-40B4-BE49-F238E27FC236}">
                  <a16:creationId xmlns:a16="http://schemas.microsoft.com/office/drawing/2014/main" id="{D39401C1-B17A-0C40-13E0-DE9368026FCA}"/>
                </a:ext>
              </a:extLst>
            </p:cNvPr>
            <p:cNvPicPr>
              <a:picLocks noChangeAspect="1"/>
            </p:cNvPicPr>
            <p:nvPr/>
          </p:nvPicPr>
          <p:blipFill>
            <a:blip r:embed="rId2"/>
            <a:srcRect l="8784" t="76248" r="7423" b="8189"/>
            <a:stretch>
              <a:fillRect/>
            </a:stretch>
          </p:blipFill>
          <p:spPr>
            <a:xfrm>
              <a:off x="1758581" y="4899164"/>
              <a:ext cx="9360638" cy="1352272"/>
            </a:xfrm>
            <a:prstGeom prst="rect">
              <a:avLst/>
            </a:prstGeom>
          </p:spPr>
        </p:pic>
        <p:pic>
          <p:nvPicPr>
            <p:cNvPr id="8" name="Picture 7">
              <a:extLst>
                <a:ext uri="{FF2B5EF4-FFF2-40B4-BE49-F238E27FC236}">
                  <a16:creationId xmlns:a16="http://schemas.microsoft.com/office/drawing/2014/main" id="{4DB17986-90E3-A658-0CED-DF6FF912D4D9}"/>
                </a:ext>
              </a:extLst>
            </p:cNvPr>
            <p:cNvPicPr>
              <a:picLocks noChangeAspect="1"/>
            </p:cNvPicPr>
            <p:nvPr/>
          </p:nvPicPr>
          <p:blipFill>
            <a:blip r:embed="rId2"/>
            <a:srcRect l="26693" t="93567" r="27378" b="2341"/>
            <a:stretch>
              <a:fillRect/>
            </a:stretch>
          </p:blipFill>
          <p:spPr>
            <a:xfrm>
              <a:off x="3873499" y="4616450"/>
              <a:ext cx="5130801" cy="355600"/>
            </a:xfrm>
            <a:prstGeom prst="rect">
              <a:avLst/>
            </a:prstGeom>
          </p:spPr>
        </p:pic>
      </p:grpSp>
    </p:spTree>
    <p:extLst>
      <p:ext uri="{BB962C8B-B14F-4D97-AF65-F5344CB8AC3E}">
        <p14:creationId xmlns:p14="http://schemas.microsoft.com/office/powerpoint/2010/main" val="478537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DD371-5D26-2F3E-FD9F-CCC20846C5EF}"/>
              </a:ext>
            </a:extLst>
          </p:cNvPr>
          <p:cNvSpPr>
            <a:spLocks noGrp="1"/>
          </p:cNvSpPr>
          <p:nvPr>
            <p:ph type="title"/>
          </p:nvPr>
        </p:nvSpPr>
        <p:spPr/>
        <p:txBody>
          <a:bodyPr>
            <a:normAutofit fontScale="90000"/>
          </a:bodyPr>
          <a:lstStyle/>
          <a:p>
            <a:r>
              <a:rPr lang="en-US" dirty="0"/>
              <a:t>Regression Baselines</a:t>
            </a:r>
          </a:p>
        </p:txBody>
      </p:sp>
      <p:sp>
        <p:nvSpPr>
          <p:cNvPr id="3" name="Content Placeholder 2">
            <a:extLst>
              <a:ext uri="{FF2B5EF4-FFF2-40B4-BE49-F238E27FC236}">
                <a16:creationId xmlns:a16="http://schemas.microsoft.com/office/drawing/2014/main" id="{217EED84-A543-FA40-7027-36A1C842D375}"/>
              </a:ext>
            </a:extLst>
          </p:cNvPr>
          <p:cNvSpPr>
            <a:spLocks noGrp="1"/>
          </p:cNvSpPr>
          <p:nvPr>
            <p:ph idx="1"/>
          </p:nvPr>
        </p:nvSpPr>
        <p:spPr>
          <a:xfrm>
            <a:off x="342900" y="1128202"/>
            <a:ext cx="5753100" cy="5011428"/>
          </a:xfrm>
        </p:spPr>
        <p:txBody>
          <a:bodyPr>
            <a:normAutofit lnSpcReduction="10000"/>
          </a:bodyPr>
          <a:lstStyle/>
          <a:p>
            <a:pPr marL="0" indent="0">
              <a:buNone/>
            </a:pPr>
            <a:r>
              <a:rPr lang="en-US" dirty="0"/>
              <a:t>Persistence baseline</a:t>
            </a:r>
          </a:p>
          <a:p>
            <a:pPr lvl="1"/>
            <a:r>
              <a:rPr lang="en-US" dirty="0"/>
              <a:t>Tomorrow’s streamflow equals today’s streamflow.</a:t>
            </a:r>
          </a:p>
          <a:p>
            <a:pPr lvl="1"/>
            <a:r>
              <a:rPr lang="en-US" dirty="0"/>
              <a:t>Next week’s drought index equals this week’s drought index.</a:t>
            </a:r>
          </a:p>
          <a:p>
            <a:pPr lvl="1"/>
            <a:r>
              <a:rPr lang="en-US" dirty="0"/>
              <a:t>Persistence is often surprisingly strong.</a:t>
            </a:r>
          </a:p>
          <a:p>
            <a:pPr marL="457200" lvl="1" indent="0">
              <a:buNone/>
            </a:pPr>
            <a:endParaRPr lang="en-US" dirty="0"/>
          </a:p>
          <a:p>
            <a:pPr marL="0" indent="0">
              <a:buNone/>
            </a:pPr>
            <a:r>
              <a:rPr lang="en-US" dirty="0"/>
              <a:t>Spatial interpolation baseline</a:t>
            </a:r>
          </a:p>
          <a:p>
            <a:pPr lvl="1"/>
            <a:r>
              <a:rPr lang="en-US" dirty="0"/>
              <a:t>Nearest neighbor.</a:t>
            </a:r>
          </a:p>
          <a:p>
            <a:pPr lvl="1"/>
            <a:r>
              <a:rPr lang="en-US" dirty="0"/>
              <a:t>Inverse distance weighting.</a:t>
            </a:r>
          </a:p>
          <a:p>
            <a:pPr lvl="1"/>
            <a:r>
              <a:rPr lang="en-US" dirty="0"/>
              <a:t>Kriging.</a:t>
            </a:r>
          </a:p>
          <a:p>
            <a:pPr lvl="1"/>
            <a:r>
              <a:rPr lang="en-US" dirty="0"/>
              <a:t>Regional mean.</a:t>
            </a:r>
          </a:p>
          <a:p>
            <a:pPr lvl="1"/>
            <a:r>
              <a:rPr lang="en-US" dirty="0"/>
              <a:t>Watershed mean.</a:t>
            </a:r>
          </a:p>
        </p:txBody>
      </p:sp>
      <p:sp>
        <p:nvSpPr>
          <p:cNvPr id="4" name="Footer Placeholder 3">
            <a:extLst>
              <a:ext uri="{FF2B5EF4-FFF2-40B4-BE49-F238E27FC236}">
                <a16:creationId xmlns:a16="http://schemas.microsoft.com/office/drawing/2014/main" id="{AC5D06DE-9CD6-098D-DD4F-DDFFE5EF8E0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16BB7A52-3A70-1DA5-1708-E4C4B6857874}"/>
              </a:ext>
            </a:extLst>
          </p:cNvPr>
          <p:cNvSpPr>
            <a:spLocks noGrp="1"/>
          </p:cNvSpPr>
          <p:nvPr>
            <p:ph type="sldNum" sz="quarter" idx="12"/>
          </p:nvPr>
        </p:nvSpPr>
        <p:spPr/>
        <p:txBody>
          <a:bodyPr/>
          <a:lstStyle/>
          <a:p>
            <a:fld id="{10A4AB6E-1AC4-C44F-A0CC-883A0306AF8B}" type="slidenum">
              <a:rPr lang="en-US" smtClean="0"/>
              <a:t>21</a:t>
            </a:fld>
            <a:endParaRPr lang="en-US"/>
          </a:p>
        </p:txBody>
      </p:sp>
      <mc:AlternateContent xmlns:mc="http://schemas.openxmlformats.org/markup-compatibility/2006">
        <mc:Choice xmlns:a14="http://schemas.microsoft.com/office/drawing/2010/main" Requires="a14">
          <p:sp>
            <p:nvSpPr>
              <p:cNvPr id="6" name="Content Placeholder 2">
                <a:extLst>
                  <a:ext uri="{FF2B5EF4-FFF2-40B4-BE49-F238E27FC236}">
                    <a16:creationId xmlns:a16="http://schemas.microsoft.com/office/drawing/2014/main" id="{40ABCECE-A219-2D4E-726A-5496EBE95DDF}"/>
                  </a:ext>
                </a:extLst>
              </p:cNvPr>
              <p:cNvSpPr txBox="1">
                <a:spLocks/>
              </p:cNvSpPr>
              <p:nvPr/>
            </p:nvSpPr>
            <p:spPr>
              <a:xfrm>
                <a:off x="6096000" y="1236562"/>
                <a:ext cx="6096000" cy="5011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Mean/Median baseline</a:t>
                </a:r>
              </a:p>
              <a:p>
                <a:pPr lvl="1"/>
                <a:r>
                  <a:rPr lang="en-US" dirty="0"/>
                  <a:t>Predict the training-set mean/median for every test case.</a:t>
                </a:r>
              </a:p>
              <a:p>
                <a:pPr lvl="1"/>
                <a:r>
                  <a:rPr lang="en-US" dirty="0"/>
                  <a:t>Useful for interpreting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a:latin typeface="Cambria Math" panose="02040503050406030204" pitchFamily="18" charset="0"/>
                          </a:rPr>
                          <m:t>2</m:t>
                        </m:r>
                      </m:sup>
                    </m:sSup>
                  </m:oMath>
                </a14:m>
                <a:r>
                  <a:rPr lang="en-US" dirty="0"/>
                  <a:t>.</a:t>
                </a:r>
              </a:p>
              <a:p>
                <a:pPr lvl="1"/>
                <a:r>
                  <a:rPr lang="en-US" dirty="0"/>
                  <a:t>Median is more robust to outliers.</a:t>
                </a:r>
              </a:p>
              <a:p>
                <a:pPr marL="457200" lvl="1" indent="0">
                  <a:buNone/>
                </a:pPr>
                <a:endParaRPr lang="en-US" sz="3600" dirty="0"/>
              </a:p>
              <a:p>
                <a:pPr marL="0" indent="0">
                  <a:buNone/>
                </a:pPr>
                <a:r>
                  <a:rPr lang="en-US" dirty="0"/>
                  <a:t>Climatology baseline</a:t>
                </a:r>
              </a:p>
              <a:p>
                <a:pPr lvl="1"/>
                <a:r>
                  <a:rPr lang="en-US" dirty="0"/>
                  <a:t>Predict long-term average temperature for that day of year.</a:t>
                </a:r>
              </a:p>
              <a:p>
                <a:pPr lvl="1"/>
                <a:r>
                  <a:rPr lang="en-US" dirty="0"/>
                  <a:t>Predict average NDVI for that pixel and season.</a:t>
                </a:r>
              </a:p>
            </p:txBody>
          </p:sp>
        </mc:Choice>
        <mc:Fallback>
          <p:sp>
            <p:nvSpPr>
              <p:cNvPr id="6" name="Content Placeholder 2">
                <a:extLst>
                  <a:ext uri="{FF2B5EF4-FFF2-40B4-BE49-F238E27FC236}">
                    <a16:creationId xmlns:a16="http://schemas.microsoft.com/office/drawing/2014/main" id="{40ABCECE-A219-2D4E-726A-5496EBE95DDF}"/>
                  </a:ext>
                </a:extLst>
              </p:cNvPr>
              <p:cNvSpPr txBox="1">
                <a:spLocks noRot="1" noChangeAspect="1" noMove="1" noResize="1" noEditPoints="1" noAdjustHandles="1" noChangeArrowheads="1" noChangeShapeType="1" noTextEdit="1"/>
              </p:cNvSpPr>
              <p:nvPr/>
            </p:nvSpPr>
            <p:spPr>
              <a:xfrm>
                <a:off x="6096000" y="1236562"/>
                <a:ext cx="6096000" cy="5011428"/>
              </a:xfrm>
              <a:prstGeom prst="rect">
                <a:avLst/>
              </a:prstGeom>
              <a:blipFill>
                <a:blip r:embed="rId3"/>
                <a:stretch>
                  <a:fillRect l="-2287" t="-2020"/>
                </a:stretch>
              </a:blipFill>
            </p:spPr>
            <p:txBody>
              <a:bodyPr/>
              <a:lstStyle/>
              <a:p>
                <a:r>
                  <a:rPr lang="en-US">
                    <a:noFill/>
                  </a:rPr>
                  <a:t> </a:t>
                </a:r>
              </a:p>
            </p:txBody>
          </p:sp>
        </mc:Fallback>
      </mc:AlternateContent>
    </p:spTree>
    <p:extLst>
      <p:ext uri="{BB962C8B-B14F-4D97-AF65-F5344CB8AC3E}">
        <p14:creationId xmlns:p14="http://schemas.microsoft.com/office/powerpoint/2010/main" val="3587815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8BE24-7D00-06D4-3853-93B3EC950D2A}"/>
              </a:ext>
            </a:extLst>
          </p:cNvPr>
          <p:cNvSpPr>
            <a:spLocks noGrp="1"/>
          </p:cNvSpPr>
          <p:nvPr>
            <p:ph type="title"/>
          </p:nvPr>
        </p:nvSpPr>
        <p:spPr/>
        <p:txBody>
          <a:bodyPr>
            <a:normAutofit fontScale="90000"/>
          </a:bodyPr>
          <a:lstStyle/>
          <a:p>
            <a:r>
              <a:rPr lang="en-US" dirty="0"/>
              <a:t>End-to-end pipeline</a:t>
            </a:r>
          </a:p>
        </p:txBody>
      </p:sp>
      <p:sp>
        <p:nvSpPr>
          <p:cNvPr id="3" name="Content Placeholder 2">
            <a:extLst>
              <a:ext uri="{FF2B5EF4-FFF2-40B4-BE49-F238E27FC236}">
                <a16:creationId xmlns:a16="http://schemas.microsoft.com/office/drawing/2014/main" id="{8636A933-154A-1105-A657-436CCE100FBC}"/>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0DD1443A-5BAE-6B31-62A7-34E8F8B696CE}"/>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08873C5A-DF3C-D3D3-3998-622D9E471862}"/>
              </a:ext>
            </a:extLst>
          </p:cNvPr>
          <p:cNvSpPr>
            <a:spLocks noGrp="1"/>
          </p:cNvSpPr>
          <p:nvPr>
            <p:ph type="sldNum" sz="quarter" idx="12"/>
          </p:nvPr>
        </p:nvSpPr>
        <p:spPr/>
        <p:txBody>
          <a:bodyPr/>
          <a:lstStyle/>
          <a:p>
            <a:fld id="{10A4AB6E-1AC4-C44F-A0CC-883A0306AF8B}" type="slidenum">
              <a:rPr lang="en-US" smtClean="0"/>
              <a:t>22</a:t>
            </a:fld>
            <a:endParaRPr lang="en-US"/>
          </a:p>
        </p:txBody>
      </p:sp>
    </p:spTree>
    <p:extLst>
      <p:ext uri="{BB962C8B-B14F-4D97-AF65-F5344CB8AC3E}">
        <p14:creationId xmlns:p14="http://schemas.microsoft.com/office/powerpoint/2010/main" val="921047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D7AC9-DA91-C764-19B9-96129C4BEDF3}"/>
              </a:ext>
            </a:extLst>
          </p:cNvPr>
          <p:cNvSpPr>
            <a:spLocks noGrp="1"/>
          </p:cNvSpPr>
          <p:nvPr>
            <p:ph type="title"/>
          </p:nvPr>
        </p:nvSpPr>
        <p:spPr/>
        <p:txBody>
          <a:bodyPr>
            <a:normAutofit fontScale="90000"/>
          </a:bodyPr>
          <a:lstStyle/>
          <a:p>
            <a:r>
              <a:rPr lang="en-US" dirty="0"/>
              <a:t>In Class notebook</a:t>
            </a:r>
          </a:p>
        </p:txBody>
      </p:sp>
      <p:sp>
        <p:nvSpPr>
          <p:cNvPr id="4" name="Footer Placeholder 3">
            <a:extLst>
              <a:ext uri="{FF2B5EF4-FFF2-40B4-BE49-F238E27FC236}">
                <a16:creationId xmlns:a16="http://schemas.microsoft.com/office/drawing/2014/main" id="{F9573424-1CF3-9E3E-EB62-CFAA67850577}"/>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45154A71-2D92-84CE-EEFB-584A4455AA44}"/>
              </a:ext>
            </a:extLst>
          </p:cNvPr>
          <p:cNvSpPr>
            <a:spLocks noGrp="1"/>
          </p:cNvSpPr>
          <p:nvPr>
            <p:ph type="sldNum" sz="quarter" idx="12"/>
          </p:nvPr>
        </p:nvSpPr>
        <p:spPr/>
        <p:txBody>
          <a:bodyPr/>
          <a:lstStyle/>
          <a:p>
            <a:fld id="{10A4AB6E-1AC4-C44F-A0CC-883A0306AF8B}" type="slidenum">
              <a:rPr lang="en-US" smtClean="0"/>
              <a:t>23</a:t>
            </a:fld>
            <a:endParaRPr lang="en-US"/>
          </a:p>
        </p:txBody>
      </p:sp>
      <p:sp>
        <p:nvSpPr>
          <p:cNvPr id="3" name="TextBox 2">
            <a:extLst>
              <a:ext uri="{FF2B5EF4-FFF2-40B4-BE49-F238E27FC236}">
                <a16:creationId xmlns:a16="http://schemas.microsoft.com/office/drawing/2014/main" id="{B8502447-2CA2-DA38-B0CC-DCF8E67FA3E4}"/>
              </a:ext>
            </a:extLst>
          </p:cNvPr>
          <p:cNvSpPr txBox="1"/>
          <p:nvPr/>
        </p:nvSpPr>
        <p:spPr>
          <a:xfrm>
            <a:off x="669315" y="2556698"/>
            <a:ext cx="10853370" cy="1077218"/>
          </a:xfrm>
          <a:prstGeom prst="rect">
            <a:avLst/>
          </a:prstGeom>
          <a:noFill/>
        </p:spPr>
        <p:txBody>
          <a:bodyPr wrap="square" rtlCol="0">
            <a:spAutoFit/>
          </a:bodyPr>
          <a:lstStyle/>
          <a:p>
            <a:pPr algn="ctr"/>
            <a:r>
              <a:rPr lang="en-US" sz="3200" dirty="0"/>
              <a:t>Complete In Class Assignment 2 found on Blackboard or in the course </a:t>
            </a:r>
            <a:r>
              <a:rPr lang="en-US" sz="3200" dirty="0">
                <a:hlinkClick r:id="rId2"/>
              </a:rPr>
              <a:t>GitHub Repo</a:t>
            </a:r>
            <a:endParaRPr lang="en-US" sz="3200" dirty="0"/>
          </a:p>
        </p:txBody>
      </p:sp>
    </p:spTree>
    <p:extLst>
      <p:ext uri="{BB962C8B-B14F-4D97-AF65-F5344CB8AC3E}">
        <p14:creationId xmlns:p14="http://schemas.microsoft.com/office/powerpoint/2010/main" val="138285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4635</TotalTime>
  <Words>1149</Words>
  <Application>Microsoft Macintosh PowerPoint</Application>
  <PresentationFormat>Widescreen</PresentationFormat>
  <Paragraphs>245</Paragraphs>
  <Slides>23</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Cambria Math</vt:lpstr>
      <vt:lpstr>Office Theme</vt:lpstr>
      <vt:lpstr>GEOL 599 Applied Machine Learning for Geoscience Data</vt:lpstr>
      <vt:lpstr>Trivia of the day</vt:lpstr>
      <vt:lpstr>Results from last class</vt:lpstr>
      <vt:lpstr>Number of neighbors</vt:lpstr>
      <vt:lpstr>Standard Cross Validation</vt:lpstr>
      <vt:lpstr>Stratified k-fold cross-validation</vt:lpstr>
      <vt:lpstr>Group k-fold cross-validation</vt:lpstr>
      <vt:lpstr>Nested cross-validation</vt:lpstr>
      <vt:lpstr>Match Model Goal with Method</vt:lpstr>
      <vt:lpstr>Overfitting</vt:lpstr>
      <vt:lpstr>Model complexity vs overfit/underfit</vt:lpstr>
      <vt:lpstr>Bias and variance</vt:lpstr>
      <vt:lpstr>Mean Error</vt:lpstr>
      <vt:lpstr>Mean absolute error</vt:lpstr>
      <vt:lpstr>Root mean squared error</vt:lpstr>
      <vt:lpstr>Normalized RMSE</vt:lpstr>
      <vt:lpstr>Mean squared error</vt:lpstr>
      <vt:lpstr>Coefficient of determination (R2)</vt:lpstr>
      <vt:lpstr>Evaluation metric overview</vt:lpstr>
      <vt:lpstr>Baselines</vt:lpstr>
      <vt:lpstr>Regression Baselines</vt:lpstr>
      <vt:lpstr>End-to-end pipeline</vt:lpstr>
      <vt:lpstr>In Class notebook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Blaskey, Dylan</dc:creator>
  <cp:lastModifiedBy>Blaskey, Dylan</cp:lastModifiedBy>
  <cp:revision>21</cp:revision>
  <dcterms:created xsi:type="dcterms:W3CDTF">2026-04-30T17:26:45Z</dcterms:created>
  <dcterms:modified xsi:type="dcterms:W3CDTF">2026-08-26T15:37:44Z</dcterms:modified>
</cp:coreProperties>
</file>