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449" r:id="rId3"/>
    <p:sldId id="450" r:id="rId4"/>
    <p:sldId id="452" r:id="rId5"/>
    <p:sldId id="453" r:id="rId6"/>
    <p:sldId id="454" r:id="rId7"/>
    <p:sldId id="455" r:id="rId8"/>
    <p:sldId id="456" r:id="rId9"/>
    <p:sldId id="457" r:id="rId10"/>
    <p:sldId id="458" r:id="rId11"/>
    <p:sldId id="451" r:id="rId12"/>
    <p:sldId id="459" r:id="rId13"/>
    <p:sldId id="460" r:id="rId14"/>
    <p:sldId id="43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00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19"/>
    <p:restoredTop sz="77017"/>
  </p:normalViewPr>
  <p:slideViewPr>
    <p:cSldViewPr snapToGrid="0">
      <p:cViewPr varScale="1">
        <p:scale>
          <a:sx n="87" d="100"/>
          <a:sy n="87" d="100"/>
        </p:scale>
        <p:origin x="21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A49FDC-47A8-F54E-9812-4874F92A1A9F}" type="datetimeFigureOut">
              <a:rPr lang="en-US" smtClean="0"/>
              <a:t>9/29/26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FF3C1A-D9C4-F241-9E29-49D7A16F9780}" type="slidenum">
              <a:rPr lang="en-US" smtClean="0"/>
              <a:t>‹#›</a:t>
            </a:fld>
            <a:endParaRPr lang="en-US"/>
          </a:p>
        </p:txBody>
      </p:sp>
    </p:spTree>
    <p:extLst>
      <p:ext uri="{BB962C8B-B14F-4D97-AF65-F5344CB8AC3E}">
        <p14:creationId xmlns:p14="http://schemas.microsoft.com/office/powerpoint/2010/main" val="2590339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a:t>
            </a:fld>
            <a:endParaRPr lang="en-US"/>
          </a:p>
        </p:txBody>
      </p:sp>
    </p:spTree>
    <p:extLst>
      <p:ext uri="{BB962C8B-B14F-4D97-AF65-F5344CB8AC3E}">
        <p14:creationId xmlns:p14="http://schemas.microsoft.com/office/powerpoint/2010/main" val="565088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3</a:t>
            </a:fld>
            <a:endParaRPr lang="en-US"/>
          </a:p>
        </p:txBody>
      </p:sp>
    </p:spTree>
    <p:extLst>
      <p:ext uri="{BB962C8B-B14F-4D97-AF65-F5344CB8AC3E}">
        <p14:creationId xmlns:p14="http://schemas.microsoft.com/office/powerpoint/2010/main" val="2486455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4</a:t>
            </a:fld>
            <a:endParaRPr lang="en-US"/>
          </a:p>
        </p:txBody>
      </p:sp>
    </p:spTree>
    <p:extLst>
      <p:ext uri="{BB962C8B-B14F-4D97-AF65-F5344CB8AC3E}">
        <p14:creationId xmlns:p14="http://schemas.microsoft.com/office/powerpoint/2010/main" val="3274900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5</a:t>
            </a:fld>
            <a:endParaRPr lang="en-US"/>
          </a:p>
        </p:txBody>
      </p:sp>
    </p:spTree>
    <p:extLst>
      <p:ext uri="{BB962C8B-B14F-4D97-AF65-F5344CB8AC3E}">
        <p14:creationId xmlns:p14="http://schemas.microsoft.com/office/powerpoint/2010/main" val="3650763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6</a:t>
            </a:fld>
            <a:endParaRPr lang="en-US"/>
          </a:p>
        </p:txBody>
      </p:sp>
    </p:spTree>
    <p:extLst>
      <p:ext uri="{BB962C8B-B14F-4D97-AF65-F5344CB8AC3E}">
        <p14:creationId xmlns:p14="http://schemas.microsoft.com/office/powerpoint/2010/main" val="3769416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7</a:t>
            </a:fld>
            <a:endParaRPr lang="en-US"/>
          </a:p>
        </p:txBody>
      </p:sp>
    </p:spTree>
    <p:extLst>
      <p:ext uri="{BB962C8B-B14F-4D97-AF65-F5344CB8AC3E}">
        <p14:creationId xmlns:p14="http://schemas.microsoft.com/office/powerpoint/2010/main" val="75307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8</a:t>
            </a:fld>
            <a:endParaRPr lang="en-US"/>
          </a:p>
        </p:txBody>
      </p:sp>
    </p:spTree>
    <p:extLst>
      <p:ext uri="{BB962C8B-B14F-4D97-AF65-F5344CB8AC3E}">
        <p14:creationId xmlns:p14="http://schemas.microsoft.com/office/powerpoint/2010/main" val="3852460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9</a:t>
            </a:fld>
            <a:endParaRPr lang="en-US"/>
          </a:p>
        </p:txBody>
      </p:sp>
    </p:spTree>
    <p:extLst>
      <p:ext uri="{BB962C8B-B14F-4D97-AF65-F5344CB8AC3E}">
        <p14:creationId xmlns:p14="http://schemas.microsoft.com/office/powerpoint/2010/main" val="1309294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10</a:t>
            </a:fld>
            <a:endParaRPr lang="en-US"/>
          </a:p>
        </p:txBody>
      </p:sp>
    </p:spTree>
    <p:extLst>
      <p:ext uri="{BB962C8B-B14F-4D97-AF65-F5344CB8AC3E}">
        <p14:creationId xmlns:p14="http://schemas.microsoft.com/office/powerpoint/2010/main" val="2567038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8B01AE6-E8E1-85B2-DE89-19A7E3AB6DE1}"/>
              </a:ext>
            </a:extLst>
          </p:cNvPr>
          <p:cNvSpPr>
            <a:spLocks noGrp="1"/>
          </p:cNvSpPr>
          <p:nvPr>
            <p:ph type="subTitle" idx="1" hasCustomPrompt="1"/>
          </p:nvPr>
        </p:nvSpPr>
        <p:spPr>
          <a:xfrm>
            <a:off x="1524000" y="2252209"/>
            <a:ext cx="9144000" cy="588963"/>
          </a:xfrm>
        </p:spPr>
        <p:txBody>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Lecture</a:t>
            </a:r>
          </a:p>
          <a:p>
            <a:r>
              <a:rPr lang="en-US" dirty="0"/>
              <a:t> </a:t>
            </a:r>
          </a:p>
        </p:txBody>
      </p:sp>
      <p:sp>
        <p:nvSpPr>
          <p:cNvPr id="8" name="Footer Placeholder 7">
            <a:extLst>
              <a:ext uri="{FF2B5EF4-FFF2-40B4-BE49-F238E27FC236}">
                <a16:creationId xmlns:a16="http://schemas.microsoft.com/office/drawing/2014/main" id="{FEA3DDF7-4F23-7FC1-A6F1-B9ACB64996C4}"/>
              </a:ext>
            </a:extLst>
          </p:cNvPr>
          <p:cNvSpPr>
            <a:spLocks noGrp="1"/>
          </p:cNvSpPr>
          <p:nvPr>
            <p:ph type="ftr" sz="quarter" idx="11"/>
          </p:nvPr>
        </p:nvSpPr>
        <p:spPr/>
        <p:txBody>
          <a:bodyPr/>
          <a:lstStyle>
            <a:lvl1pPr>
              <a:defRPr>
                <a:solidFill>
                  <a:schemeClr val="tx1"/>
                </a:solidFill>
              </a:defRPr>
            </a:lvl1pPr>
          </a:lstStyle>
          <a:p>
            <a:r>
              <a:rPr lang="en-US" dirty="0">
                <a:solidFill>
                  <a:schemeClr val="tx1"/>
                </a:solidFill>
              </a:rPr>
              <a:t>GEOL 599</a:t>
            </a:r>
          </a:p>
        </p:txBody>
      </p:sp>
      <p:sp>
        <p:nvSpPr>
          <p:cNvPr id="9" name="Slide Number Placeholder 8">
            <a:extLst>
              <a:ext uri="{FF2B5EF4-FFF2-40B4-BE49-F238E27FC236}">
                <a16:creationId xmlns:a16="http://schemas.microsoft.com/office/drawing/2014/main" id="{0C1EBF45-1E3C-5639-6B06-6CF54D95E03F}"/>
              </a:ext>
            </a:extLst>
          </p:cNvPr>
          <p:cNvSpPr>
            <a:spLocks noGrp="1"/>
          </p:cNvSpPr>
          <p:nvPr>
            <p:ph type="sldNum" sz="quarter" idx="12"/>
          </p:nvPr>
        </p:nvSpPr>
        <p:spPr/>
        <p:txBody>
          <a:bodyPr/>
          <a:lstStyle>
            <a:lvl1pPr>
              <a:defRPr>
                <a:solidFill>
                  <a:schemeClr val="tx1"/>
                </a:solidFill>
              </a:defRPr>
            </a:lvl1pPr>
          </a:lstStyle>
          <a:p>
            <a:fld id="{10A4AB6E-1AC4-C44F-A0CC-883A0306AF8B}" type="slidenum">
              <a:rPr lang="en-US" smtClean="0"/>
              <a:pPr/>
              <a:t>‹#›</a:t>
            </a:fld>
            <a:endParaRPr lang="en-US" dirty="0"/>
          </a:p>
        </p:txBody>
      </p:sp>
      <p:cxnSp>
        <p:nvCxnSpPr>
          <p:cNvPr id="11" name="Straight Connector 10">
            <a:extLst>
              <a:ext uri="{FF2B5EF4-FFF2-40B4-BE49-F238E27FC236}">
                <a16:creationId xmlns:a16="http://schemas.microsoft.com/office/drawing/2014/main" id="{00DB6341-93E9-1E69-609E-73BBFB4BA579}"/>
              </a:ext>
            </a:extLst>
          </p:cNvPr>
          <p:cNvCxnSpPr>
            <a:cxnSpLocks/>
          </p:cNvCxnSpPr>
          <p:nvPr userDrawn="1"/>
        </p:nvCxnSpPr>
        <p:spPr>
          <a:xfrm>
            <a:off x="990600" y="3058886"/>
            <a:ext cx="10156371" cy="0"/>
          </a:xfrm>
          <a:prstGeom prst="line">
            <a:avLst/>
          </a:prstGeom>
          <a:ln>
            <a:solidFill>
              <a:srgbClr val="73000A"/>
            </a:solidFill>
          </a:ln>
        </p:spPr>
        <p:style>
          <a:lnRef idx="2">
            <a:schemeClr val="accent1"/>
          </a:lnRef>
          <a:fillRef idx="0">
            <a:schemeClr val="accent1"/>
          </a:fillRef>
          <a:effectRef idx="1">
            <a:schemeClr val="accent1"/>
          </a:effectRef>
          <a:fontRef idx="minor">
            <a:schemeClr val="tx1"/>
          </a:fontRef>
        </p:style>
      </p:cxnSp>
      <p:sp>
        <p:nvSpPr>
          <p:cNvPr id="12" name="Subtitle 2">
            <a:extLst>
              <a:ext uri="{FF2B5EF4-FFF2-40B4-BE49-F238E27FC236}">
                <a16:creationId xmlns:a16="http://schemas.microsoft.com/office/drawing/2014/main" id="{522C522C-189E-E345-55A5-F92D4350F77D}"/>
              </a:ext>
            </a:extLst>
          </p:cNvPr>
          <p:cNvSpPr txBox="1">
            <a:spLocks/>
          </p:cNvSpPr>
          <p:nvPr userDrawn="1"/>
        </p:nvSpPr>
        <p:spPr>
          <a:xfrm>
            <a:off x="1518557" y="3276601"/>
            <a:ext cx="9144000" cy="28620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solidFill>
                  <a:schemeClr val="tx1"/>
                </a:solidFill>
              </a:rPr>
              <a:t>Today’s Objectives</a:t>
            </a: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a:p>
            <a:endParaRPr lang="en-US" sz="3800" dirty="0">
              <a:solidFill>
                <a:schemeClr val="tx1"/>
              </a:solidFill>
            </a:endParaRPr>
          </a:p>
        </p:txBody>
      </p:sp>
      <p:sp>
        <p:nvSpPr>
          <p:cNvPr id="13" name="Rectangle 12">
            <a:extLst>
              <a:ext uri="{FF2B5EF4-FFF2-40B4-BE49-F238E27FC236}">
                <a16:creationId xmlns:a16="http://schemas.microsoft.com/office/drawing/2014/main" id="{BFBD97F3-4925-C570-5514-2E8A7F901638}"/>
              </a:ext>
            </a:extLst>
          </p:cNvPr>
          <p:cNvSpPr/>
          <p:nvPr userDrawn="1"/>
        </p:nvSpPr>
        <p:spPr>
          <a:xfrm>
            <a:off x="0" y="0"/>
            <a:ext cx="12192000" cy="10341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E6434-D3C5-35B8-2A5B-12571E53B479}"/>
              </a:ext>
            </a:extLst>
          </p:cNvPr>
          <p:cNvSpPr>
            <a:spLocks noGrp="1"/>
          </p:cNvSpPr>
          <p:nvPr>
            <p:ph type="ctrTitle" hasCustomPrompt="1"/>
          </p:nvPr>
        </p:nvSpPr>
        <p:spPr>
          <a:xfrm>
            <a:off x="-5443" y="-244251"/>
            <a:ext cx="12192000" cy="2387600"/>
          </a:xfrm>
        </p:spPr>
        <p:txBody>
          <a:bodyPr anchor="b"/>
          <a:lstStyle>
            <a:lvl1pPr algn="ctr">
              <a:defRPr sz="4800">
                <a:solidFill>
                  <a:schemeClr val="tx1"/>
                </a:solidFill>
              </a:defRPr>
            </a:lvl1pPr>
          </a:lstStyle>
          <a:p>
            <a:r>
              <a:rPr lang="en-US" dirty="0"/>
              <a:t>GEOL 599</a:t>
            </a:r>
            <a:br>
              <a:rPr lang="en-US" dirty="0"/>
            </a:br>
            <a:r>
              <a:rPr lang="en-US" dirty="0"/>
              <a:t>Applied Machine Learning for Geoscience Data</a:t>
            </a:r>
          </a:p>
        </p:txBody>
      </p:sp>
    </p:spTree>
    <p:extLst>
      <p:ext uri="{BB962C8B-B14F-4D97-AF65-F5344CB8AC3E}">
        <p14:creationId xmlns:p14="http://schemas.microsoft.com/office/powerpoint/2010/main" val="2969113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505B7-09A3-CD35-0F48-F6AC4FE002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8CA42-DE5B-A0F5-7D42-23509A2DDD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DB7EA-5BEF-6A60-8C8C-EE99F86D730B}"/>
              </a:ext>
            </a:extLst>
          </p:cNvPr>
          <p:cNvSpPr>
            <a:spLocks noGrp="1"/>
          </p:cNvSpPr>
          <p:nvPr>
            <p:ph type="dt" sz="half" idx="10"/>
          </p:nvPr>
        </p:nvSpPr>
        <p:spPr>
          <a:xfrm>
            <a:off x="838200" y="6356350"/>
            <a:ext cx="2743200" cy="365125"/>
          </a:xfrm>
          <a:prstGeom prst="rect">
            <a:avLst/>
          </a:prstGeom>
        </p:spPr>
        <p:txBody>
          <a:bodyPr/>
          <a:lstStyle/>
          <a:p>
            <a:fld id="{09418D03-48AA-CB49-A132-AF8A2DA0E64B}" type="datetime1">
              <a:rPr lang="en-US" smtClean="0"/>
              <a:t>9/29/26</a:t>
            </a:fld>
            <a:endParaRPr lang="en-US"/>
          </a:p>
        </p:txBody>
      </p:sp>
      <p:sp>
        <p:nvSpPr>
          <p:cNvPr id="5" name="Footer Placeholder 4">
            <a:extLst>
              <a:ext uri="{FF2B5EF4-FFF2-40B4-BE49-F238E27FC236}">
                <a16:creationId xmlns:a16="http://schemas.microsoft.com/office/drawing/2014/main" id="{DAEF1026-75B7-EFCA-1EB7-A6D8B3B464D5}"/>
              </a:ext>
            </a:extLst>
          </p:cNvPr>
          <p:cNvSpPr>
            <a:spLocks noGrp="1"/>
          </p:cNvSpPr>
          <p:nvPr>
            <p:ph type="ftr" sz="quarter" idx="11"/>
          </p:nvPr>
        </p:nvSpPr>
        <p:spPr/>
        <p:txBody>
          <a:bodyPr/>
          <a:lstStyle/>
          <a:p>
            <a:r>
              <a:rPr lang="en-US"/>
              <a:t>GEOL 599</a:t>
            </a:r>
          </a:p>
        </p:txBody>
      </p:sp>
      <p:sp>
        <p:nvSpPr>
          <p:cNvPr id="6" name="Slide Number Placeholder 5">
            <a:extLst>
              <a:ext uri="{FF2B5EF4-FFF2-40B4-BE49-F238E27FC236}">
                <a16:creationId xmlns:a16="http://schemas.microsoft.com/office/drawing/2014/main" id="{FCE2B28F-DC4B-2CAA-D736-7042BDD1564F}"/>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204787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75A5D-6083-49E0-EB07-46E46705DB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94158-D0ED-B328-7FB6-8508C50E72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EA2D35-2853-8EB1-AFAE-2A9E5C2B43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F664778-0B2B-73D7-BD5C-AE37BF503074}"/>
              </a:ext>
            </a:extLst>
          </p:cNvPr>
          <p:cNvSpPr>
            <a:spLocks noGrp="1"/>
          </p:cNvSpPr>
          <p:nvPr>
            <p:ph type="ftr" sz="quarter" idx="11"/>
          </p:nvPr>
        </p:nvSpPr>
        <p:spPr/>
        <p:txBody>
          <a:bodyPr/>
          <a:lstStyle/>
          <a:p>
            <a:r>
              <a:rPr lang="en-US"/>
              <a:t>GEOL 599</a:t>
            </a:r>
          </a:p>
        </p:txBody>
      </p:sp>
      <p:sp>
        <p:nvSpPr>
          <p:cNvPr id="7" name="Slide Number Placeholder 6">
            <a:extLst>
              <a:ext uri="{FF2B5EF4-FFF2-40B4-BE49-F238E27FC236}">
                <a16:creationId xmlns:a16="http://schemas.microsoft.com/office/drawing/2014/main" id="{77B6A1EE-6D0F-02A2-34F3-06FAF29A1888}"/>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3066510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D206-18F2-9CE1-11FE-5F7FD5C753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1E4094-9CD9-970B-A183-C9901E31D423}"/>
              </a:ext>
            </a:extLst>
          </p:cNvPr>
          <p:cNvSpPr>
            <a:spLocks noGrp="1"/>
          </p:cNvSpPr>
          <p:nvPr>
            <p:ph type="dt" sz="half" idx="10"/>
          </p:nvPr>
        </p:nvSpPr>
        <p:spPr>
          <a:xfrm>
            <a:off x="838200" y="6356350"/>
            <a:ext cx="2743200" cy="365125"/>
          </a:xfrm>
          <a:prstGeom prst="rect">
            <a:avLst/>
          </a:prstGeom>
        </p:spPr>
        <p:txBody>
          <a:bodyPr/>
          <a:lstStyle/>
          <a:p>
            <a:fld id="{22FBD965-6108-7945-883E-024EB22FF9F9}" type="datetime1">
              <a:rPr lang="en-US" smtClean="0"/>
              <a:t>9/29/26</a:t>
            </a:fld>
            <a:endParaRPr lang="en-US"/>
          </a:p>
        </p:txBody>
      </p:sp>
      <p:sp>
        <p:nvSpPr>
          <p:cNvPr id="4" name="Footer Placeholder 3">
            <a:extLst>
              <a:ext uri="{FF2B5EF4-FFF2-40B4-BE49-F238E27FC236}">
                <a16:creationId xmlns:a16="http://schemas.microsoft.com/office/drawing/2014/main" id="{78655C67-D7DD-F09A-B00B-A801CAB65AC7}"/>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84401E41-A874-FA58-18A5-EA60211D0E73}"/>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502197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F5D95-40F0-0635-C904-7E748079148B}"/>
              </a:ext>
            </a:extLst>
          </p:cNvPr>
          <p:cNvSpPr>
            <a:spLocks noGrp="1"/>
          </p:cNvSpPr>
          <p:nvPr>
            <p:ph type="dt" sz="half" idx="10"/>
          </p:nvPr>
        </p:nvSpPr>
        <p:spPr>
          <a:xfrm>
            <a:off x="838200" y="6356350"/>
            <a:ext cx="2743200" cy="365125"/>
          </a:xfrm>
          <a:prstGeom prst="rect">
            <a:avLst/>
          </a:prstGeom>
        </p:spPr>
        <p:txBody>
          <a:bodyPr/>
          <a:lstStyle/>
          <a:p>
            <a:fld id="{0275880B-0B4C-2E4A-B266-E0FE9A68D62F}" type="datetime1">
              <a:rPr lang="en-US" smtClean="0"/>
              <a:t>9/29/26</a:t>
            </a:fld>
            <a:endParaRPr lang="en-US"/>
          </a:p>
        </p:txBody>
      </p:sp>
      <p:sp>
        <p:nvSpPr>
          <p:cNvPr id="3" name="Footer Placeholder 2">
            <a:extLst>
              <a:ext uri="{FF2B5EF4-FFF2-40B4-BE49-F238E27FC236}">
                <a16:creationId xmlns:a16="http://schemas.microsoft.com/office/drawing/2014/main" id="{74DB12B9-C9F2-BACD-A839-913B604B56CD}"/>
              </a:ext>
            </a:extLst>
          </p:cNvPr>
          <p:cNvSpPr>
            <a:spLocks noGrp="1"/>
          </p:cNvSpPr>
          <p:nvPr>
            <p:ph type="ftr" sz="quarter" idx="11"/>
          </p:nvPr>
        </p:nvSpPr>
        <p:spPr/>
        <p:txBody>
          <a:bodyPr/>
          <a:lstStyle/>
          <a:p>
            <a:r>
              <a:rPr lang="en-US"/>
              <a:t>GEOL 599</a:t>
            </a:r>
          </a:p>
        </p:txBody>
      </p:sp>
      <p:sp>
        <p:nvSpPr>
          <p:cNvPr id="4" name="Slide Number Placeholder 3">
            <a:extLst>
              <a:ext uri="{FF2B5EF4-FFF2-40B4-BE49-F238E27FC236}">
                <a16:creationId xmlns:a16="http://schemas.microsoft.com/office/drawing/2014/main" id="{84A29665-3410-49BB-1D7A-41AF6002487A}"/>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1924849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3C0E-7FC5-B6FD-1C83-A481576B9B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A655D9-2AF1-203E-B440-CA1770A50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0E54E5-7F53-5749-117E-C893269717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A3D668-5A6A-2815-6A54-44B974F023FF}"/>
              </a:ext>
            </a:extLst>
          </p:cNvPr>
          <p:cNvSpPr>
            <a:spLocks noGrp="1"/>
          </p:cNvSpPr>
          <p:nvPr>
            <p:ph type="dt" sz="half" idx="10"/>
          </p:nvPr>
        </p:nvSpPr>
        <p:spPr>
          <a:xfrm>
            <a:off x="838200" y="6356350"/>
            <a:ext cx="2743200" cy="365125"/>
          </a:xfrm>
          <a:prstGeom prst="rect">
            <a:avLst/>
          </a:prstGeom>
        </p:spPr>
        <p:txBody>
          <a:bodyPr/>
          <a:lstStyle/>
          <a:p>
            <a:fld id="{12EC2D56-32BF-9F41-918E-49D0AA578943}" type="datetime1">
              <a:rPr lang="en-US" smtClean="0"/>
              <a:t>9/29/26</a:t>
            </a:fld>
            <a:endParaRPr lang="en-US"/>
          </a:p>
        </p:txBody>
      </p:sp>
      <p:sp>
        <p:nvSpPr>
          <p:cNvPr id="6" name="Footer Placeholder 5">
            <a:extLst>
              <a:ext uri="{FF2B5EF4-FFF2-40B4-BE49-F238E27FC236}">
                <a16:creationId xmlns:a16="http://schemas.microsoft.com/office/drawing/2014/main" id="{8053E52E-D8F4-5313-1B36-986748552080}"/>
              </a:ext>
            </a:extLst>
          </p:cNvPr>
          <p:cNvSpPr>
            <a:spLocks noGrp="1"/>
          </p:cNvSpPr>
          <p:nvPr>
            <p:ph type="ftr" sz="quarter" idx="11"/>
          </p:nvPr>
        </p:nvSpPr>
        <p:spPr/>
        <p:txBody>
          <a:bodyPr/>
          <a:lstStyle/>
          <a:p>
            <a:r>
              <a:rPr lang="en-US"/>
              <a:t>GEOL 599</a:t>
            </a:r>
          </a:p>
        </p:txBody>
      </p:sp>
      <p:sp>
        <p:nvSpPr>
          <p:cNvPr id="7" name="Slide Number Placeholder 6">
            <a:extLst>
              <a:ext uri="{FF2B5EF4-FFF2-40B4-BE49-F238E27FC236}">
                <a16:creationId xmlns:a16="http://schemas.microsoft.com/office/drawing/2014/main" id="{2BC80849-1A56-0383-E5C4-97DDE0488723}"/>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857416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B588-3C09-D5CF-2676-6FC7737E3C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D266BE-5A12-67D9-057B-1BBF237367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161E22-66C9-B589-0129-498B002A0EC5}"/>
              </a:ext>
            </a:extLst>
          </p:cNvPr>
          <p:cNvSpPr>
            <a:spLocks noGrp="1"/>
          </p:cNvSpPr>
          <p:nvPr>
            <p:ph type="dt" sz="half" idx="10"/>
          </p:nvPr>
        </p:nvSpPr>
        <p:spPr>
          <a:xfrm>
            <a:off x="838200" y="6356350"/>
            <a:ext cx="2743200" cy="365125"/>
          </a:xfrm>
          <a:prstGeom prst="rect">
            <a:avLst/>
          </a:prstGeom>
        </p:spPr>
        <p:txBody>
          <a:bodyPr/>
          <a:lstStyle/>
          <a:p>
            <a:fld id="{59722F35-E892-0345-AB79-C0946392D699}" type="datetime1">
              <a:rPr lang="en-US" smtClean="0"/>
              <a:t>9/29/26</a:t>
            </a:fld>
            <a:endParaRPr lang="en-US"/>
          </a:p>
        </p:txBody>
      </p:sp>
      <p:sp>
        <p:nvSpPr>
          <p:cNvPr id="5" name="Footer Placeholder 4">
            <a:extLst>
              <a:ext uri="{FF2B5EF4-FFF2-40B4-BE49-F238E27FC236}">
                <a16:creationId xmlns:a16="http://schemas.microsoft.com/office/drawing/2014/main" id="{67AE1508-762A-D53F-C7EC-9D9BF416BA06}"/>
              </a:ext>
            </a:extLst>
          </p:cNvPr>
          <p:cNvSpPr>
            <a:spLocks noGrp="1"/>
          </p:cNvSpPr>
          <p:nvPr>
            <p:ph type="ftr" sz="quarter" idx="11"/>
          </p:nvPr>
        </p:nvSpPr>
        <p:spPr/>
        <p:txBody>
          <a:bodyPr/>
          <a:lstStyle/>
          <a:p>
            <a:r>
              <a:rPr lang="en-US"/>
              <a:t>GEOL 599</a:t>
            </a:r>
          </a:p>
        </p:txBody>
      </p:sp>
      <p:sp>
        <p:nvSpPr>
          <p:cNvPr id="6" name="Slide Number Placeholder 5">
            <a:extLst>
              <a:ext uri="{FF2B5EF4-FFF2-40B4-BE49-F238E27FC236}">
                <a16:creationId xmlns:a16="http://schemas.microsoft.com/office/drawing/2014/main" id="{3410CDCB-37FC-4C2D-A3D2-0DD3FFECEA4F}"/>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1323050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3F802EE-C334-A1A8-98B8-350093E9A97B}"/>
              </a:ext>
            </a:extLst>
          </p:cNvPr>
          <p:cNvSpPr/>
          <p:nvPr userDrawn="1"/>
        </p:nvSpPr>
        <p:spPr>
          <a:xfrm>
            <a:off x="0" y="0"/>
            <a:ext cx="12192000" cy="1001486"/>
          </a:xfrm>
          <a:prstGeom prst="rect">
            <a:avLst/>
          </a:prstGeom>
          <a:solidFill>
            <a:srgbClr val="7300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DE59E362-3E7B-106E-C26F-017E025D026C}"/>
              </a:ext>
            </a:extLst>
          </p:cNvPr>
          <p:cNvSpPr>
            <a:spLocks noGrp="1"/>
          </p:cNvSpPr>
          <p:nvPr>
            <p:ph type="title"/>
          </p:nvPr>
        </p:nvSpPr>
        <p:spPr>
          <a:xfrm>
            <a:off x="838200" y="223611"/>
            <a:ext cx="10515600" cy="68787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DB616FF-4C58-32D3-4174-A5F9887DA9DC}"/>
              </a:ext>
            </a:extLst>
          </p:cNvPr>
          <p:cNvSpPr>
            <a:spLocks noGrp="1"/>
          </p:cNvSpPr>
          <p:nvPr>
            <p:ph type="body" idx="1"/>
          </p:nvPr>
        </p:nvSpPr>
        <p:spPr>
          <a:xfrm>
            <a:off x="838200" y="1135094"/>
            <a:ext cx="10515600" cy="50114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A32BC8C-1205-6412-7DF1-F9370BF637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US" dirty="0">
                <a:solidFill>
                  <a:schemeClr val="tx1"/>
                </a:solidFill>
              </a:rPr>
              <a:t>GEOL 599</a:t>
            </a:r>
          </a:p>
        </p:txBody>
      </p:sp>
      <p:sp>
        <p:nvSpPr>
          <p:cNvPr id="6" name="Slide Number Placeholder 5">
            <a:extLst>
              <a:ext uri="{FF2B5EF4-FFF2-40B4-BE49-F238E27FC236}">
                <a16:creationId xmlns:a16="http://schemas.microsoft.com/office/drawing/2014/main" id="{DADF6326-AC4E-DA41-3F99-70C0F11188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10A4AB6E-1AC4-C44F-A0CC-883A0306AF8B}" type="slidenum">
              <a:rPr lang="en-US" smtClean="0"/>
              <a:pPr/>
              <a:t>‹#›</a:t>
            </a:fld>
            <a:endParaRPr lang="en-US" dirty="0">
              <a:solidFill>
                <a:schemeClr val="tx1"/>
              </a:solidFill>
            </a:endParaRPr>
          </a:p>
        </p:txBody>
      </p:sp>
      <p:pic>
        <p:nvPicPr>
          <p:cNvPr id="8" name="Graphic 7">
            <a:extLst>
              <a:ext uri="{FF2B5EF4-FFF2-40B4-BE49-F238E27FC236}">
                <a16:creationId xmlns:a16="http://schemas.microsoft.com/office/drawing/2014/main" id="{896C53DE-F0FB-6345-E263-C4CF733709AE}"/>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78922" y="6036159"/>
            <a:ext cx="3159579" cy="913432"/>
          </a:xfrm>
          <a:prstGeom prst="rect">
            <a:avLst/>
          </a:prstGeom>
        </p:spPr>
      </p:pic>
    </p:spTree>
    <p:extLst>
      <p:ext uri="{BB962C8B-B14F-4D97-AF65-F5344CB8AC3E}">
        <p14:creationId xmlns:p14="http://schemas.microsoft.com/office/powerpoint/2010/main" val="4041495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7" r:id="rId6"/>
    <p:sldLayoutId id="2147483658" r:id="rId7"/>
  </p:sldLayoutIdLst>
  <p:hf hd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dblaskey/ML_Course_Cod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1D74B-1267-62B5-F4B9-8B9EE90CEDDD}"/>
              </a:ext>
            </a:extLst>
          </p:cNvPr>
          <p:cNvSpPr>
            <a:spLocks noGrp="1"/>
          </p:cNvSpPr>
          <p:nvPr>
            <p:ph type="ctrTitle"/>
          </p:nvPr>
        </p:nvSpPr>
        <p:spPr/>
        <p:txBody>
          <a:bodyPr/>
          <a:lstStyle/>
          <a:p>
            <a:r>
              <a:rPr lang="en-US" dirty="0"/>
              <a:t>GEOL 599</a:t>
            </a:r>
            <a:br>
              <a:rPr lang="en-US" dirty="0"/>
            </a:br>
            <a:r>
              <a:rPr lang="en-US" dirty="0"/>
              <a:t>Applied Machine Learning for Geoscience Data</a:t>
            </a:r>
          </a:p>
        </p:txBody>
      </p:sp>
      <p:sp>
        <p:nvSpPr>
          <p:cNvPr id="3" name="Subtitle 2">
            <a:extLst>
              <a:ext uri="{FF2B5EF4-FFF2-40B4-BE49-F238E27FC236}">
                <a16:creationId xmlns:a16="http://schemas.microsoft.com/office/drawing/2014/main" id="{D9FB06DC-E070-314E-1C1A-F8B257144CDD}"/>
              </a:ext>
            </a:extLst>
          </p:cNvPr>
          <p:cNvSpPr>
            <a:spLocks noGrp="1"/>
          </p:cNvSpPr>
          <p:nvPr>
            <p:ph type="subTitle" idx="1"/>
          </p:nvPr>
        </p:nvSpPr>
        <p:spPr/>
        <p:txBody>
          <a:bodyPr/>
          <a:lstStyle/>
          <a:p>
            <a:r>
              <a:rPr lang="en-US" dirty="0"/>
              <a:t>Lecture 12</a:t>
            </a:r>
          </a:p>
        </p:txBody>
      </p:sp>
      <p:sp>
        <p:nvSpPr>
          <p:cNvPr id="10" name="TextBox 9">
            <a:extLst>
              <a:ext uri="{FF2B5EF4-FFF2-40B4-BE49-F238E27FC236}">
                <a16:creationId xmlns:a16="http://schemas.microsoft.com/office/drawing/2014/main" id="{F1FCA0F4-200B-9DEE-1D44-C6B1B4432703}"/>
              </a:ext>
              <a:ext uri="{C183D7F6-B498-43B3-948B-1728B52AA6E4}">
                <adec:decorative xmlns:adec="http://schemas.microsoft.com/office/drawing/2017/decorative" val="0"/>
              </a:ext>
            </a:extLst>
          </p:cNvPr>
          <p:cNvSpPr txBox="1"/>
          <p:nvPr/>
        </p:nvSpPr>
        <p:spPr>
          <a:xfrm>
            <a:off x="949124" y="3703898"/>
            <a:ext cx="10232020" cy="830997"/>
          </a:xfrm>
          <a:prstGeom prst="rect">
            <a:avLst/>
          </a:prstGeom>
          <a:noFill/>
        </p:spPr>
        <p:txBody>
          <a:bodyPr wrap="square" rtlCol="0">
            <a:spAutoFit/>
          </a:bodyPr>
          <a:lstStyle/>
          <a:p>
            <a:pPr marL="342900" indent="-342900">
              <a:buFont typeface="+mj-lt"/>
              <a:buAutoNum type="arabicPeriod"/>
            </a:pPr>
            <a:r>
              <a:rPr lang="en-US" sz="2400" dirty="0"/>
              <a:t> Optimizers </a:t>
            </a:r>
          </a:p>
          <a:p>
            <a:pPr marL="342900" indent="-342900">
              <a:buFont typeface="+mj-lt"/>
              <a:buAutoNum type="arabicPeriod"/>
            </a:pPr>
            <a:r>
              <a:rPr lang="en-US" sz="2400" dirty="0"/>
              <a:t> Hyperparameters </a:t>
            </a:r>
          </a:p>
        </p:txBody>
      </p:sp>
      <p:sp>
        <p:nvSpPr>
          <p:cNvPr id="4" name="Footer Placeholder 3">
            <a:extLst>
              <a:ext uri="{FF2B5EF4-FFF2-40B4-BE49-F238E27FC236}">
                <a16:creationId xmlns:a16="http://schemas.microsoft.com/office/drawing/2014/main" id="{496939D3-C906-D27A-E627-E49703BA5AE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solidFill>
                  <a:schemeClr val="tx1"/>
                </a:solidFill>
              </a:rPr>
              <a:t>GEOL 599</a:t>
            </a:r>
            <a:endParaRPr lang="en-US" dirty="0">
              <a:solidFill>
                <a:schemeClr val="tx1"/>
              </a:solidFill>
            </a:endParaRPr>
          </a:p>
        </p:txBody>
      </p:sp>
      <p:sp>
        <p:nvSpPr>
          <p:cNvPr id="5" name="Slide Number Placeholder 4">
            <a:extLst>
              <a:ext uri="{FF2B5EF4-FFF2-40B4-BE49-F238E27FC236}">
                <a16:creationId xmlns:a16="http://schemas.microsoft.com/office/drawing/2014/main" id="{BE1ED953-1DCE-B252-D7D6-5DDFEE91540D}"/>
              </a:ext>
              <a:ext uri="{C183D7F6-B498-43B3-948B-1728B52AA6E4}">
                <adec:decorative xmlns:adec="http://schemas.microsoft.com/office/drawing/2017/decorative" val="1"/>
              </a:ext>
            </a:extLst>
          </p:cNvPr>
          <p:cNvSpPr>
            <a:spLocks noGrp="1"/>
          </p:cNvSpPr>
          <p:nvPr>
            <p:ph type="sldNum" sz="quarter" idx="12"/>
          </p:nvPr>
        </p:nvSpPr>
        <p:spPr/>
        <p:txBody>
          <a:bodyPr/>
          <a:lstStyle/>
          <a:p>
            <a:fld id="{10A4AB6E-1AC4-C44F-A0CC-883A0306AF8B}" type="slidenum">
              <a:rPr lang="en-US" smtClean="0"/>
              <a:pPr/>
              <a:t>1</a:t>
            </a:fld>
            <a:endParaRPr lang="en-US" dirty="0"/>
          </a:p>
        </p:txBody>
      </p:sp>
    </p:spTree>
    <p:extLst>
      <p:ext uri="{BB962C8B-B14F-4D97-AF65-F5344CB8AC3E}">
        <p14:creationId xmlns:p14="http://schemas.microsoft.com/office/powerpoint/2010/main" val="3198711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EDA1A-D841-4FAF-E7DD-5F024969E496}"/>
              </a:ext>
            </a:extLst>
          </p:cNvPr>
          <p:cNvSpPr>
            <a:spLocks noGrp="1"/>
          </p:cNvSpPr>
          <p:nvPr>
            <p:ph type="title"/>
          </p:nvPr>
        </p:nvSpPr>
        <p:spPr/>
        <p:txBody>
          <a:bodyPr>
            <a:normAutofit fontScale="90000"/>
          </a:bodyPr>
          <a:lstStyle/>
          <a:p>
            <a:r>
              <a:rPr lang="en-US" dirty="0"/>
              <a:t>Neural Network Overview</a:t>
            </a:r>
          </a:p>
        </p:txBody>
      </p:sp>
      <p:pic>
        <p:nvPicPr>
          <p:cNvPr id="7" name="Content Placeholder 6" descr="Neural-network architecture diagram showing inputs x₁ and x₂ passing through three fully connected layers with weights, scores, activation functions, and hidden units. Blue nodes mark inputs and scores, cyan nodes mark hidden units, gray blocks represent activation functions, and magenta nodes mark two outputs.&#10;">
            <a:extLst>
              <a:ext uri="{FF2B5EF4-FFF2-40B4-BE49-F238E27FC236}">
                <a16:creationId xmlns:a16="http://schemas.microsoft.com/office/drawing/2014/main" id="{9DA626DD-2BF4-1E5E-FF01-75FE247897FC}"/>
              </a:ext>
            </a:extLst>
          </p:cNvPr>
          <p:cNvPicPr>
            <a:picLocks noGrp="1" noChangeAspect="1"/>
          </p:cNvPicPr>
          <p:nvPr>
            <p:ph idx="1"/>
          </p:nvPr>
        </p:nvPicPr>
        <p:blipFill>
          <a:blip r:embed="rId2"/>
          <a:stretch>
            <a:fillRect/>
          </a:stretch>
        </p:blipFill>
        <p:spPr>
          <a:xfrm>
            <a:off x="1339850" y="1266031"/>
            <a:ext cx="9512300" cy="4749800"/>
          </a:xfrm>
          <a:prstGeom prst="rect">
            <a:avLst/>
          </a:prstGeom>
        </p:spPr>
      </p:pic>
      <p:sp>
        <p:nvSpPr>
          <p:cNvPr id="4" name="Footer Placeholder 3">
            <a:extLst>
              <a:ext uri="{FF2B5EF4-FFF2-40B4-BE49-F238E27FC236}">
                <a16:creationId xmlns:a16="http://schemas.microsoft.com/office/drawing/2014/main" id="{B80BBFF2-5412-D2B1-6DE1-906962C514EA}"/>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AE910FF1-10E9-8F17-9D5B-9911B5D8E41E}"/>
              </a:ext>
            </a:extLst>
          </p:cNvPr>
          <p:cNvSpPr>
            <a:spLocks noGrp="1"/>
          </p:cNvSpPr>
          <p:nvPr>
            <p:ph type="sldNum" sz="quarter" idx="12"/>
          </p:nvPr>
        </p:nvSpPr>
        <p:spPr/>
        <p:txBody>
          <a:bodyPr/>
          <a:lstStyle/>
          <a:p>
            <a:fld id="{10A4AB6E-1AC4-C44F-A0CC-883A0306AF8B}" type="slidenum">
              <a:rPr lang="en-US" smtClean="0"/>
              <a:t>2</a:t>
            </a:fld>
            <a:endParaRPr lang="en-US"/>
          </a:p>
        </p:txBody>
      </p:sp>
    </p:spTree>
    <p:extLst>
      <p:ext uri="{BB962C8B-B14F-4D97-AF65-F5344CB8AC3E}">
        <p14:creationId xmlns:p14="http://schemas.microsoft.com/office/powerpoint/2010/main" val="847660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6346-7FF5-1459-AE2D-91F87DB42644}"/>
              </a:ext>
            </a:extLst>
          </p:cNvPr>
          <p:cNvSpPr>
            <a:spLocks noGrp="1"/>
          </p:cNvSpPr>
          <p:nvPr>
            <p:ph type="title"/>
          </p:nvPr>
        </p:nvSpPr>
        <p:spPr/>
        <p:txBody>
          <a:bodyPr>
            <a:normAutofit fontScale="90000"/>
          </a:bodyPr>
          <a:lstStyle/>
          <a:p>
            <a:r>
              <a:rPr lang="en-US" dirty="0"/>
              <a:t>Optimizers</a:t>
            </a:r>
          </a:p>
        </p:txBody>
      </p:sp>
      <p:pic>
        <p:nvPicPr>
          <p:cNvPr id="7" name="Content Placeholder 6" descr="Line diagram illustrating neural-network optimizers minimizing loss as value of weight changes. A descending curve begins at marked starting point, shows iterative looping steps, and reaches convergence point at function minimum.&#10;&#10;">
            <a:extLst>
              <a:ext uri="{FF2B5EF4-FFF2-40B4-BE49-F238E27FC236}">
                <a16:creationId xmlns:a16="http://schemas.microsoft.com/office/drawing/2014/main" id="{054DC367-0058-72CA-2486-04B3CEDEBCCA}"/>
              </a:ext>
            </a:extLst>
          </p:cNvPr>
          <p:cNvPicPr>
            <a:picLocks noGrp="1" noChangeAspect="1"/>
          </p:cNvPicPr>
          <p:nvPr>
            <p:ph idx="1"/>
          </p:nvPr>
        </p:nvPicPr>
        <p:blipFill>
          <a:blip r:embed="rId3"/>
          <a:stretch>
            <a:fillRect/>
          </a:stretch>
        </p:blipFill>
        <p:spPr>
          <a:xfrm>
            <a:off x="2445992" y="2041644"/>
            <a:ext cx="7300016" cy="4314706"/>
          </a:xfrm>
          <a:prstGeom prst="rect">
            <a:avLst/>
          </a:prstGeom>
        </p:spPr>
      </p:pic>
      <p:sp>
        <p:nvSpPr>
          <p:cNvPr id="4" name="Footer Placeholder 3">
            <a:extLst>
              <a:ext uri="{FF2B5EF4-FFF2-40B4-BE49-F238E27FC236}">
                <a16:creationId xmlns:a16="http://schemas.microsoft.com/office/drawing/2014/main" id="{9383FFC3-A77C-D633-1A3A-277D78B47803}"/>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EC0A040D-8E4C-FDB5-7BF7-ED554EACADA5}"/>
              </a:ext>
            </a:extLst>
          </p:cNvPr>
          <p:cNvSpPr>
            <a:spLocks noGrp="1"/>
          </p:cNvSpPr>
          <p:nvPr>
            <p:ph type="sldNum" sz="quarter" idx="12"/>
          </p:nvPr>
        </p:nvSpPr>
        <p:spPr/>
        <p:txBody>
          <a:bodyPr/>
          <a:lstStyle/>
          <a:p>
            <a:fld id="{10A4AB6E-1AC4-C44F-A0CC-883A0306AF8B}" type="slidenum">
              <a:rPr lang="en-US" smtClean="0"/>
              <a:t>3</a:t>
            </a:fld>
            <a:endParaRPr lang="en-US"/>
          </a:p>
        </p:txBody>
      </p:sp>
      <p:sp>
        <p:nvSpPr>
          <p:cNvPr id="8" name="TextBox 7">
            <a:extLst>
              <a:ext uri="{FF2B5EF4-FFF2-40B4-BE49-F238E27FC236}">
                <a16:creationId xmlns:a16="http://schemas.microsoft.com/office/drawing/2014/main" id="{F834A210-B41A-74A5-6E39-8BAEE73C1ACB}"/>
              </a:ext>
            </a:extLst>
          </p:cNvPr>
          <p:cNvSpPr txBox="1"/>
          <p:nvPr/>
        </p:nvSpPr>
        <p:spPr>
          <a:xfrm>
            <a:off x="531339" y="1153398"/>
            <a:ext cx="11022229" cy="707886"/>
          </a:xfrm>
          <a:prstGeom prst="rect">
            <a:avLst/>
          </a:prstGeom>
          <a:noFill/>
        </p:spPr>
        <p:txBody>
          <a:bodyPr wrap="square" rtlCol="0">
            <a:spAutoFit/>
          </a:bodyPr>
          <a:lstStyle/>
          <a:p>
            <a:r>
              <a:rPr lang="en-US" sz="2000" dirty="0"/>
              <a:t>Optimizers efficiently navigate the complex landscape of weight parameters, reducing the loss function, and converging toward the </a:t>
            </a:r>
            <a:r>
              <a:rPr lang="en-US" sz="2000" b="1" dirty="0"/>
              <a:t>global minima</a:t>
            </a:r>
            <a:r>
              <a:rPr lang="en-US" sz="2000" dirty="0"/>
              <a:t> </a:t>
            </a:r>
          </a:p>
        </p:txBody>
      </p:sp>
    </p:spTree>
    <p:extLst>
      <p:ext uri="{BB962C8B-B14F-4D97-AF65-F5344CB8AC3E}">
        <p14:creationId xmlns:p14="http://schemas.microsoft.com/office/powerpoint/2010/main" val="253874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67F12-9CF6-EFE8-374C-2E6661FD3FBE}"/>
              </a:ext>
            </a:extLst>
          </p:cNvPr>
          <p:cNvSpPr>
            <a:spLocks noGrp="1"/>
          </p:cNvSpPr>
          <p:nvPr>
            <p:ph type="title"/>
          </p:nvPr>
        </p:nvSpPr>
        <p:spPr/>
        <p:txBody>
          <a:bodyPr>
            <a:normAutofit fontScale="90000"/>
          </a:bodyPr>
          <a:lstStyle/>
          <a:p>
            <a:r>
              <a:rPr lang="en-US" dirty="0"/>
              <a:t>Convex vs. Non-Convex Optimization</a:t>
            </a:r>
          </a:p>
        </p:txBody>
      </p:sp>
      <p:pic>
        <p:nvPicPr>
          <p:cNvPr id="7" name="Content Placeholder 6" descr="Two-panel instructional diagram compares convex and non-convex functions. Left panel shows a red convex curve below blue straight line joining two points, while right panel shows a red non-convex curve crossing above and below blue line.&#10;&#10;">
            <a:extLst>
              <a:ext uri="{FF2B5EF4-FFF2-40B4-BE49-F238E27FC236}">
                <a16:creationId xmlns:a16="http://schemas.microsoft.com/office/drawing/2014/main" id="{C4B3A763-2F95-967E-F0E1-13E4235B5896}"/>
              </a:ext>
            </a:extLst>
          </p:cNvPr>
          <p:cNvPicPr>
            <a:picLocks noGrp="1" noChangeAspect="1"/>
          </p:cNvPicPr>
          <p:nvPr>
            <p:ph idx="1"/>
          </p:nvPr>
        </p:nvPicPr>
        <p:blipFill>
          <a:blip r:embed="rId3"/>
          <a:stretch>
            <a:fillRect/>
          </a:stretch>
        </p:blipFill>
        <p:spPr>
          <a:xfrm>
            <a:off x="1276350" y="1485900"/>
            <a:ext cx="9639300" cy="3886200"/>
          </a:xfrm>
          <a:prstGeom prst="rect">
            <a:avLst/>
          </a:prstGeom>
        </p:spPr>
      </p:pic>
      <p:sp>
        <p:nvSpPr>
          <p:cNvPr id="4" name="Footer Placeholder 3">
            <a:extLst>
              <a:ext uri="{FF2B5EF4-FFF2-40B4-BE49-F238E27FC236}">
                <a16:creationId xmlns:a16="http://schemas.microsoft.com/office/drawing/2014/main" id="{D9380D55-4DF1-383C-24C1-AF58359D3C9A}"/>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6B0EF1D5-DB84-4301-3075-05201BF19B14}"/>
              </a:ext>
            </a:extLst>
          </p:cNvPr>
          <p:cNvSpPr>
            <a:spLocks noGrp="1"/>
          </p:cNvSpPr>
          <p:nvPr>
            <p:ph type="sldNum" sz="quarter" idx="12"/>
          </p:nvPr>
        </p:nvSpPr>
        <p:spPr/>
        <p:txBody>
          <a:bodyPr/>
          <a:lstStyle/>
          <a:p>
            <a:fld id="{10A4AB6E-1AC4-C44F-A0CC-883A0306AF8B}" type="slidenum">
              <a:rPr lang="en-US" smtClean="0"/>
              <a:t>4</a:t>
            </a:fld>
            <a:endParaRPr lang="en-US"/>
          </a:p>
        </p:txBody>
      </p:sp>
    </p:spTree>
    <p:extLst>
      <p:ext uri="{BB962C8B-B14F-4D97-AF65-F5344CB8AC3E}">
        <p14:creationId xmlns:p14="http://schemas.microsoft.com/office/powerpoint/2010/main" val="1000438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67927-2429-6D4E-021D-B326824ECD74}"/>
              </a:ext>
            </a:extLst>
          </p:cNvPr>
          <p:cNvSpPr>
            <a:spLocks noGrp="1"/>
          </p:cNvSpPr>
          <p:nvPr>
            <p:ph type="title"/>
          </p:nvPr>
        </p:nvSpPr>
        <p:spPr/>
        <p:txBody>
          <a:bodyPr>
            <a:normAutofit fontScale="90000"/>
          </a:bodyPr>
          <a:lstStyle/>
          <a:p>
            <a:r>
              <a:rPr lang="en-US" dirty="0"/>
              <a:t>Optimizer to update weights</a:t>
            </a:r>
          </a:p>
        </p:txBody>
      </p:sp>
      <p:pic>
        <p:nvPicPr>
          <p:cNvPr id="7" name="Content Placeholder 6" descr="Educational text graphic presents gradient-descent weight update equation, \(w_{new}=w_{old}-\eta \frac{\partial L}{\partial w}\), for minimizing loss. Bullets define updated and previous weights, learning rate \(\eta\), and loss gradient with respect to weights. ">
            <a:extLst>
              <a:ext uri="{FF2B5EF4-FFF2-40B4-BE49-F238E27FC236}">
                <a16:creationId xmlns:a16="http://schemas.microsoft.com/office/drawing/2014/main" id="{C40D3D1A-75F1-1AFB-9CC1-18A2B2044A4B}"/>
              </a:ext>
            </a:extLst>
          </p:cNvPr>
          <p:cNvPicPr>
            <a:picLocks noGrp="1" noChangeAspect="1"/>
          </p:cNvPicPr>
          <p:nvPr>
            <p:ph idx="1"/>
          </p:nvPr>
        </p:nvPicPr>
        <p:blipFill>
          <a:blip r:embed="rId3"/>
          <a:stretch>
            <a:fillRect/>
          </a:stretch>
        </p:blipFill>
        <p:spPr>
          <a:xfrm>
            <a:off x="1765300" y="1151731"/>
            <a:ext cx="8661400" cy="4978400"/>
          </a:xfrm>
          <a:prstGeom prst="rect">
            <a:avLst/>
          </a:prstGeom>
        </p:spPr>
      </p:pic>
      <p:sp>
        <p:nvSpPr>
          <p:cNvPr id="4" name="Footer Placeholder 3">
            <a:extLst>
              <a:ext uri="{FF2B5EF4-FFF2-40B4-BE49-F238E27FC236}">
                <a16:creationId xmlns:a16="http://schemas.microsoft.com/office/drawing/2014/main" id="{A6A74305-0FFF-3045-DEE4-FB285DDBE67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52C4466-6C66-5E23-DE78-F0B75E52D62F}"/>
              </a:ext>
            </a:extLst>
          </p:cNvPr>
          <p:cNvSpPr>
            <a:spLocks noGrp="1"/>
          </p:cNvSpPr>
          <p:nvPr>
            <p:ph type="sldNum" sz="quarter" idx="12"/>
          </p:nvPr>
        </p:nvSpPr>
        <p:spPr/>
        <p:txBody>
          <a:bodyPr/>
          <a:lstStyle/>
          <a:p>
            <a:fld id="{10A4AB6E-1AC4-C44F-A0CC-883A0306AF8B}" type="slidenum">
              <a:rPr lang="en-US" smtClean="0"/>
              <a:t>5</a:t>
            </a:fld>
            <a:endParaRPr lang="en-US"/>
          </a:p>
        </p:txBody>
      </p:sp>
    </p:spTree>
    <p:extLst>
      <p:ext uri="{BB962C8B-B14F-4D97-AF65-F5344CB8AC3E}">
        <p14:creationId xmlns:p14="http://schemas.microsoft.com/office/powerpoint/2010/main" val="3279430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4B68D-7286-9D9E-0ABE-9BCC064B3153}"/>
              </a:ext>
            </a:extLst>
          </p:cNvPr>
          <p:cNvSpPr>
            <a:spLocks noGrp="1"/>
          </p:cNvSpPr>
          <p:nvPr>
            <p:ph type="title"/>
          </p:nvPr>
        </p:nvSpPr>
        <p:spPr/>
        <p:txBody>
          <a:bodyPr>
            <a:normAutofit fontScale="90000"/>
          </a:bodyPr>
          <a:lstStyle/>
          <a:p>
            <a:r>
              <a:rPr lang="en-US" dirty="0"/>
              <a:t>Gradient Descent</a:t>
            </a:r>
          </a:p>
        </p:txBody>
      </p:sp>
      <p:pic>
        <p:nvPicPr>
          <p:cNvPr id="6" name="Content Placeholder 5" descr="Diagram illustrating gradient descent for minimizing cost by adjusting weight. Cost-versus-weight curve shows initial weight, black incremental steps moving downhill along gradient toward minimum cost, with orange derivative curve and labeled axes.&#10;">
            <a:extLst>
              <a:ext uri="{FF2B5EF4-FFF2-40B4-BE49-F238E27FC236}">
                <a16:creationId xmlns:a16="http://schemas.microsoft.com/office/drawing/2014/main" id="{181CC466-4642-B9E8-5FCC-4A30A8E265FA}"/>
              </a:ext>
              <a:ext uri="{C183D7F6-B498-43B3-948B-1728B52AA6E4}">
                <adec:decorative xmlns:adec="http://schemas.microsoft.com/office/drawing/2017/decorative" val="0"/>
              </a:ext>
            </a:extLst>
          </p:cNvPr>
          <p:cNvPicPr>
            <a:picLocks noGrp="1" noChangeAspect="1"/>
          </p:cNvPicPr>
          <p:nvPr>
            <p:ph idx="1"/>
          </p:nvPr>
        </p:nvPicPr>
        <p:blipFill>
          <a:blip r:embed="rId3"/>
          <a:stretch>
            <a:fillRect/>
          </a:stretch>
        </p:blipFill>
        <p:spPr>
          <a:xfrm>
            <a:off x="2058767" y="1135063"/>
            <a:ext cx="8074465" cy="5011737"/>
          </a:xfrm>
          <a:prstGeom prst="rect">
            <a:avLst/>
          </a:prstGeom>
        </p:spPr>
      </p:pic>
      <p:sp>
        <p:nvSpPr>
          <p:cNvPr id="4" name="Footer Placeholder 3">
            <a:extLst>
              <a:ext uri="{FF2B5EF4-FFF2-40B4-BE49-F238E27FC236}">
                <a16:creationId xmlns:a16="http://schemas.microsoft.com/office/drawing/2014/main" id="{096BF713-F03B-41EA-1FA5-FE57B649384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34CFB3CB-DB76-62BC-FFE7-EBA569D14672}"/>
              </a:ext>
            </a:extLst>
          </p:cNvPr>
          <p:cNvSpPr>
            <a:spLocks noGrp="1"/>
          </p:cNvSpPr>
          <p:nvPr>
            <p:ph type="sldNum" sz="quarter" idx="12"/>
          </p:nvPr>
        </p:nvSpPr>
        <p:spPr/>
        <p:txBody>
          <a:bodyPr/>
          <a:lstStyle/>
          <a:p>
            <a:fld id="{10A4AB6E-1AC4-C44F-A0CC-883A0306AF8B}" type="slidenum">
              <a:rPr lang="en-US" smtClean="0"/>
              <a:t>6</a:t>
            </a:fld>
            <a:endParaRPr lang="en-US"/>
          </a:p>
        </p:txBody>
      </p:sp>
    </p:spTree>
    <p:extLst>
      <p:ext uri="{BB962C8B-B14F-4D97-AF65-F5344CB8AC3E}">
        <p14:creationId xmlns:p14="http://schemas.microsoft.com/office/powerpoint/2010/main" val="3998162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8D783-36F5-B156-B733-CC851BE1E88C}"/>
              </a:ext>
            </a:extLst>
          </p:cNvPr>
          <p:cNvSpPr>
            <a:spLocks noGrp="1"/>
          </p:cNvSpPr>
          <p:nvPr>
            <p:ph type="title"/>
          </p:nvPr>
        </p:nvSpPr>
        <p:spPr/>
        <p:txBody>
          <a:bodyPr>
            <a:normAutofit fontScale="90000"/>
          </a:bodyPr>
          <a:lstStyle/>
          <a:p>
            <a:r>
              <a:rPr lang="en-US" dirty="0"/>
              <a:t>Stochastic/Mini-Batch Gradient Descent</a:t>
            </a:r>
          </a:p>
        </p:txBody>
      </p:sp>
      <p:sp>
        <p:nvSpPr>
          <p:cNvPr id="3" name="Content Placeholder 2">
            <a:extLst>
              <a:ext uri="{FF2B5EF4-FFF2-40B4-BE49-F238E27FC236}">
                <a16:creationId xmlns:a16="http://schemas.microsoft.com/office/drawing/2014/main" id="{49B47E45-EDD3-B8DB-1CE5-F0ED9BFB80C7}"/>
              </a:ext>
            </a:extLst>
          </p:cNvPr>
          <p:cNvSpPr>
            <a:spLocks noGrp="1"/>
          </p:cNvSpPr>
          <p:nvPr>
            <p:ph idx="1"/>
          </p:nvPr>
        </p:nvSpPr>
        <p:spPr/>
        <p:txBody>
          <a:bodyPr/>
          <a:lstStyle/>
          <a:p>
            <a:pPr marL="0" indent="0">
              <a:buNone/>
            </a:pPr>
            <a:r>
              <a:rPr lang="en-US" dirty="0"/>
              <a:t>Randomly selects a single sample or small batch (Mini-Batch Gradient Descent) from the dataset to update the weights during each iteration.</a:t>
            </a:r>
          </a:p>
          <a:p>
            <a:pPr lvl="0"/>
            <a:r>
              <a:rPr lang="en-US" dirty="0"/>
              <a:t>Initialization:</a:t>
            </a:r>
            <a:br>
              <a:rPr lang="en-US" dirty="0"/>
            </a:br>
            <a:r>
              <a:rPr lang="en-US" dirty="0"/>
              <a:t>Select initial weight parameters (w) and learning rate (</a:t>
            </a:r>
            <a:r>
              <a:rPr lang="en-US" dirty="0" err="1"/>
              <a:t>η</a:t>
            </a:r>
            <a:r>
              <a:rPr lang="en-US" dirty="0"/>
              <a:t>).</a:t>
            </a:r>
          </a:p>
          <a:p>
            <a:pPr lvl="0"/>
            <a:r>
              <a:rPr lang="en-US" dirty="0"/>
              <a:t>Data Shuffling:</a:t>
            </a:r>
            <a:br>
              <a:rPr lang="en-US" dirty="0"/>
            </a:br>
            <a:r>
              <a:rPr lang="en-US" dirty="0"/>
              <a:t>Randomly shuffle the dataset at the beginning of each epoch to prevent biased learning.</a:t>
            </a:r>
          </a:p>
          <a:p>
            <a:pPr lvl="0"/>
            <a:r>
              <a:rPr lang="en-US" dirty="0"/>
              <a:t>Weight Updates:</a:t>
            </a:r>
            <a:br>
              <a:rPr lang="en-US" dirty="0"/>
            </a:br>
            <a:r>
              <a:rPr lang="en-US" dirty="0"/>
              <a:t>For each randomly selected sample or group of samples, compute the gradient of the loss function and update weights</a:t>
            </a:r>
          </a:p>
          <a:p>
            <a:endParaRPr lang="en-US" dirty="0"/>
          </a:p>
        </p:txBody>
      </p:sp>
      <p:sp>
        <p:nvSpPr>
          <p:cNvPr id="4" name="Footer Placeholder 3">
            <a:extLst>
              <a:ext uri="{FF2B5EF4-FFF2-40B4-BE49-F238E27FC236}">
                <a16:creationId xmlns:a16="http://schemas.microsoft.com/office/drawing/2014/main" id="{D131C1F3-9313-7561-19EE-8C62F59C07EC}"/>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C4AC700F-A609-C2AB-20E3-2CA7B1205D9B}"/>
              </a:ext>
            </a:extLst>
          </p:cNvPr>
          <p:cNvSpPr>
            <a:spLocks noGrp="1"/>
          </p:cNvSpPr>
          <p:nvPr>
            <p:ph type="sldNum" sz="quarter" idx="12"/>
          </p:nvPr>
        </p:nvSpPr>
        <p:spPr/>
        <p:txBody>
          <a:bodyPr/>
          <a:lstStyle/>
          <a:p>
            <a:fld id="{10A4AB6E-1AC4-C44F-A0CC-883A0306AF8B}" type="slidenum">
              <a:rPr lang="en-US" smtClean="0"/>
              <a:t>7</a:t>
            </a:fld>
            <a:endParaRPr lang="en-US"/>
          </a:p>
        </p:txBody>
      </p:sp>
    </p:spTree>
    <p:extLst>
      <p:ext uri="{BB962C8B-B14F-4D97-AF65-F5344CB8AC3E}">
        <p14:creationId xmlns:p14="http://schemas.microsoft.com/office/powerpoint/2010/main" val="4085182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99A30-A7D1-6DFD-F8F2-08F0DA9B7896}"/>
              </a:ext>
            </a:extLst>
          </p:cNvPr>
          <p:cNvSpPr>
            <a:spLocks noGrp="1"/>
          </p:cNvSpPr>
          <p:nvPr>
            <p:ph type="title"/>
          </p:nvPr>
        </p:nvSpPr>
        <p:spPr/>
        <p:txBody>
          <a:bodyPr>
            <a:normAutofit fontScale="90000"/>
          </a:bodyPr>
          <a:lstStyle/>
          <a:p>
            <a:r>
              <a:rPr lang="en-US" dirty="0"/>
              <a:t>Why (not) SGD</a:t>
            </a:r>
          </a:p>
        </p:txBody>
      </p:sp>
      <p:sp>
        <p:nvSpPr>
          <p:cNvPr id="3" name="Content Placeholder 2">
            <a:extLst>
              <a:ext uri="{FF2B5EF4-FFF2-40B4-BE49-F238E27FC236}">
                <a16:creationId xmlns:a16="http://schemas.microsoft.com/office/drawing/2014/main" id="{C8CE2760-1D7E-25CF-B845-A149E8C54D9E}"/>
              </a:ext>
            </a:extLst>
          </p:cNvPr>
          <p:cNvSpPr>
            <a:spLocks noGrp="1"/>
          </p:cNvSpPr>
          <p:nvPr>
            <p:ph idx="1"/>
          </p:nvPr>
        </p:nvSpPr>
        <p:spPr/>
        <p:txBody>
          <a:bodyPr>
            <a:normAutofit/>
          </a:bodyPr>
          <a:lstStyle/>
          <a:p>
            <a:r>
              <a:rPr lang="en-US" dirty="0"/>
              <a:t>Pros of Stochastic Gradient Descent</a:t>
            </a:r>
          </a:p>
          <a:p>
            <a:pPr lvl="1"/>
            <a:r>
              <a:rPr lang="en-US" dirty="0"/>
              <a:t>Efficiency with Large Datasets</a:t>
            </a:r>
          </a:p>
          <a:p>
            <a:pPr lvl="1"/>
            <a:r>
              <a:rPr lang="en-US" dirty="0"/>
              <a:t>Faster Convergence</a:t>
            </a:r>
          </a:p>
          <a:p>
            <a:pPr lvl="1"/>
            <a:r>
              <a:rPr lang="en-US" dirty="0"/>
              <a:t>Online Learning</a:t>
            </a:r>
          </a:p>
          <a:p>
            <a:pPr lvl="0"/>
            <a:r>
              <a:rPr lang="en-US" dirty="0"/>
              <a:t>Cons of Stochastic Gradient Descent</a:t>
            </a:r>
          </a:p>
          <a:p>
            <a:pPr lvl="1"/>
            <a:r>
              <a:rPr lang="en-US" dirty="0"/>
              <a:t>Noisy Optimization Path</a:t>
            </a:r>
          </a:p>
          <a:p>
            <a:pPr lvl="1"/>
            <a:r>
              <a:rPr lang="en-US" dirty="0"/>
              <a:t>Increased Number of Iterations</a:t>
            </a:r>
          </a:p>
          <a:p>
            <a:pPr lvl="1"/>
            <a:r>
              <a:rPr lang="en-US" dirty="0"/>
              <a:t>Hyperparameter Sensitivity</a:t>
            </a:r>
          </a:p>
          <a:p>
            <a:pPr lvl="1"/>
            <a:r>
              <a:rPr lang="en-US" dirty="0"/>
              <a:t>Poor Convergence Stability</a:t>
            </a:r>
          </a:p>
        </p:txBody>
      </p:sp>
      <p:sp>
        <p:nvSpPr>
          <p:cNvPr id="4" name="Footer Placeholder 3">
            <a:extLst>
              <a:ext uri="{FF2B5EF4-FFF2-40B4-BE49-F238E27FC236}">
                <a16:creationId xmlns:a16="http://schemas.microsoft.com/office/drawing/2014/main" id="{14F25622-8637-EE7B-4F2A-D94B9E09616D}"/>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37C8C648-C70C-3C61-7D9F-DB7E62A1B9B6}"/>
              </a:ext>
            </a:extLst>
          </p:cNvPr>
          <p:cNvSpPr>
            <a:spLocks noGrp="1"/>
          </p:cNvSpPr>
          <p:nvPr>
            <p:ph type="sldNum" sz="quarter" idx="12"/>
          </p:nvPr>
        </p:nvSpPr>
        <p:spPr/>
        <p:txBody>
          <a:bodyPr/>
          <a:lstStyle/>
          <a:p>
            <a:fld id="{10A4AB6E-1AC4-C44F-A0CC-883A0306AF8B}" type="slidenum">
              <a:rPr lang="en-US" smtClean="0"/>
              <a:t>8</a:t>
            </a:fld>
            <a:endParaRPr lang="en-US"/>
          </a:p>
        </p:txBody>
      </p:sp>
    </p:spTree>
    <p:extLst>
      <p:ext uri="{BB962C8B-B14F-4D97-AF65-F5344CB8AC3E}">
        <p14:creationId xmlns:p14="http://schemas.microsoft.com/office/powerpoint/2010/main" val="3554922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47F56-649C-24A2-42CF-BED4010E7ECC}"/>
              </a:ext>
            </a:extLst>
          </p:cNvPr>
          <p:cNvSpPr>
            <a:spLocks noGrp="1"/>
          </p:cNvSpPr>
          <p:nvPr>
            <p:ph type="title"/>
          </p:nvPr>
        </p:nvSpPr>
        <p:spPr/>
        <p:txBody>
          <a:bodyPr>
            <a:normAutofit fontScale="90000"/>
          </a:bodyPr>
          <a:lstStyle/>
          <a:p>
            <a:r>
              <a:rPr lang="en-US" dirty="0"/>
              <a:t>Stochastic Gradient Descent with Momentum</a:t>
            </a:r>
          </a:p>
        </p:txBody>
      </p:sp>
      <p:sp>
        <p:nvSpPr>
          <p:cNvPr id="3" name="Content Placeholder 2">
            <a:extLst>
              <a:ext uri="{FF2B5EF4-FFF2-40B4-BE49-F238E27FC236}">
                <a16:creationId xmlns:a16="http://schemas.microsoft.com/office/drawing/2014/main" id="{6F23EBAA-7A4B-0B46-0CEF-BA8F6EB2B4D5}"/>
              </a:ext>
            </a:extLst>
          </p:cNvPr>
          <p:cNvSpPr>
            <a:spLocks noGrp="1"/>
          </p:cNvSpPr>
          <p:nvPr>
            <p:ph idx="1"/>
          </p:nvPr>
        </p:nvSpPr>
        <p:spPr/>
        <p:txBody>
          <a:bodyPr>
            <a:normAutofit lnSpcReduction="10000"/>
          </a:bodyPr>
          <a:lstStyle/>
          <a:p>
            <a:pPr marL="0" indent="0">
              <a:buNone/>
            </a:pPr>
            <a:r>
              <a:rPr lang="en-US" dirty="0"/>
              <a:t>Momentum introduces a moving average of past gradients, smoothing out oscillations and pushing the optimizer toward a more stable path.</a:t>
            </a:r>
          </a:p>
          <a:p>
            <a:pPr lvl="0"/>
            <a:r>
              <a:rPr lang="en-US" dirty="0"/>
              <a:t>Faster Convergence</a:t>
            </a:r>
          </a:p>
          <a:p>
            <a:pPr lvl="0"/>
            <a:r>
              <a:rPr lang="en-US" dirty="0"/>
              <a:t>Reduced Noise</a:t>
            </a:r>
          </a:p>
          <a:p>
            <a:pPr lvl="0"/>
            <a:r>
              <a:rPr lang="en-US" dirty="0"/>
              <a:t>Escaping Local Minima</a:t>
            </a:r>
          </a:p>
          <a:p>
            <a:pPr lvl="0"/>
            <a:r>
              <a:rPr lang="en-US" dirty="0"/>
              <a:t>Improved Generalization</a:t>
            </a:r>
          </a:p>
          <a:p>
            <a:pPr lvl="0"/>
            <a:r>
              <a:rPr lang="en-US" dirty="0"/>
              <a:t>Hyperparameter Sensitivity</a:t>
            </a:r>
          </a:p>
          <a:p>
            <a:pPr lvl="0"/>
            <a:r>
              <a:rPr lang="en-US" dirty="0"/>
              <a:t>Overshooting Risk</a:t>
            </a:r>
          </a:p>
          <a:p>
            <a:pPr lvl="0"/>
            <a:r>
              <a:rPr lang="en-US" dirty="0"/>
              <a:t>Complexity</a:t>
            </a:r>
          </a:p>
          <a:p>
            <a:pPr lvl="0"/>
            <a:r>
              <a:rPr lang="en-US" dirty="0"/>
              <a:t>Diminished Impact in Complex Landscapes</a:t>
            </a:r>
          </a:p>
        </p:txBody>
      </p:sp>
      <p:sp>
        <p:nvSpPr>
          <p:cNvPr id="4" name="Footer Placeholder 3">
            <a:extLst>
              <a:ext uri="{FF2B5EF4-FFF2-40B4-BE49-F238E27FC236}">
                <a16:creationId xmlns:a16="http://schemas.microsoft.com/office/drawing/2014/main" id="{5CCBE596-969B-EE32-2BE9-8B7CFB909107}"/>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C5529F42-47CB-C6DD-E58E-B1BB9C483E70}"/>
              </a:ext>
            </a:extLst>
          </p:cNvPr>
          <p:cNvSpPr>
            <a:spLocks noGrp="1"/>
          </p:cNvSpPr>
          <p:nvPr>
            <p:ph type="sldNum" sz="quarter" idx="12"/>
          </p:nvPr>
        </p:nvSpPr>
        <p:spPr/>
        <p:txBody>
          <a:bodyPr/>
          <a:lstStyle/>
          <a:p>
            <a:fld id="{10A4AB6E-1AC4-C44F-A0CC-883A0306AF8B}" type="slidenum">
              <a:rPr lang="en-US" smtClean="0"/>
              <a:t>9</a:t>
            </a:fld>
            <a:endParaRPr lang="en-US"/>
          </a:p>
        </p:txBody>
      </p:sp>
    </p:spTree>
    <p:extLst>
      <p:ext uri="{BB962C8B-B14F-4D97-AF65-F5344CB8AC3E}">
        <p14:creationId xmlns:p14="http://schemas.microsoft.com/office/powerpoint/2010/main" val="2731414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72974-7F5D-C143-EECA-D54A5D805B20}"/>
              </a:ext>
            </a:extLst>
          </p:cNvPr>
          <p:cNvSpPr>
            <a:spLocks noGrp="1"/>
          </p:cNvSpPr>
          <p:nvPr>
            <p:ph type="title"/>
          </p:nvPr>
        </p:nvSpPr>
        <p:spPr/>
        <p:txBody>
          <a:bodyPr>
            <a:normAutofit fontScale="90000"/>
          </a:bodyPr>
          <a:lstStyle/>
          <a:p>
            <a:r>
              <a:rPr lang="en-US" dirty="0" err="1"/>
              <a:t>RMSProp</a:t>
            </a:r>
            <a:r>
              <a:rPr lang="en-US" dirty="0"/>
              <a:t> (Root Mean Square Propagation)</a:t>
            </a:r>
          </a:p>
        </p:txBody>
      </p:sp>
      <p:sp>
        <p:nvSpPr>
          <p:cNvPr id="3" name="Content Placeholder 2">
            <a:extLst>
              <a:ext uri="{FF2B5EF4-FFF2-40B4-BE49-F238E27FC236}">
                <a16:creationId xmlns:a16="http://schemas.microsoft.com/office/drawing/2014/main" id="{748F6FA3-2275-5E47-F582-B32BBB4F3A57}"/>
              </a:ext>
            </a:extLst>
          </p:cNvPr>
          <p:cNvSpPr>
            <a:spLocks noGrp="1"/>
          </p:cNvSpPr>
          <p:nvPr>
            <p:ph idx="1"/>
          </p:nvPr>
        </p:nvSpPr>
        <p:spPr/>
        <p:txBody>
          <a:bodyPr/>
          <a:lstStyle/>
          <a:p>
            <a:r>
              <a:rPr lang="en-US" dirty="0"/>
              <a:t>Solves the variation in gradient magnitudes across parameters. </a:t>
            </a:r>
          </a:p>
          <a:p>
            <a:r>
              <a:rPr lang="en-US" dirty="0"/>
              <a:t>In some cases, gradients may be small, while others may be disproportionately large, leading to inefficient updates when using a uniform learning rate for all weights.</a:t>
            </a:r>
          </a:p>
          <a:p>
            <a:r>
              <a:rPr lang="en-US" dirty="0"/>
              <a:t>Maintains a moving average of squared gradients and dividing the gradient by the square root of this average</a:t>
            </a:r>
          </a:p>
          <a:p>
            <a:pPr lvl="1"/>
            <a:r>
              <a:rPr lang="en-US" dirty="0"/>
              <a:t>Larger oscillations receive smaller updates.</a:t>
            </a:r>
          </a:p>
          <a:p>
            <a:r>
              <a:rPr lang="en-US" dirty="0"/>
              <a:t>It is ideal for tasks involving sequential data due to its adaptability to changing gradients.</a:t>
            </a:r>
          </a:p>
        </p:txBody>
      </p:sp>
      <p:sp>
        <p:nvSpPr>
          <p:cNvPr id="4" name="Footer Placeholder 3">
            <a:extLst>
              <a:ext uri="{FF2B5EF4-FFF2-40B4-BE49-F238E27FC236}">
                <a16:creationId xmlns:a16="http://schemas.microsoft.com/office/drawing/2014/main" id="{3B4020A9-5972-4840-FF32-702C746CA14B}"/>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1693C1EB-D6B5-EB37-B068-EFB9E2800643}"/>
              </a:ext>
            </a:extLst>
          </p:cNvPr>
          <p:cNvSpPr>
            <a:spLocks noGrp="1"/>
          </p:cNvSpPr>
          <p:nvPr>
            <p:ph type="sldNum" sz="quarter" idx="12"/>
          </p:nvPr>
        </p:nvSpPr>
        <p:spPr/>
        <p:txBody>
          <a:bodyPr/>
          <a:lstStyle/>
          <a:p>
            <a:fld id="{10A4AB6E-1AC4-C44F-A0CC-883A0306AF8B}" type="slidenum">
              <a:rPr lang="en-US" smtClean="0"/>
              <a:t>10</a:t>
            </a:fld>
            <a:endParaRPr lang="en-US"/>
          </a:p>
        </p:txBody>
      </p:sp>
    </p:spTree>
    <p:extLst>
      <p:ext uri="{BB962C8B-B14F-4D97-AF65-F5344CB8AC3E}">
        <p14:creationId xmlns:p14="http://schemas.microsoft.com/office/powerpoint/2010/main" val="484653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6E551-A110-1261-F694-5CE24A731EF2}"/>
              </a:ext>
            </a:extLst>
          </p:cNvPr>
          <p:cNvSpPr>
            <a:spLocks noGrp="1"/>
          </p:cNvSpPr>
          <p:nvPr>
            <p:ph type="title"/>
          </p:nvPr>
        </p:nvSpPr>
        <p:spPr/>
        <p:txBody>
          <a:bodyPr>
            <a:normAutofit fontScale="90000"/>
          </a:bodyPr>
          <a:lstStyle/>
          <a:p>
            <a:endParaRPr lang="en-US"/>
          </a:p>
        </p:txBody>
      </p:sp>
      <p:pic>
        <p:nvPicPr>
          <p:cNvPr id="7" name="Content Placeholder 6">
            <a:extLst>
              <a:ext uri="{FF2B5EF4-FFF2-40B4-BE49-F238E27FC236}">
                <a16:creationId xmlns:a16="http://schemas.microsoft.com/office/drawing/2014/main" id="{94B6A7A4-E902-7D1A-C561-C0D2C6C6525B}"/>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222766" y="1516006"/>
            <a:ext cx="5718974" cy="4427593"/>
          </a:xfrm>
          <a:prstGeom prst="rect">
            <a:avLst/>
          </a:prstGeom>
        </p:spPr>
      </p:pic>
      <p:sp>
        <p:nvSpPr>
          <p:cNvPr id="4" name="Footer Placeholder 3">
            <a:extLst>
              <a:ext uri="{FF2B5EF4-FFF2-40B4-BE49-F238E27FC236}">
                <a16:creationId xmlns:a16="http://schemas.microsoft.com/office/drawing/2014/main" id="{C822EA34-1C26-4EB9-6433-1C80818BD0EA}"/>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A2B866F6-1F6A-7ADA-8CA7-2D93F726373A}"/>
              </a:ext>
            </a:extLst>
          </p:cNvPr>
          <p:cNvSpPr>
            <a:spLocks noGrp="1"/>
          </p:cNvSpPr>
          <p:nvPr>
            <p:ph type="sldNum" sz="quarter" idx="12"/>
          </p:nvPr>
        </p:nvSpPr>
        <p:spPr/>
        <p:txBody>
          <a:bodyPr/>
          <a:lstStyle/>
          <a:p>
            <a:fld id="{10A4AB6E-1AC4-C44F-A0CC-883A0306AF8B}" type="slidenum">
              <a:rPr lang="en-US" smtClean="0"/>
              <a:t>11</a:t>
            </a:fld>
            <a:endParaRPr lang="en-US"/>
          </a:p>
        </p:txBody>
      </p:sp>
      <p:pic>
        <p:nvPicPr>
          <p:cNvPr id="9" name="Picture 8">
            <a:extLst>
              <a:ext uri="{FF2B5EF4-FFF2-40B4-BE49-F238E27FC236}">
                <a16:creationId xmlns:a16="http://schemas.microsoft.com/office/drawing/2014/main" id="{4991AB4A-0BD9-1955-12C2-6A9D51AF764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096000" y="1627218"/>
            <a:ext cx="5448986" cy="4218570"/>
          </a:xfrm>
          <a:prstGeom prst="rect">
            <a:avLst/>
          </a:prstGeom>
        </p:spPr>
      </p:pic>
    </p:spTree>
    <p:extLst>
      <p:ext uri="{BB962C8B-B14F-4D97-AF65-F5344CB8AC3E}">
        <p14:creationId xmlns:p14="http://schemas.microsoft.com/office/powerpoint/2010/main" val="2221168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22E14-EDEE-A8E8-3624-C7690EF412C3}"/>
              </a:ext>
            </a:extLst>
          </p:cNvPr>
          <p:cNvSpPr>
            <a:spLocks noGrp="1"/>
          </p:cNvSpPr>
          <p:nvPr>
            <p:ph type="title"/>
          </p:nvPr>
        </p:nvSpPr>
        <p:spPr/>
        <p:txBody>
          <a:bodyPr>
            <a:normAutofit fontScale="90000"/>
          </a:bodyPr>
          <a:lstStyle/>
          <a:p>
            <a:r>
              <a:rPr lang="en-US" dirty="0"/>
              <a:t>Adaptive Moment Estimation (Adam)</a:t>
            </a:r>
          </a:p>
        </p:txBody>
      </p:sp>
      <p:sp>
        <p:nvSpPr>
          <p:cNvPr id="3" name="Content Placeholder 2">
            <a:extLst>
              <a:ext uri="{FF2B5EF4-FFF2-40B4-BE49-F238E27FC236}">
                <a16:creationId xmlns:a16="http://schemas.microsoft.com/office/drawing/2014/main" id="{E31354BA-BAE4-7B46-C350-4A420C1A77BE}"/>
              </a:ext>
            </a:extLst>
          </p:cNvPr>
          <p:cNvSpPr>
            <a:spLocks noGrp="1"/>
          </p:cNvSpPr>
          <p:nvPr>
            <p:ph idx="1"/>
          </p:nvPr>
        </p:nvSpPr>
        <p:spPr/>
        <p:txBody>
          <a:bodyPr/>
          <a:lstStyle/>
          <a:p>
            <a:r>
              <a:rPr lang="en-US" dirty="0"/>
              <a:t>Combines the advantages of Momentum and </a:t>
            </a:r>
            <a:r>
              <a:rPr lang="en-US" dirty="0" err="1"/>
              <a:t>RMSProp</a:t>
            </a:r>
            <a:r>
              <a:rPr lang="en-US" dirty="0"/>
              <a:t>. </a:t>
            </a:r>
          </a:p>
          <a:p>
            <a:r>
              <a:rPr lang="en-US" dirty="0"/>
              <a:t>Uses both the mean and variance of gradients to adapt the learning rate for each parameter.</a:t>
            </a:r>
          </a:p>
          <a:p>
            <a:r>
              <a:rPr lang="en-US" dirty="0"/>
              <a:t>Fast, combines momentum and </a:t>
            </a:r>
            <a:r>
              <a:rPr lang="en-US" dirty="0" err="1"/>
              <a:t>RMSProp</a:t>
            </a:r>
            <a:endParaRPr lang="en-US" dirty="0"/>
          </a:p>
          <a:p>
            <a:r>
              <a:rPr lang="en-US" dirty="0"/>
              <a:t>Memory-intensive, computationally expensive</a:t>
            </a:r>
          </a:p>
          <a:p>
            <a:endParaRPr lang="en-US" dirty="0"/>
          </a:p>
          <a:p>
            <a:endParaRPr lang="en-US" b="1" dirty="0"/>
          </a:p>
          <a:p>
            <a:endParaRPr lang="en-US" dirty="0"/>
          </a:p>
        </p:txBody>
      </p:sp>
      <p:sp>
        <p:nvSpPr>
          <p:cNvPr id="4" name="Footer Placeholder 3">
            <a:extLst>
              <a:ext uri="{FF2B5EF4-FFF2-40B4-BE49-F238E27FC236}">
                <a16:creationId xmlns:a16="http://schemas.microsoft.com/office/drawing/2014/main" id="{D8F7DDE5-BEB0-1A59-B8D2-EB9FF45568E5}"/>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F82C5575-E3FC-CB98-296B-98A265ADB5A3}"/>
              </a:ext>
            </a:extLst>
          </p:cNvPr>
          <p:cNvSpPr>
            <a:spLocks noGrp="1"/>
          </p:cNvSpPr>
          <p:nvPr>
            <p:ph type="sldNum" sz="quarter" idx="12"/>
          </p:nvPr>
        </p:nvSpPr>
        <p:spPr/>
        <p:txBody>
          <a:bodyPr/>
          <a:lstStyle/>
          <a:p>
            <a:fld id="{10A4AB6E-1AC4-C44F-A0CC-883A0306AF8B}" type="slidenum">
              <a:rPr lang="en-US" smtClean="0"/>
              <a:t>12</a:t>
            </a:fld>
            <a:endParaRPr lang="en-US"/>
          </a:p>
        </p:txBody>
      </p:sp>
      <p:pic>
        <p:nvPicPr>
          <p:cNvPr id="8" name="Picture 7">
            <a:extLst>
              <a:ext uri="{FF2B5EF4-FFF2-40B4-BE49-F238E27FC236}">
                <a16:creationId xmlns:a16="http://schemas.microsoft.com/office/drawing/2014/main" id="{F1F3B6FD-4865-0460-CB89-1FD2C598B19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295775" y="3551098"/>
            <a:ext cx="3600450" cy="2700338"/>
          </a:xfrm>
          <a:prstGeom prst="rect">
            <a:avLst/>
          </a:prstGeom>
        </p:spPr>
      </p:pic>
    </p:spTree>
    <p:extLst>
      <p:ext uri="{BB962C8B-B14F-4D97-AF65-F5344CB8AC3E}">
        <p14:creationId xmlns:p14="http://schemas.microsoft.com/office/powerpoint/2010/main" val="3245306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D9C9A-B97C-482D-87D0-71CA37C9DA2C}"/>
              </a:ext>
            </a:extLst>
          </p:cNvPr>
          <p:cNvSpPr>
            <a:spLocks noGrp="1"/>
          </p:cNvSpPr>
          <p:nvPr>
            <p:ph type="title"/>
          </p:nvPr>
        </p:nvSpPr>
        <p:spPr/>
        <p:txBody>
          <a:bodyPr>
            <a:normAutofit fontScale="90000"/>
          </a:bodyPr>
          <a:lstStyle/>
          <a:p>
            <a:r>
              <a:rPr lang="en-US" dirty="0"/>
              <a:t>Hyperparameters</a:t>
            </a:r>
          </a:p>
        </p:txBody>
      </p:sp>
      <p:sp>
        <p:nvSpPr>
          <p:cNvPr id="4" name="Footer Placeholder 3">
            <a:extLst>
              <a:ext uri="{FF2B5EF4-FFF2-40B4-BE49-F238E27FC236}">
                <a16:creationId xmlns:a16="http://schemas.microsoft.com/office/drawing/2014/main" id="{4C6DC029-D4C8-8C23-9AD3-984072FC0DE0}"/>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7C243FA-C27C-0093-CC80-4B7672F171D4}"/>
              </a:ext>
            </a:extLst>
          </p:cNvPr>
          <p:cNvSpPr>
            <a:spLocks noGrp="1"/>
          </p:cNvSpPr>
          <p:nvPr>
            <p:ph type="sldNum" sz="quarter" idx="12"/>
          </p:nvPr>
        </p:nvSpPr>
        <p:spPr/>
        <p:txBody>
          <a:bodyPr/>
          <a:lstStyle/>
          <a:p>
            <a:fld id="{10A4AB6E-1AC4-C44F-A0CC-883A0306AF8B}" type="slidenum">
              <a:rPr lang="en-US" smtClean="0"/>
              <a:t>13</a:t>
            </a:fld>
            <a:endParaRPr lang="en-US"/>
          </a:p>
        </p:txBody>
      </p:sp>
      <p:graphicFrame>
        <p:nvGraphicFramePr>
          <p:cNvPr id="11" name="Content Placeholder 10">
            <a:extLst>
              <a:ext uri="{FF2B5EF4-FFF2-40B4-BE49-F238E27FC236}">
                <a16:creationId xmlns:a16="http://schemas.microsoft.com/office/drawing/2014/main" id="{DC96DEA9-2C38-9885-B293-4EF09EB108B0}"/>
              </a:ext>
            </a:extLst>
          </p:cNvPr>
          <p:cNvGraphicFramePr>
            <a:graphicFrameLocks noGrp="1"/>
          </p:cNvGraphicFramePr>
          <p:nvPr>
            <p:ph idx="1"/>
            <p:extLst>
              <p:ext uri="{D42A27DB-BD31-4B8C-83A1-F6EECF244321}">
                <p14:modId xmlns:p14="http://schemas.microsoft.com/office/powerpoint/2010/main" val="2983499818"/>
              </p:ext>
            </p:extLst>
          </p:nvPr>
        </p:nvGraphicFramePr>
        <p:xfrm>
          <a:off x="1040300" y="1135063"/>
          <a:ext cx="10111400" cy="5011737"/>
        </p:xfrm>
        <a:graphic>
          <a:graphicData uri="http://schemas.openxmlformats.org/drawingml/2006/table">
            <a:tbl>
              <a:tblPr firstRow="1">
                <a:tableStyleId>{073A0DAA-6AF3-43AB-8588-CEC1D06C72B9}</a:tableStyleId>
              </a:tblPr>
              <a:tblGrid>
                <a:gridCol w="2527850">
                  <a:extLst>
                    <a:ext uri="{9D8B030D-6E8A-4147-A177-3AD203B41FA5}">
                      <a16:colId xmlns:a16="http://schemas.microsoft.com/office/drawing/2014/main" val="2674857667"/>
                    </a:ext>
                  </a:extLst>
                </a:gridCol>
                <a:gridCol w="2527850">
                  <a:extLst>
                    <a:ext uri="{9D8B030D-6E8A-4147-A177-3AD203B41FA5}">
                      <a16:colId xmlns:a16="http://schemas.microsoft.com/office/drawing/2014/main" val="768735823"/>
                    </a:ext>
                  </a:extLst>
                </a:gridCol>
                <a:gridCol w="2527850">
                  <a:extLst>
                    <a:ext uri="{9D8B030D-6E8A-4147-A177-3AD203B41FA5}">
                      <a16:colId xmlns:a16="http://schemas.microsoft.com/office/drawing/2014/main" val="3928078405"/>
                    </a:ext>
                  </a:extLst>
                </a:gridCol>
                <a:gridCol w="2527850">
                  <a:extLst>
                    <a:ext uri="{9D8B030D-6E8A-4147-A177-3AD203B41FA5}">
                      <a16:colId xmlns:a16="http://schemas.microsoft.com/office/drawing/2014/main" val="2448520365"/>
                    </a:ext>
                  </a:extLst>
                </a:gridCol>
              </a:tblGrid>
              <a:tr h="615476">
                <a:tc>
                  <a:txBody>
                    <a:bodyPr/>
                    <a:lstStyle/>
                    <a:p>
                      <a:pPr algn="l">
                        <a:buNone/>
                      </a:pPr>
                      <a:r>
                        <a:rPr lang="en-US" sz="1700">
                          <a:effectLst/>
                        </a:rPr>
                        <a:t>Hyperparameter</a:t>
                      </a:r>
                      <a:endParaRPr lang="en-US" sz="1700" b="0" i="0">
                        <a:solidFill>
                          <a:srgbClr val="FFFFFF"/>
                        </a:solidFill>
                        <a:effectLst/>
                      </a:endParaRPr>
                    </a:p>
                  </a:txBody>
                  <a:tcPr marL="87925" marR="87925" marT="43963" marB="43963" anchor="ctr"/>
                </a:tc>
                <a:tc>
                  <a:txBody>
                    <a:bodyPr/>
                    <a:lstStyle/>
                    <a:p>
                      <a:pPr algn="l">
                        <a:buNone/>
                      </a:pPr>
                      <a:r>
                        <a:rPr lang="en-US" sz="1700">
                          <a:effectLst/>
                        </a:rPr>
                        <a:t>What it controls</a:t>
                      </a:r>
                      <a:endParaRPr lang="en-US" sz="1700" b="0" i="0">
                        <a:solidFill>
                          <a:srgbClr val="FFFFFF"/>
                        </a:solidFill>
                        <a:effectLst/>
                      </a:endParaRPr>
                    </a:p>
                  </a:txBody>
                  <a:tcPr marL="87925" marR="87925" marT="43963" marB="43963" anchor="ctr"/>
                </a:tc>
                <a:tc>
                  <a:txBody>
                    <a:bodyPr/>
                    <a:lstStyle/>
                    <a:p>
                      <a:pPr algn="r">
                        <a:buNone/>
                      </a:pPr>
                      <a:r>
                        <a:rPr lang="en-US" sz="1700" dirty="0">
                          <a:effectLst/>
                        </a:rPr>
                        <a:t>Good geoscience search range</a:t>
                      </a:r>
                      <a:endParaRPr lang="en-US" sz="1700" b="0" i="0" dirty="0">
                        <a:solidFill>
                          <a:srgbClr val="FFFFFF"/>
                        </a:solidFill>
                        <a:effectLst/>
                      </a:endParaRPr>
                    </a:p>
                  </a:txBody>
                  <a:tcPr marL="87925" marR="87925" marT="43963" marB="43963" anchor="ctr"/>
                </a:tc>
                <a:tc>
                  <a:txBody>
                    <a:bodyPr/>
                    <a:lstStyle/>
                    <a:p>
                      <a:pPr algn="r">
                        <a:buNone/>
                      </a:pPr>
                      <a:r>
                        <a:rPr lang="en-US" sz="1700">
                          <a:effectLst/>
                        </a:rPr>
                        <a:t>Good starting value</a:t>
                      </a:r>
                      <a:endParaRPr lang="en-US" sz="1700" b="0" i="0">
                        <a:solidFill>
                          <a:srgbClr val="FFFFFF"/>
                        </a:solidFill>
                        <a:effectLst/>
                      </a:endParaRPr>
                    </a:p>
                  </a:txBody>
                  <a:tcPr marL="87925" marR="87925" marT="43963" marB="43963" anchor="ctr"/>
                </a:tc>
                <a:extLst>
                  <a:ext uri="{0D108BD9-81ED-4DB2-BD59-A6C34878D82A}">
                    <a16:rowId xmlns:a16="http://schemas.microsoft.com/office/drawing/2014/main" val="3380636045"/>
                  </a:ext>
                </a:extLst>
              </a:tr>
              <a:tr h="351701">
                <a:tc>
                  <a:txBody>
                    <a:bodyPr/>
                    <a:lstStyle/>
                    <a:p>
                      <a:pPr algn="l">
                        <a:buNone/>
                      </a:pPr>
                      <a:r>
                        <a:rPr lang="en-US" sz="1700">
                          <a:effectLst/>
                        </a:rPr>
                        <a:t>Hidden layers</a:t>
                      </a:r>
                      <a:endParaRPr lang="en-US" sz="1700" b="0" i="0">
                        <a:solidFill>
                          <a:srgbClr val="FFFFFF"/>
                        </a:solidFill>
                        <a:effectLst/>
                      </a:endParaRPr>
                    </a:p>
                  </a:txBody>
                  <a:tcPr marL="87925" marR="87925" marT="43963" marB="43963" anchor="ctr"/>
                </a:tc>
                <a:tc>
                  <a:txBody>
                    <a:bodyPr/>
                    <a:lstStyle/>
                    <a:p>
                      <a:pPr algn="l">
                        <a:buNone/>
                      </a:pPr>
                      <a:r>
                        <a:rPr lang="en-US" sz="1700">
                          <a:effectLst/>
                        </a:rPr>
                        <a:t>Network depth</a:t>
                      </a:r>
                      <a:endParaRPr lang="en-US" sz="1700" b="0" i="0">
                        <a:solidFill>
                          <a:srgbClr val="FFFFFF"/>
                        </a:solidFill>
                        <a:effectLst/>
                      </a:endParaRPr>
                    </a:p>
                  </a:txBody>
                  <a:tcPr marL="87925" marR="87925" marT="43963" marB="43963" anchor="ctr"/>
                </a:tc>
                <a:tc>
                  <a:txBody>
                    <a:bodyPr/>
                    <a:lstStyle/>
                    <a:p>
                      <a:pPr algn="r">
                        <a:buNone/>
                      </a:pPr>
                      <a:r>
                        <a:rPr lang="en-US" sz="1700">
                          <a:effectLst/>
                        </a:rPr>
                        <a:t>1–4</a:t>
                      </a:r>
                      <a:endParaRPr lang="en-US" sz="1700" b="0" i="0">
                        <a:solidFill>
                          <a:srgbClr val="FFFFFF"/>
                        </a:solidFill>
                        <a:effectLst/>
                      </a:endParaRPr>
                    </a:p>
                  </a:txBody>
                  <a:tcPr marL="87925" marR="87925" marT="43963" marB="43963" anchor="ctr"/>
                </a:tc>
                <a:tc>
                  <a:txBody>
                    <a:bodyPr/>
                    <a:lstStyle/>
                    <a:p>
                      <a:pPr algn="r">
                        <a:buNone/>
                      </a:pPr>
                      <a:r>
                        <a:rPr lang="en-US" sz="1700">
                          <a:effectLst/>
                        </a:rPr>
                        <a:t>2</a:t>
                      </a:r>
                      <a:endParaRPr lang="en-US" sz="1700" b="0" i="0">
                        <a:solidFill>
                          <a:srgbClr val="FFFFFF"/>
                        </a:solidFill>
                        <a:effectLst/>
                      </a:endParaRPr>
                    </a:p>
                  </a:txBody>
                  <a:tcPr marL="87925" marR="87925" marT="43963" marB="43963" anchor="ctr"/>
                </a:tc>
                <a:extLst>
                  <a:ext uri="{0D108BD9-81ED-4DB2-BD59-A6C34878D82A}">
                    <a16:rowId xmlns:a16="http://schemas.microsoft.com/office/drawing/2014/main" val="3046029019"/>
                  </a:ext>
                </a:extLst>
              </a:tr>
              <a:tr h="351701">
                <a:tc>
                  <a:txBody>
                    <a:bodyPr/>
                    <a:lstStyle/>
                    <a:p>
                      <a:pPr algn="l">
                        <a:buNone/>
                      </a:pPr>
                      <a:r>
                        <a:rPr lang="en-US" sz="1700">
                          <a:effectLst/>
                        </a:rPr>
                        <a:t>Units per layer</a:t>
                      </a:r>
                      <a:endParaRPr lang="en-US" sz="1700" b="0" i="0">
                        <a:solidFill>
                          <a:srgbClr val="FFFFFF"/>
                        </a:solidFill>
                        <a:effectLst/>
                      </a:endParaRPr>
                    </a:p>
                  </a:txBody>
                  <a:tcPr marL="87925" marR="87925" marT="43963" marB="43963" anchor="ctr"/>
                </a:tc>
                <a:tc>
                  <a:txBody>
                    <a:bodyPr/>
                    <a:lstStyle/>
                    <a:p>
                      <a:pPr algn="l">
                        <a:buNone/>
                      </a:pPr>
                      <a:r>
                        <a:rPr lang="en-US" sz="1700">
                          <a:effectLst/>
                        </a:rPr>
                        <a:t>Network capacity</a:t>
                      </a:r>
                      <a:endParaRPr lang="en-US" sz="1700" b="0" i="0">
                        <a:solidFill>
                          <a:srgbClr val="FFFFFF"/>
                        </a:solidFill>
                        <a:effectLst/>
                      </a:endParaRPr>
                    </a:p>
                  </a:txBody>
                  <a:tcPr marL="87925" marR="87925" marT="43963" marB="43963" anchor="ctr"/>
                </a:tc>
                <a:tc>
                  <a:txBody>
                    <a:bodyPr/>
                    <a:lstStyle/>
                    <a:p>
                      <a:pPr algn="r">
                        <a:buNone/>
                      </a:pPr>
                      <a:r>
                        <a:rPr lang="en-US" sz="1700">
                          <a:effectLst/>
                        </a:rPr>
                        <a:t>8–256</a:t>
                      </a:r>
                      <a:endParaRPr lang="en-US" sz="1700" b="0" i="0">
                        <a:solidFill>
                          <a:srgbClr val="FFFFFF"/>
                        </a:solidFill>
                        <a:effectLst/>
                      </a:endParaRPr>
                    </a:p>
                  </a:txBody>
                  <a:tcPr marL="87925" marR="87925" marT="43963" marB="43963" anchor="ctr"/>
                </a:tc>
                <a:tc>
                  <a:txBody>
                    <a:bodyPr/>
                    <a:lstStyle/>
                    <a:p>
                      <a:pPr algn="r">
                        <a:buNone/>
                      </a:pPr>
                      <a:r>
                        <a:rPr lang="en-US" sz="1700">
                          <a:effectLst/>
                        </a:rPr>
                        <a:t>32–64</a:t>
                      </a:r>
                      <a:endParaRPr lang="en-US" sz="1700" b="0" i="0">
                        <a:solidFill>
                          <a:srgbClr val="FFFFFF"/>
                        </a:solidFill>
                        <a:effectLst/>
                      </a:endParaRPr>
                    </a:p>
                  </a:txBody>
                  <a:tcPr marL="87925" marR="87925" marT="43963" marB="43963" anchor="ctr"/>
                </a:tc>
                <a:extLst>
                  <a:ext uri="{0D108BD9-81ED-4DB2-BD59-A6C34878D82A}">
                    <a16:rowId xmlns:a16="http://schemas.microsoft.com/office/drawing/2014/main" val="4197756983"/>
                  </a:ext>
                </a:extLst>
              </a:tr>
              <a:tr h="351701">
                <a:tc>
                  <a:txBody>
                    <a:bodyPr/>
                    <a:lstStyle/>
                    <a:p>
                      <a:pPr algn="l">
                        <a:buNone/>
                      </a:pPr>
                      <a:r>
                        <a:rPr lang="en-US" sz="1700">
                          <a:effectLst/>
                        </a:rPr>
                        <a:t>Activation</a:t>
                      </a:r>
                      <a:endParaRPr lang="en-US" sz="1700" b="0" i="0">
                        <a:solidFill>
                          <a:srgbClr val="FFFFFF"/>
                        </a:solidFill>
                        <a:effectLst/>
                      </a:endParaRPr>
                    </a:p>
                  </a:txBody>
                  <a:tcPr marL="87925" marR="87925" marT="43963" marB="43963" anchor="ctr"/>
                </a:tc>
                <a:tc>
                  <a:txBody>
                    <a:bodyPr/>
                    <a:lstStyle/>
                    <a:p>
                      <a:pPr algn="l">
                        <a:buNone/>
                      </a:pPr>
                      <a:r>
                        <a:rPr lang="en-US" sz="1700">
                          <a:effectLst/>
                        </a:rPr>
                        <a:t>Nonlinearity</a:t>
                      </a:r>
                      <a:endParaRPr lang="en-US" sz="1700" b="0" i="0">
                        <a:solidFill>
                          <a:srgbClr val="FFFFFF"/>
                        </a:solidFill>
                        <a:effectLst/>
                      </a:endParaRPr>
                    </a:p>
                  </a:txBody>
                  <a:tcPr marL="87925" marR="87925" marT="43963" marB="43963" anchor="ctr"/>
                </a:tc>
                <a:tc>
                  <a:txBody>
                    <a:bodyPr/>
                    <a:lstStyle/>
                    <a:p>
                      <a:pPr algn="r">
                        <a:buNone/>
                      </a:pPr>
                      <a:r>
                        <a:rPr lang="en-US" sz="1700" dirty="0" err="1">
                          <a:effectLst/>
                        </a:rPr>
                        <a:t>ReLU</a:t>
                      </a:r>
                      <a:r>
                        <a:rPr lang="en-US" sz="1700" dirty="0">
                          <a:effectLst/>
                        </a:rPr>
                        <a:t>, tanh, GELU</a:t>
                      </a:r>
                      <a:endParaRPr lang="en-US" sz="1700" b="0" i="0" dirty="0">
                        <a:solidFill>
                          <a:srgbClr val="FFFFFF"/>
                        </a:solidFill>
                        <a:effectLst/>
                      </a:endParaRPr>
                    </a:p>
                  </a:txBody>
                  <a:tcPr marL="87925" marR="87925" marT="43963" marB="43963" anchor="ctr"/>
                </a:tc>
                <a:tc>
                  <a:txBody>
                    <a:bodyPr/>
                    <a:lstStyle/>
                    <a:p>
                      <a:pPr algn="r">
                        <a:buNone/>
                      </a:pPr>
                      <a:r>
                        <a:rPr lang="en-US" sz="1700">
                          <a:effectLst/>
                        </a:rPr>
                        <a:t>ReLU</a:t>
                      </a:r>
                      <a:endParaRPr lang="en-US" sz="1700" b="0" i="0">
                        <a:solidFill>
                          <a:srgbClr val="FFFFFF"/>
                        </a:solidFill>
                        <a:effectLst/>
                      </a:endParaRPr>
                    </a:p>
                  </a:txBody>
                  <a:tcPr marL="87925" marR="87925" marT="43963" marB="43963" anchor="ctr"/>
                </a:tc>
                <a:extLst>
                  <a:ext uri="{0D108BD9-81ED-4DB2-BD59-A6C34878D82A}">
                    <a16:rowId xmlns:a16="http://schemas.microsoft.com/office/drawing/2014/main" val="954342953"/>
                  </a:ext>
                </a:extLst>
              </a:tr>
              <a:tr h="351701">
                <a:tc>
                  <a:txBody>
                    <a:bodyPr/>
                    <a:lstStyle/>
                    <a:p>
                      <a:pPr algn="l">
                        <a:buNone/>
                      </a:pPr>
                      <a:r>
                        <a:rPr lang="en-US" sz="1700">
                          <a:effectLst/>
                        </a:rPr>
                        <a:t>Learning rate</a:t>
                      </a:r>
                      <a:endParaRPr lang="en-US" sz="1700" b="0" i="0">
                        <a:solidFill>
                          <a:srgbClr val="FFFFFF"/>
                        </a:solidFill>
                        <a:effectLst/>
                      </a:endParaRPr>
                    </a:p>
                  </a:txBody>
                  <a:tcPr marL="87925" marR="87925" marT="43963" marB="43963" anchor="ctr"/>
                </a:tc>
                <a:tc>
                  <a:txBody>
                    <a:bodyPr/>
                    <a:lstStyle/>
                    <a:p>
                      <a:pPr algn="l">
                        <a:buNone/>
                      </a:pPr>
                      <a:r>
                        <a:rPr lang="en-US" sz="1700">
                          <a:effectLst/>
                        </a:rPr>
                        <a:t>Weight-update size</a:t>
                      </a:r>
                      <a:endParaRPr lang="en-US" sz="1700" b="0" i="0">
                        <a:solidFill>
                          <a:srgbClr val="FFFFFF"/>
                        </a:solidFill>
                        <a:effectLst/>
                      </a:endParaRPr>
                    </a:p>
                  </a:txBody>
                  <a:tcPr marL="87925" marR="87925" marT="43963" marB="43963" anchor="ctr"/>
                </a:tc>
                <a:tc>
                  <a:txBody>
                    <a:bodyPr/>
                    <a:lstStyle/>
                    <a:p>
                      <a:pPr algn="r">
                        <a:buNone/>
                      </a:pPr>
                      <a:r>
                        <a:rPr lang="en-US" sz="1700">
                          <a:effectLst/>
                        </a:rPr>
                        <a:t>1e-5–1e-2</a:t>
                      </a:r>
                      <a:endParaRPr lang="en-US" sz="1700" b="0" i="0">
                        <a:solidFill>
                          <a:srgbClr val="FFFFFF"/>
                        </a:solidFill>
                        <a:effectLst/>
                      </a:endParaRPr>
                    </a:p>
                  </a:txBody>
                  <a:tcPr marL="87925" marR="87925" marT="43963" marB="43963" anchor="ctr"/>
                </a:tc>
                <a:tc>
                  <a:txBody>
                    <a:bodyPr/>
                    <a:lstStyle/>
                    <a:p>
                      <a:pPr algn="r">
                        <a:buNone/>
                      </a:pPr>
                      <a:r>
                        <a:rPr lang="en-US" sz="1700">
                          <a:effectLst/>
                        </a:rPr>
                        <a:t>1e-3</a:t>
                      </a:r>
                      <a:endParaRPr lang="en-US" sz="1700" b="0" i="0">
                        <a:solidFill>
                          <a:srgbClr val="FFFFFF"/>
                        </a:solidFill>
                        <a:effectLst/>
                      </a:endParaRPr>
                    </a:p>
                  </a:txBody>
                  <a:tcPr marL="87925" marR="87925" marT="43963" marB="43963" anchor="ctr"/>
                </a:tc>
                <a:extLst>
                  <a:ext uri="{0D108BD9-81ED-4DB2-BD59-A6C34878D82A}">
                    <a16:rowId xmlns:a16="http://schemas.microsoft.com/office/drawing/2014/main" val="1759729494"/>
                  </a:ext>
                </a:extLst>
              </a:tr>
              <a:tr h="351701">
                <a:tc>
                  <a:txBody>
                    <a:bodyPr/>
                    <a:lstStyle/>
                    <a:p>
                      <a:pPr algn="l">
                        <a:buNone/>
                      </a:pPr>
                      <a:r>
                        <a:rPr lang="en-US" sz="1700">
                          <a:effectLst/>
                        </a:rPr>
                        <a:t>Batch size</a:t>
                      </a:r>
                      <a:endParaRPr lang="en-US" sz="1700" b="0" i="0">
                        <a:solidFill>
                          <a:srgbClr val="FFFFFF"/>
                        </a:solidFill>
                        <a:effectLst/>
                      </a:endParaRPr>
                    </a:p>
                  </a:txBody>
                  <a:tcPr marL="87925" marR="87925" marT="43963" marB="43963" anchor="ctr"/>
                </a:tc>
                <a:tc>
                  <a:txBody>
                    <a:bodyPr/>
                    <a:lstStyle/>
                    <a:p>
                      <a:pPr algn="l">
                        <a:buNone/>
                      </a:pPr>
                      <a:r>
                        <a:rPr lang="en-US" sz="1700">
                          <a:effectLst/>
                        </a:rPr>
                        <a:t>Samples/update</a:t>
                      </a:r>
                      <a:endParaRPr lang="en-US" sz="1700" b="0" i="0">
                        <a:solidFill>
                          <a:srgbClr val="FFFFFF"/>
                        </a:solidFill>
                        <a:effectLst/>
                      </a:endParaRPr>
                    </a:p>
                  </a:txBody>
                  <a:tcPr marL="87925" marR="87925" marT="43963" marB="43963" anchor="ctr"/>
                </a:tc>
                <a:tc>
                  <a:txBody>
                    <a:bodyPr/>
                    <a:lstStyle/>
                    <a:p>
                      <a:pPr algn="r">
                        <a:buNone/>
                      </a:pPr>
                      <a:r>
                        <a:rPr lang="en-US" sz="1700">
                          <a:effectLst/>
                        </a:rPr>
                        <a:t>16–256</a:t>
                      </a:r>
                      <a:endParaRPr lang="en-US" sz="1700" b="0" i="0">
                        <a:solidFill>
                          <a:srgbClr val="FFFFFF"/>
                        </a:solidFill>
                        <a:effectLst/>
                      </a:endParaRPr>
                    </a:p>
                  </a:txBody>
                  <a:tcPr marL="87925" marR="87925" marT="43963" marB="43963" anchor="ctr"/>
                </a:tc>
                <a:tc>
                  <a:txBody>
                    <a:bodyPr/>
                    <a:lstStyle/>
                    <a:p>
                      <a:pPr algn="r">
                        <a:buNone/>
                      </a:pPr>
                      <a:r>
                        <a:rPr lang="en-US" sz="1700">
                          <a:effectLst/>
                        </a:rPr>
                        <a:t>32 or 64</a:t>
                      </a:r>
                      <a:endParaRPr lang="en-US" sz="1700" b="0" i="0">
                        <a:solidFill>
                          <a:srgbClr val="FFFFFF"/>
                        </a:solidFill>
                        <a:effectLst/>
                      </a:endParaRPr>
                    </a:p>
                  </a:txBody>
                  <a:tcPr marL="87925" marR="87925" marT="43963" marB="43963" anchor="ctr"/>
                </a:tc>
                <a:extLst>
                  <a:ext uri="{0D108BD9-81ED-4DB2-BD59-A6C34878D82A}">
                    <a16:rowId xmlns:a16="http://schemas.microsoft.com/office/drawing/2014/main" val="988045936"/>
                  </a:ext>
                </a:extLst>
              </a:tr>
              <a:tr h="351701">
                <a:tc>
                  <a:txBody>
                    <a:bodyPr/>
                    <a:lstStyle/>
                    <a:p>
                      <a:pPr algn="l">
                        <a:buNone/>
                      </a:pPr>
                      <a:r>
                        <a:rPr lang="en-US" sz="1700">
                          <a:effectLst/>
                        </a:rPr>
                        <a:t>Dropout</a:t>
                      </a:r>
                      <a:endParaRPr lang="en-US" sz="1700" b="0" i="0">
                        <a:solidFill>
                          <a:srgbClr val="FFFFFF"/>
                        </a:solidFill>
                        <a:effectLst/>
                      </a:endParaRPr>
                    </a:p>
                  </a:txBody>
                  <a:tcPr marL="87925" marR="87925" marT="43963" marB="43963" anchor="ctr"/>
                </a:tc>
                <a:tc>
                  <a:txBody>
                    <a:bodyPr/>
                    <a:lstStyle/>
                    <a:p>
                      <a:pPr algn="l">
                        <a:buNone/>
                      </a:pPr>
                      <a:r>
                        <a:rPr lang="en-US" sz="1700">
                          <a:effectLst/>
                        </a:rPr>
                        <a:t>Regularization</a:t>
                      </a:r>
                      <a:endParaRPr lang="en-US" sz="1700" b="0" i="0">
                        <a:solidFill>
                          <a:srgbClr val="FFFFFF"/>
                        </a:solidFill>
                        <a:effectLst/>
                      </a:endParaRPr>
                    </a:p>
                  </a:txBody>
                  <a:tcPr marL="87925" marR="87925" marT="43963" marB="43963" anchor="ctr"/>
                </a:tc>
                <a:tc>
                  <a:txBody>
                    <a:bodyPr/>
                    <a:lstStyle/>
                    <a:p>
                      <a:pPr algn="r">
                        <a:buNone/>
                      </a:pPr>
                      <a:r>
                        <a:rPr lang="en-US" sz="1700">
                          <a:effectLst/>
                        </a:rPr>
                        <a:t>0–0.5</a:t>
                      </a:r>
                      <a:endParaRPr lang="en-US" sz="1700" b="0" i="0">
                        <a:solidFill>
                          <a:srgbClr val="FFFFFF"/>
                        </a:solidFill>
                        <a:effectLst/>
                      </a:endParaRPr>
                    </a:p>
                  </a:txBody>
                  <a:tcPr marL="87925" marR="87925" marT="43963" marB="43963" anchor="ctr"/>
                </a:tc>
                <a:tc>
                  <a:txBody>
                    <a:bodyPr/>
                    <a:lstStyle/>
                    <a:p>
                      <a:pPr algn="r">
                        <a:buNone/>
                      </a:pPr>
                      <a:r>
                        <a:rPr lang="en-US" sz="1700">
                          <a:effectLst/>
                        </a:rPr>
                        <a:t>0.1–0.2</a:t>
                      </a:r>
                      <a:endParaRPr lang="en-US" sz="1700" b="0" i="0">
                        <a:solidFill>
                          <a:srgbClr val="FFFFFF"/>
                        </a:solidFill>
                        <a:effectLst/>
                      </a:endParaRPr>
                    </a:p>
                  </a:txBody>
                  <a:tcPr marL="87925" marR="87925" marT="43963" marB="43963" anchor="ctr"/>
                </a:tc>
                <a:extLst>
                  <a:ext uri="{0D108BD9-81ED-4DB2-BD59-A6C34878D82A}">
                    <a16:rowId xmlns:a16="http://schemas.microsoft.com/office/drawing/2014/main" val="3475079546"/>
                  </a:ext>
                </a:extLst>
              </a:tr>
              <a:tr h="351701">
                <a:tc>
                  <a:txBody>
                    <a:bodyPr/>
                    <a:lstStyle/>
                    <a:p>
                      <a:pPr algn="l">
                        <a:buNone/>
                      </a:pPr>
                      <a:r>
                        <a:rPr lang="en-US" sz="1700">
                          <a:effectLst/>
                        </a:rPr>
                        <a:t>L2 / weight decay</a:t>
                      </a:r>
                      <a:endParaRPr lang="en-US" sz="1700" b="0" i="0">
                        <a:solidFill>
                          <a:srgbClr val="FFFFFF"/>
                        </a:solidFill>
                        <a:effectLst/>
                      </a:endParaRPr>
                    </a:p>
                  </a:txBody>
                  <a:tcPr marL="87925" marR="87925" marT="43963" marB="43963" anchor="ctr"/>
                </a:tc>
                <a:tc>
                  <a:txBody>
                    <a:bodyPr/>
                    <a:lstStyle/>
                    <a:p>
                      <a:pPr algn="l">
                        <a:buNone/>
                      </a:pPr>
                      <a:r>
                        <a:rPr lang="en-US" sz="1700">
                          <a:effectLst/>
                        </a:rPr>
                        <a:t>Regularization</a:t>
                      </a:r>
                      <a:endParaRPr lang="en-US" sz="1700" b="0" i="0">
                        <a:solidFill>
                          <a:srgbClr val="FFFFFF"/>
                        </a:solidFill>
                        <a:effectLst/>
                      </a:endParaRPr>
                    </a:p>
                  </a:txBody>
                  <a:tcPr marL="87925" marR="87925" marT="43963" marB="43963" anchor="ctr"/>
                </a:tc>
                <a:tc>
                  <a:txBody>
                    <a:bodyPr/>
                    <a:lstStyle/>
                    <a:p>
                      <a:pPr algn="r">
                        <a:buNone/>
                      </a:pPr>
                      <a:r>
                        <a:rPr lang="en-US" sz="1700">
                          <a:effectLst/>
                        </a:rPr>
                        <a:t>1e-6–1e-2</a:t>
                      </a:r>
                      <a:endParaRPr lang="en-US" sz="1700" b="0" i="0">
                        <a:solidFill>
                          <a:srgbClr val="FFFFFF"/>
                        </a:solidFill>
                        <a:effectLst/>
                      </a:endParaRPr>
                    </a:p>
                  </a:txBody>
                  <a:tcPr marL="87925" marR="87925" marT="43963" marB="43963" anchor="ctr"/>
                </a:tc>
                <a:tc>
                  <a:txBody>
                    <a:bodyPr/>
                    <a:lstStyle/>
                    <a:p>
                      <a:pPr algn="r">
                        <a:buNone/>
                      </a:pPr>
                      <a:r>
                        <a:rPr lang="en-US" sz="1700">
                          <a:effectLst/>
                        </a:rPr>
                        <a:t>1e-4</a:t>
                      </a:r>
                      <a:endParaRPr lang="en-US" sz="1700" b="0" i="0">
                        <a:solidFill>
                          <a:srgbClr val="FFFFFF"/>
                        </a:solidFill>
                        <a:effectLst/>
                      </a:endParaRPr>
                    </a:p>
                  </a:txBody>
                  <a:tcPr marL="87925" marR="87925" marT="43963" marB="43963" anchor="ctr"/>
                </a:tc>
                <a:extLst>
                  <a:ext uri="{0D108BD9-81ED-4DB2-BD59-A6C34878D82A}">
                    <a16:rowId xmlns:a16="http://schemas.microsoft.com/office/drawing/2014/main" val="1741576642"/>
                  </a:ext>
                </a:extLst>
              </a:tr>
              <a:tr h="351701">
                <a:tc>
                  <a:txBody>
                    <a:bodyPr/>
                    <a:lstStyle/>
                    <a:p>
                      <a:pPr algn="l">
                        <a:buNone/>
                      </a:pPr>
                      <a:r>
                        <a:rPr lang="en-US" sz="1700">
                          <a:effectLst/>
                        </a:rPr>
                        <a:t>Optimizer</a:t>
                      </a:r>
                      <a:endParaRPr lang="en-US" sz="1700" b="0" i="0">
                        <a:solidFill>
                          <a:srgbClr val="FFFFFF"/>
                        </a:solidFill>
                        <a:effectLst/>
                      </a:endParaRPr>
                    </a:p>
                  </a:txBody>
                  <a:tcPr marL="87925" marR="87925" marT="43963" marB="43963" anchor="ctr"/>
                </a:tc>
                <a:tc>
                  <a:txBody>
                    <a:bodyPr/>
                    <a:lstStyle/>
                    <a:p>
                      <a:pPr algn="l">
                        <a:buNone/>
                      </a:pPr>
                      <a:r>
                        <a:rPr lang="en-US" sz="1700">
                          <a:effectLst/>
                        </a:rPr>
                        <a:t>Optimization algorithm</a:t>
                      </a:r>
                      <a:endParaRPr lang="en-US" sz="1700" b="0" i="0">
                        <a:solidFill>
                          <a:srgbClr val="FFFFFF"/>
                        </a:solidFill>
                        <a:effectLst/>
                      </a:endParaRPr>
                    </a:p>
                  </a:txBody>
                  <a:tcPr marL="87925" marR="87925" marT="43963" marB="43963" anchor="ctr"/>
                </a:tc>
                <a:tc>
                  <a:txBody>
                    <a:bodyPr/>
                    <a:lstStyle/>
                    <a:p>
                      <a:pPr algn="r">
                        <a:buNone/>
                      </a:pPr>
                      <a:r>
                        <a:rPr lang="en-US" sz="1700">
                          <a:effectLst/>
                        </a:rPr>
                        <a:t>Adam, AdamW, SGD</a:t>
                      </a:r>
                      <a:endParaRPr lang="en-US" sz="1700" b="0" i="0">
                        <a:solidFill>
                          <a:srgbClr val="FFFFFF"/>
                        </a:solidFill>
                        <a:effectLst/>
                      </a:endParaRPr>
                    </a:p>
                  </a:txBody>
                  <a:tcPr marL="87925" marR="87925" marT="43963" marB="43963" anchor="ctr"/>
                </a:tc>
                <a:tc>
                  <a:txBody>
                    <a:bodyPr/>
                    <a:lstStyle/>
                    <a:p>
                      <a:pPr algn="r">
                        <a:buNone/>
                      </a:pPr>
                      <a:r>
                        <a:rPr lang="en-US" sz="1700">
                          <a:effectLst/>
                        </a:rPr>
                        <a:t>Adam</a:t>
                      </a:r>
                      <a:endParaRPr lang="en-US" sz="1700" b="0" i="0">
                        <a:solidFill>
                          <a:srgbClr val="FFFFFF"/>
                        </a:solidFill>
                        <a:effectLst/>
                      </a:endParaRPr>
                    </a:p>
                  </a:txBody>
                  <a:tcPr marL="87925" marR="87925" marT="43963" marB="43963" anchor="ctr"/>
                </a:tc>
                <a:extLst>
                  <a:ext uri="{0D108BD9-81ED-4DB2-BD59-A6C34878D82A}">
                    <a16:rowId xmlns:a16="http://schemas.microsoft.com/office/drawing/2014/main" val="1061448682"/>
                  </a:ext>
                </a:extLst>
              </a:tr>
              <a:tr h="351701">
                <a:tc>
                  <a:txBody>
                    <a:bodyPr/>
                    <a:lstStyle/>
                    <a:p>
                      <a:pPr algn="l">
                        <a:buNone/>
                      </a:pPr>
                      <a:r>
                        <a:rPr lang="en-US" sz="1700">
                          <a:effectLst/>
                        </a:rPr>
                        <a:t>Max epochs</a:t>
                      </a:r>
                      <a:endParaRPr lang="en-US" sz="1700" b="0" i="0">
                        <a:solidFill>
                          <a:srgbClr val="FFFFFF"/>
                        </a:solidFill>
                        <a:effectLst/>
                      </a:endParaRPr>
                    </a:p>
                  </a:txBody>
                  <a:tcPr marL="87925" marR="87925" marT="43963" marB="43963" anchor="ctr"/>
                </a:tc>
                <a:tc>
                  <a:txBody>
                    <a:bodyPr/>
                    <a:lstStyle/>
                    <a:p>
                      <a:pPr algn="l">
                        <a:buNone/>
                      </a:pPr>
                      <a:r>
                        <a:rPr lang="en-US" sz="1700">
                          <a:effectLst/>
                        </a:rPr>
                        <a:t>Maximum training time</a:t>
                      </a:r>
                      <a:endParaRPr lang="en-US" sz="1700" b="0" i="0">
                        <a:solidFill>
                          <a:srgbClr val="FFFFFF"/>
                        </a:solidFill>
                        <a:effectLst/>
                      </a:endParaRPr>
                    </a:p>
                  </a:txBody>
                  <a:tcPr marL="87925" marR="87925" marT="43963" marB="43963" anchor="ctr"/>
                </a:tc>
                <a:tc>
                  <a:txBody>
                    <a:bodyPr/>
                    <a:lstStyle/>
                    <a:p>
                      <a:pPr algn="r">
                        <a:buNone/>
                      </a:pPr>
                      <a:r>
                        <a:rPr lang="en-US" sz="1700">
                          <a:effectLst/>
                        </a:rPr>
                        <a:t>100–1000</a:t>
                      </a:r>
                      <a:endParaRPr lang="en-US" sz="1700" b="0" i="0">
                        <a:solidFill>
                          <a:srgbClr val="FFFFFF"/>
                        </a:solidFill>
                        <a:effectLst/>
                      </a:endParaRPr>
                    </a:p>
                  </a:txBody>
                  <a:tcPr marL="87925" marR="87925" marT="43963" marB="43963" anchor="ctr"/>
                </a:tc>
                <a:tc>
                  <a:txBody>
                    <a:bodyPr/>
                    <a:lstStyle/>
                    <a:p>
                      <a:pPr algn="r">
                        <a:buNone/>
                      </a:pPr>
                      <a:r>
                        <a:rPr lang="en-US" sz="1700">
                          <a:effectLst/>
                        </a:rPr>
                        <a:t>500</a:t>
                      </a:r>
                      <a:endParaRPr lang="en-US" sz="1700" b="0" i="0">
                        <a:solidFill>
                          <a:srgbClr val="FFFFFF"/>
                        </a:solidFill>
                        <a:effectLst/>
                      </a:endParaRPr>
                    </a:p>
                  </a:txBody>
                  <a:tcPr marL="87925" marR="87925" marT="43963" marB="43963" anchor="ctr"/>
                </a:tc>
                <a:extLst>
                  <a:ext uri="{0D108BD9-81ED-4DB2-BD59-A6C34878D82A}">
                    <a16:rowId xmlns:a16="http://schemas.microsoft.com/office/drawing/2014/main" val="2385902629"/>
                  </a:ext>
                </a:extLst>
              </a:tr>
              <a:tr h="615476">
                <a:tc>
                  <a:txBody>
                    <a:bodyPr/>
                    <a:lstStyle/>
                    <a:p>
                      <a:pPr algn="l">
                        <a:buNone/>
                      </a:pPr>
                      <a:r>
                        <a:rPr lang="en-US" sz="1700">
                          <a:effectLst/>
                        </a:rPr>
                        <a:t>Early-stopping patience</a:t>
                      </a:r>
                      <a:endParaRPr lang="en-US" sz="1700" b="0" i="0">
                        <a:solidFill>
                          <a:srgbClr val="FFFFFF"/>
                        </a:solidFill>
                        <a:effectLst/>
                      </a:endParaRPr>
                    </a:p>
                  </a:txBody>
                  <a:tcPr marL="87925" marR="87925" marT="43963" marB="43963" anchor="ctr"/>
                </a:tc>
                <a:tc>
                  <a:txBody>
                    <a:bodyPr/>
                    <a:lstStyle/>
                    <a:p>
                      <a:pPr algn="l">
                        <a:buNone/>
                      </a:pPr>
                      <a:r>
                        <a:rPr lang="en-US" sz="1700">
                          <a:effectLst/>
                        </a:rPr>
                        <a:t>When training stops</a:t>
                      </a:r>
                      <a:endParaRPr lang="en-US" sz="1700" b="0" i="0">
                        <a:solidFill>
                          <a:srgbClr val="FFFFFF"/>
                        </a:solidFill>
                        <a:effectLst/>
                      </a:endParaRPr>
                    </a:p>
                  </a:txBody>
                  <a:tcPr marL="87925" marR="87925" marT="43963" marB="43963" anchor="ctr"/>
                </a:tc>
                <a:tc>
                  <a:txBody>
                    <a:bodyPr/>
                    <a:lstStyle/>
                    <a:p>
                      <a:pPr algn="r">
                        <a:buNone/>
                      </a:pPr>
                      <a:r>
                        <a:rPr lang="en-US" sz="1700">
                          <a:effectLst/>
                        </a:rPr>
                        <a:t>10–50 epochs</a:t>
                      </a:r>
                      <a:endParaRPr lang="en-US" sz="1700" b="0" i="0">
                        <a:solidFill>
                          <a:srgbClr val="FFFFFF"/>
                        </a:solidFill>
                        <a:effectLst/>
                      </a:endParaRPr>
                    </a:p>
                  </a:txBody>
                  <a:tcPr marL="87925" marR="87925" marT="43963" marB="43963" anchor="ctr"/>
                </a:tc>
                <a:tc>
                  <a:txBody>
                    <a:bodyPr/>
                    <a:lstStyle/>
                    <a:p>
                      <a:pPr algn="r">
                        <a:buNone/>
                      </a:pPr>
                      <a:r>
                        <a:rPr lang="en-US" sz="1700">
                          <a:effectLst/>
                        </a:rPr>
                        <a:t>20</a:t>
                      </a:r>
                      <a:endParaRPr lang="en-US" sz="1700" b="0" i="0">
                        <a:solidFill>
                          <a:srgbClr val="FFFFFF"/>
                        </a:solidFill>
                        <a:effectLst/>
                      </a:endParaRPr>
                    </a:p>
                  </a:txBody>
                  <a:tcPr marL="87925" marR="87925" marT="43963" marB="43963" anchor="ctr"/>
                </a:tc>
                <a:extLst>
                  <a:ext uri="{0D108BD9-81ED-4DB2-BD59-A6C34878D82A}">
                    <a16:rowId xmlns:a16="http://schemas.microsoft.com/office/drawing/2014/main" val="3364734709"/>
                  </a:ext>
                </a:extLst>
              </a:tr>
              <a:tr h="615476">
                <a:tc>
                  <a:txBody>
                    <a:bodyPr/>
                    <a:lstStyle/>
                    <a:p>
                      <a:pPr algn="l">
                        <a:buNone/>
                      </a:pPr>
                      <a:r>
                        <a:rPr lang="en-US" sz="1700">
                          <a:effectLst/>
                        </a:rPr>
                        <a:t>LR scheduler</a:t>
                      </a:r>
                      <a:endParaRPr lang="en-US" sz="1700" b="0" i="0">
                        <a:solidFill>
                          <a:srgbClr val="FFFFFF"/>
                        </a:solidFill>
                        <a:effectLst/>
                      </a:endParaRPr>
                    </a:p>
                  </a:txBody>
                  <a:tcPr marL="87925" marR="87925" marT="43963" marB="43963" anchor="ctr"/>
                </a:tc>
                <a:tc>
                  <a:txBody>
                    <a:bodyPr/>
                    <a:lstStyle/>
                    <a:p>
                      <a:pPr algn="l">
                        <a:buNone/>
                      </a:pPr>
                      <a:r>
                        <a:rPr lang="en-US" sz="1700">
                          <a:effectLst/>
                        </a:rPr>
                        <a:t>Reduces LR during training</a:t>
                      </a:r>
                      <a:endParaRPr lang="en-US" sz="1700" b="0" i="0">
                        <a:solidFill>
                          <a:srgbClr val="FFFFFF"/>
                        </a:solidFill>
                        <a:effectLst/>
                      </a:endParaRPr>
                    </a:p>
                  </a:txBody>
                  <a:tcPr marL="87925" marR="87925" marT="43963" marB="43963" anchor="ctr"/>
                </a:tc>
                <a:tc>
                  <a:txBody>
                    <a:bodyPr/>
                    <a:lstStyle/>
                    <a:p>
                      <a:pPr algn="r">
                        <a:buNone/>
                      </a:pPr>
                      <a:r>
                        <a:rPr lang="en-US" sz="1700">
                          <a:effectLst/>
                        </a:rPr>
                        <a:t>none / plateau / cosine</a:t>
                      </a:r>
                      <a:endParaRPr lang="en-US" sz="1700" b="0" i="0">
                        <a:solidFill>
                          <a:srgbClr val="FFFFFF"/>
                        </a:solidFill>
                        <a:effectLst/>
                      </a:endParaRPr>
                    </a:p>
                  </a:txBody>
                  <a:tcPr marL="87925" marR="87925" marT="43963" marB="43963" anchor="ctr"/>
                </a:tc>
                <a:tc>
                  <a:txBody>
                    <a:bodyPr/>
                    <a:lstStyle/>
                    <a:p>
                      <a:pPr algn="r">
                        <a:buNone/>
                      </a:pPr>
                      <a:r>
                        <a:rPr lang="en-US" sz="1700" dirty="0">
                          <a:effectLst/>
                        </a:rPr>
                        <a:t>plateau</a:t>
                      </a:r>
                      <a:endParaRPr lang="en-US" sz="1700" b="0" i="0" dirty="0">
                        <a:solidFill>
                          <a:srgbClr val="FFFFFF"/>
                        </a:solidFill>
                        <a:effectLst/>
                      </a:endParaRPr>
                    </a:p>
                  </a:txBody>
                  <a:tcPr marL="87925" marR="87925" marT="43963" marB="43963" anchor="ctr"/>
                </a:tc>
                <a:extLst>
                  <a:ext uri="{0D108BD9-81ED-4DB2-BD59-A6C34878D82A}">
                    <a16:rowId xmlns:a16="http://schemas.microsoft.com/office/drawing/2014/main" val="2144431332"/>
                  </a:ext>
                </a:extLst>
              </a:tr>
            </a:tbl>
          </a:graphicData>
        </a:graphic>
      </p:graphicFrame>
    </p:spTree>
    <p:extLst>
      <p:ext uri="{BB962C8B-B14F-4D97-AF65-F5344CB8AC3E}">
        <p14:creationId xmlns:p14="http://schemas.microsoft.com/office/powerpoint/2010/main" val="3355990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51D3B-2277-1D98-FF37-6A3B5DBDB631}"/>
              </a:ext>
            </a:extLst>
          </p:cNvPr>
          <p:cNvSpPr>
            <a:spLocks noGrp="1"/>
          </p:cNvSpPr>
          <p:nvPr>
            <p:ph type="title"/>
          </p:nvPr>
        </p:nvSpPr>
        <p:spPr/>
        <p:txBody>
          <a:bodyPr>
            <a:normAutofit fontScale="90000"/>
          </a:bodyPr>
          <a:lstStyle/>
          <a:p>
            <a:r>
              <a:rPr lang="en-US" dirty="0"/>
              <a:t>In Class Assignment</a:t>
            </a:r>
          </a:p>
        </p:txBody>
      </p:sp>
      <p:sp>
        <p:nvSpPr>
          <p:cNvPr id="3" name="Content Placeholder 2">
            <a:extLst>
              <a:ext uri="{FF2B5EF4-FFF2-40B4-BE49-F238E27FC236}">
                <a16:creationId xmlns:a16="http://schemas.microsoft.com/office/drawing/2014/main" id="{6BE88EF9-3BDC-675F-C4C2-0F252CD9926F}"/>
              </a:ext>
            </a:extLst>
          </p:cNvPr>
          <p:cNvSpPr>
            <a:spLocks noGrp="1"/>
          </p:cNvSpPr>
          <p:nvPr>
            <p:ph idx="1"/>
          </p:nvPr>
        </p:nvSpPr>
        <p:spPr/>
        <p:txBody>
          <a:bodyPr/>
          <a:lstStyle/>
          <a:p>
            <a:pPr marL="0" indent="0">
              <a:buNone/>
            </a:pPr>
            <a:r>
              <a:rPr lang="en-US" dirty="0"/>
              <a:t>Complete In Class Assignment 7 found on Blackboard or in the course </a:t>
            </a:r>
            <a:r>
              <a:rPr lang="en-US" dirty="0">
                <a:hlinkClick r:id="rId2"/>
              </a:rPr>
              <a:t>GitHub Repo</a:t>
            </a:r>
            <a:endParaRPr lang="en-US" dirty="0"/>
          </a:p>
          <a:p>
            <a:endParaRPr lang="en-US" dirty="0"/>
          </a:p>
        </p:txBody>
      </p:sp>
      <p:sp>
        <p:nvSpPr>
          <p:cNvPr id="4" name="Footer Placeholder 3">
            <a:extLst>
              <a:ext uri="{FF2B5EF4-FFF2-40B4-BE49-F238E27FC236}">
                <a16:creationId xmlns:a16="http://schemas.microsoft.com/office/drawing/2014/main" id="{2A7D381A-A232-66F9-8317-EDB47A287139}"/>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E7F011E8-95C1-499C-2A3E-DA038CA8B226}"/>
              </a:ext>
            </a:extLst>
          </p:cNvPr>
          <p:cNvSpPr>
            <a:spLocks noGrp="1"/>
          </p:cNvSpPr>
          <p:nvPr>
            <p:ph type="sldNum" sz="quarter" idx="12"/>
          </p:nvPr>
        </p:nvSpPr>
        <p:spPr/>
        <p:txBody>
          <a:bodyPr/>
          <a:lstStyle/>
          <a:p>
            <a:fld id="{10A4AB6E-1AC4-C44F-A0CC-883A0306AF8B}" type="slidenum">
              <a:rPr lang="en-US" smtClean="0"/>
              <a:t>14</a:t>
            </a:fld>
            <a:endParaRPr lang="en-US"/>
          </a:p>
        </p:txBody>
      </p:sp>
    </p:spTree>
    <p:extLst>
      <p:ext uri="{BB962C8B-B14F-4D97-AF65-F5344CB8AC3E}">
        <p14:creationId xmlns:p14="http://schemas.microsoft.com/office/powerpoint/2010/main" val="1158846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8903</TotalTime>
  <Words>510</Words>
  <Application>Microsoft Macintosh PowerPoint</Application>
  <PresentationFormat>Widescreen</PresentationFormat>
  <Paragraphs>137</Paragraphs>
  <Slides>14</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GEOL 599 Applied Machine Learning for Geoscience Data</vt:lpstr>
      <vt:lpstr>Neural Network Overview</vt:lpstr>
      <vt:lpstr>Optimizers</vt:lpstr>
      <vt:lpstr>Convex vs. Non-Convex Optimization</vt:lpstr>
      <vt:lpstr>Optimizer to update weights</vt:lpstr>
      <vt:lpstr>Gradient Descent</vt:lpstr>
      <vt:lpstr>Stochastic/Mini-Batch Gradient Descent</vt:lpstr>
      <vt:lpstr>Why (not) SGD</vt:lpstr>
      <vt:lpstr>Stochastic Gradient Descent with Momentum</vt:lpstr>
      <vt:lpstr>RMSProp (Root Mean Square Propagation)</vt:lpstr>
      <vt:lpstr>PowerPoint Presentation</vt:lpstr>
      <vt:lpstr>Adaptive Moment Estimation (Adam)</vt:lpstr>
      <vt:lpstr>Hyperparameters</vt:lpstr>
      <vt:lpstr>In Class 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Blaskey, Dylan</dc:creator>
  <cp:lastModifiedBy>Blaskey, Dylan</cp:lastModifiedBy>
  <cp:revision>38</cp:revision>
  <dcterms:created xsi:type="dcterms:W3CDTF">2026-04-30T17:26:45Z</dcterms:created>
  <dcterms:modified xsi:type="dcterms:W3CDTF">2026-09-30T19:56:31Z</dcterms:modified>
</cp:coreProperties>
</file>