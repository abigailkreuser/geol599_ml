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460" r:id="rId3"/>
    <p:sldId id="457" r:id="rId4"/>
    <p:sldId id="349" r:id="rId5"/>
    <p:sldId id="366" r:id="rId6"/>
    <p:sldId id="358" r:id="rId7"/>
    <p:sldId id="359" r:id="rId8"/>
    <p:sldId id="459" r:id="rId9"/>
    <p:sldId id="461" r:id="rId10"/>
    <p:sldId id="336" r:id="rId11"/>
    <p:sldId id="339" r:id="rId12"/>
    <p:sldId id="315" r:id="rId13"/>
    <p:sldId id="324" r:id="rId14"/>
    <p:sldId id="316" r:id="rId15"/>
    <p:sldId id="323" r:id="rId16"/>
    <p:sldId id="325" r:id="rId17"/>
    <p:sldId id="368" r:id="rId18"/>
    <p:sldId id="370" r:id="rId19"/>
    <p:sldId id="405" r:id="rId20"/>
    <p:sldId id="437" r:id="rId21"/>
    <p:sldId id="430" r:id="rId22"/>
    <p:sldId id="439" r:id="rId23"/>
    <p:sldId id="397" r:id="rId24"/>
    <p:sldId id="398" r:id="rId25"/>
    <p:sldId id="399" r:id="rId26"/>
    <p:sldId id="402" r:id="rId27"/>
    <p:sldId id="456" r:id="rId28"/>
    <p:sldId id="462"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300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658"/>
    <p:restoredTop sz="78514"/>
  </p:normalViewPr>
  <p:slideViewPr>
    <p:cSldViewPr snapToGrid="0">
      <p:cViewPr varScale="1">
        <p:scale>
          <a:sx n="141" d="100"/>
          <a:sy n="141" d="100"/>
        </p:scale>
        <p:origin x="200" y="3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A49FDC-47A8-F54E-9812-4874F92A1A9F}" type="datetimeFigureOut">
              <a:rPr lang="en-US" smtClean="0"/>
              <a:t>8/24/26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FF3C1A-D9C4-F241-9E29-49D7A16F9780}" type="slidenum">
              <a:rPr lang="en-US" smtClean="0"/>
              <a:t>‹#›</a:t>
            </a:fld>
            <a:endParaRPr lang="en-US"/>
          </a:p>
        </p:txBody>
      </p:sp>
    </p:spTree>
    <p:extLst>
      <p:ext uri="{BB962C8B-B14F-4D97-AF65-F5344CB8AC3E}">
        <p14:creationId xmlns:p14="http://schemas.microsoft.com/office/powerpoint/2010/main" val="25903391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7</a:t>
            </a:fld>
            <a:endParaRPr lang="en-US"/>
          </a:p>
        </p:txBody>
      </p:sp>
    </p:spTree>
    <p:extLst>
      <p:ext uri="{BB962C8B-B14F-4D97-AF65-F5344CB8AC3E}">
        <p14:creationId xmlns:p14="http://schemas.microsoft.com/office/powerpoint/2010/main" val="39800790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board</a:t>
            </a:r>
          </a:p>
        </p:txBody>
      </p:sp>
      <p:sp>
        <p:nvSpPr>
          <p:cNvPr id="4" name="Slide Number Placeholder 3"/>
          <p:cNvSpPr>
            <a:spLocks noGrp="1"/>
          </p:cNvSpPr>
          <p:nvPr>
            <p:ph type="sldNum" sz="quarter" idx="5"/>
          </p:nvPr>
        </p:nvSpPr>
        <p:spPr/>
        <p:txBody>
          <a:bodyPr/>
          <a:lstStyle/>
          <a:p>
            <a:fld id="{FBFF3C1A-D9C4-F241-9E29-49D7A16F9780}" type="slidenum">
              <a:rPr lang="en-US" smtClean="0"/>
              <a:t>9</a:t>
            </a:fld>
            <a:endParaRPr lang="en-US"/>
          </a:p>
        </p:txBody>
      </p:sp>
    </p:spTree>
    <p:extLst>
      <p:ext uri="{BB962C8B-B14F-4D97-AF65-F5344CB8AC3E}">
        <p14:creationId xmlns:p14="http://schemas.microsoft.com/office/powerpoint/2010/main" val="8386061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constitutes cost in this case (same as “loss function” in this case)? </a:t>
            </a:r>
          </a:p>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10</a:t>
            </a:fld>
            <a:endParaRPr lang="en-US"/>
          </a:p>
        </p:txBody>
      </p:sp>
    </p:spTree>
    <p:extLst>
      <p:ext uri="{BB962C8B-B14F-4D97-AF65-F5344CB8AC3E}">
        <p14:creationId xmlns:p14="http://schemas.microsoft.com/office/powerpoint/2010/main" val="1432830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12</a:t>
            </a:fld>
            <a:endParaRPr lang="en-US"/>
          </a:p>
        </p:txBody>
      </p:sp>
    </p:spTree>
    <p:extLst>
      <p:ext uri="{BB962C8B-B14F-4D97-AF65-F5344CB8AC3E}">
        <p14:creationId xmlns:p14="http://schemas.microsoft.com/office/powerpoint/2010/main" val="29433535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14</a:t>
            </a:fld>
            <a:endParaRPr lang="en-US"/>
          </a:p>
        </p:txBody>
      </p:sp>
    </p:spTree>
    <p:extLst>
      <p:ext uri="{BB962C8B-B14F-4D97-AF65-F5344CB8AC3E}">
        <p14:creationId xmlns:p14="http://schemas.microsoft.com/office/powerpoint/2010/main" val="31528285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16</a:t>
            </a:fld>
            <a:endParaRPr lang="en-US"/>
          </a:p>
        </p:txBody>
      </p:sp>
    </p:spTree>
    <p:extLst>
      <p:ext uri="{BB962C8B-B14F-4D97-AF65-F5344CB8AC3E}">
        <p14:creationId xmlns:p14="http://schemas.microsoft.com/office/powerpoint/2010/main" val="20433132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17</a:t>
            </a:fld>
            <a:endParaRPr lang="en-US"/>
          </a:p>
        </p:txBody>
      </p:sp>
    </p:spTree>
    <p:extLst>
      <p:ext uri="{BB962C8B-B14F-4D97-AF65-F5344CB8AC3E}">
        <p14:creationId xmlns:p14="http://schemas.microsoft.com/office/powerpoint/2010/main" val="27319919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20</a:t>
            </a:fld>
            <a:endParaRPr lang="en-US"/>
          </a:p>
        </p:txBody>
      </p:sp>
    </p:spTree>
    <p:extLst>
      <p:ext uri="{BB962C8B-B14F-4D97-AF65-F5344CB8AC3E}">
        <p14:creationId xmlns:p14="http://schemas.microsoft.com/office/powerpoint/2010/main" val="4227325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24</a:t>
            </a:fld>
            <a:endParaRPr lang="en-US"/>
          </a:p>
        </p:txBody>
      </p:sp>
    </p:spTree>
    <p:extLst>
      <p:ext uri="{BB962C8B-B14F-4D97-AF65-F5344CB8AC3E}">
        <p14:creationId xmlns:p14="http://schemas.microsoft.com/office/powerpoint/2010/main" val="4240456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25</a:t>
            </a:fld>
            <a:endParaRPr lang="en-US"/>
          </a:p>
        </p:txBody>
      </p:sp>
    </p:spTree>
    <p:extLst>
      <p:ext uri="{BB962C8B-B14F-4D97-AF65-F5344CB8AC3E}">
        <p14:creationId xmlns:p14="http://schemas.microsoft.com/office/powerpoint/2010/main" val="9288289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8B01AE6-E8E1-85B2-DE89-19A7E3AB6DE1}"/>
              </a:ext>
            </a:extLst>
          </p:cNvPr>
          <p:cNvSpPr>
            <a:spLocks noGrp="1"/>
          </p:cNvSpPr>
          <p:nvPr>
            <p:ph type="subTitle" idx="1" hasCustomPrompt="1"/>
          </p:nvPr>
        </p:nvSpPr>
        <p:spPr>
          <a:xfrm>
            <a:off x="1524000" y="2252209"/>
            <a:ext cx="9144000" cy="588963"/>
          </a:xfrm>
        </p:spPr>
        <p:txBody>
          <a:bodyP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Lecture</a:t>
            </a:r>
          </a:p>
          <a:p>
            <a:r>
              <a:rPr lang="en-US" dirty="0"/>
              <a:t> </a:t>
            </a:r>
          </a:p>
        </p:txBody>
      </p:sp>
      <p:sp>
        <p:nvSpPr>
          <p:cNvPr id="8" name="Footer Placeholder 7">
            <a:extLst>
              <a:ext uri="{FF2B5EF4-FFF2-40B4-BE49-F238E27FC236}">
                <a16:creationId xmlns:a16="http://schemas.microsoft.com/office/drawing/2014/main" id="{FEA3DDF7-4F23-7FC1-A6F1-B9ACB64996C4}"/>
              </a:ext>
            </a:extLst>
          </p:cNvPr>
          <p:cNvSpPr>
            <a:spLocks noGrp="1"/>
          </p:cNvSpPr>
          <p:nvPr>
            <p:ph type="ftr" sz="quarter" idx="11"/>
          </p:nvPr>
        </p:nvSpPr>
        <p:spPr/>
        <p:txBody>
          <a:bodyPr/>
          <a:lstStyle>
            <a:lvl1pPr>
              <a:defRPr>
                <a:solidFill>
                  <a:schemeClr val="tx1"/>
                </a:solidFill>
              </a:defRPr>
            </a:lvl1pPr>
          </a:lstStyle>
          <a:p>
            <a:r>
              <a:rPr lang="en-US" dirty="0">
                <a:solidFill>
                  <a:schemeClr val="tx1"/>
                </a:solidFill>
              </a:rPr>
              <a:t>GEOL 599</a:t>
            </a:r>
          </a:p>
        </p:txBody>
      </p:sp>
      <p:sp>
        <p:nvSpPr>
          <p:cNvPr id="9" name="Slide Number Placeholder 8">
            <a:extLst>
              <a:ext uri="{FF2B5EF4-FFF2-40B4-BE49-F238E27FC236}">
                <a16:creationId xmlns:a16="http://schemas.microsoft.com/office/drawing/2014/main" id="{0C1EBF45-1E3C-5639-6B06-6CF54D95E03F}"/>
              </a:ext>
            </a:extLst>
          </p:cNvPr>
          <p:cNvSpPr>
            <a:spLocks noGrp="1"/>
          </p:cNvSpPr>
          <p:nvPr>
            <p:ph type="sldNum" sz="quarter" idx="12"/>
          </p:nvPr>
        </p:nvSpPr>
        <p:spPr/>
        <p:txBody>
          <a:bodyPr/>
          <a:lstStyle>
            <a:lvl1pPr>
              <a:defRPr>
                <a:solidFill>
                  <a:schemeClr val="tx1"/>
                </a:solidFill>
              </a:defRPr>
            </a:lvl1pPr>
          </a:lstStyle>
          <a:p>
            <a:fld id="{10A4AB6E-1AC4-C44F-A0CC-883A0306AF8B}" type="slidenum">
              <a:rPr lang="en-US" smtClean="0"/>
              <a:pPr/>
              <a:t>‹#›</a:t>
            </a:fld>
            <a:endParaRPr lang="en-US" dirty="0"/>
          </a:p>
        </p:txBody>
      </p:sp>
      <p:cxnSp>
        <p:nvCxnSpPr>
          <p:cNvPr id="11" name="Straight Connector 10">
            <a:extLst>
              <a:ext uri="{FF2B5EF4-FFF2-40B4-BE49-F238E27FC236}">
                <a16:creationId xmlns:a16="http://schemas.microsoft.com/office/drawing/2014/main" id="{00DB6341-93E9-1E69-609E-73BBFB4BA579}"/>
              </a:ext>
            </a:extLst>
          </p:cNvPr>
          <p:cNvCxnSpPr>
            <a:cxnSpLocks/>
          </p:cNvCxnSpPr>
          <p:nvPr userDrawn="1"/>
        </p:nvCxnSpPr>
        <p:spPr>
          <a:xfrm>
            <a:off x="990600" y="3058886"/>
            <a:ext cx="10156371" cy="0"/>
          </a:xfrm>
          <a:prstGeom prst="line">
            <a:avLst/>
          </a:prstGeom>
          <a:ln>
            <a:solidFill>
              <a:srgbClr val="73000A"/>
            </a:solidFill>
          </a:ln>
        </p:spPr>
        <p:style>
          <a:lnRef idx="2">
            <a:schemeClr val="accent1"/>
          </a:lnRef>
          <a:fillRef idx="0">
            <a:schemeClr val="accent1"/>
          </a:fillRef>
          <a:effectRef idx="1">
            <a:schemeClr val="accent1"/>
          </a:effectRef>
          <a:fontRef idx="minor">
            <a:schemeClr val="tx1"/>
          </a:fontRef>
        </p:style>
      </p:cxnSp>
      <p:sp>
        <p:nvSpPr>
          <p:cNvPr id="12" name="Subtitle 2">
            <a:extLst>
              <a:ext uri="{FF2B5EF4-FFF2-40B4-BE49-F238E27FC236}">
                <a16:creationId xmlns:a16="http://schemas.microsoft.com/office/drawing/2014/main" id="{522C522C-189E-E345-55A5-F92D4350F77D}"/>
              </a:ext>
            </a:extLst>
          </p:cNvPr>
          <p:cNvSpPr txBox="1">
            <a:spLocks/>
          </p:cNvSpPr>
          <p:nvPr userDrawn="1"/>
        </p:nvSpPr>
        <p:spPr>
          <a:xfrm>
            <a:off x="1518557" y="3276601"/>
            <a:ext cx="9144000" cy="286202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400" dirty="0">
                <a:solidFill>
                  <a:schemeClr val="tx1"/>
                </a:solidFill>
              </a:rPr>
              <a:t>Today’s Objectives</a:t>
            </a:r>
          </a:p>
          <a:p>
            <a:endParaRPr lang="en-US" sz="2400" dirty="0">
              <a:solidFill>
                <a:schemeClr val="tx1"/>
              </a:solidFill>
            </a:endParaRPr>
          </a:p>
          <a:p>
            <a:endParaRPr lang="en-US" sz="2400" dirty="0">
              <a:solidFill>
                <a:schemeClr val="tx1"/>
              </a:solidFill>
            </a:endParaRPr>
          </a:p>
          <a:p>
            <a:endParaRPr lang="en-US" sz="2400" dirty="0">
              <a:solidFill>
                <a:schemeClr val="tx1"/>
              </a:solidFill>
            </a:endParaRPr>
          </a:p>
          <a:p>
            <a:endParaRPr lang="en-US" sz="2400" dirty="0">
              <a:solidFill>
                <a:schemeClr val="tx1"/>
              </a:solidFill>
            </a:endParaRPr>
          </a:p>
          <a:p>
            <a:endParaRPr lang="en-US" sz="3800" dirty="0">
              <a:solidFill>
                <a:schemeClr val="tx1"/>
              </a:solidFill>
            </a:endParaRPr>
          </a:p>
        </p:txBody>
      </p:sp>
      <p:sp>
        <p:nvSpPr>
          <p:cNvPr id="13" name="Rectangle 12">
            <a:extLst>
              <a:ext uri="{FF2B5EF4-FFF2-40B4-BE49-F238E27FC236}">
                <a16:creationId xmlns:a16="http://schemas.microsoft.com/office/drawing/2014/main" id="{BFBD97F3-4925-C570-5514-2E8A7F901638}"/>
              </a:ext>
            </a:extLst>
          </p:cNvPr>
          <p:cNvSpPr/>
          <p:nvPr userDrawn="1"/>
        </p:nvSpPr>
        <p:spPr>
          <a:xfrm>
            <a:off x="0" y="0"/>
            <a:ext cx="12192000" cy="10341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7E6434-D3C5-35B8-2A5B-12571E53B479}"/>
              </a:ext>
            </a:extLst>
          </p:cNvPr>
          <p:cNvSpPr>
            <a:spLocks noGrp="1"/>
          </p:cNvSpPr>
          <p:nvPr>
            <p:ph type="ctrTitle" hasCustomPrompt="1"/>
          </p:nvPr>
        </p:nvSpPr>
        <p:spPr>
          <a:xfrm>
            <a:off x="-5443" y="-244251"/>
            <a:ext cx="12192000" cy="2387600"/>
          </a:xfrm>
        </p:spPr>
        <p:txBody>
          <a:bodyPr anchor="b"/>
          <a:lstStyle>
            <a:lvl1pPr algn="ctr">
              <a:defRPr sz="4800">
                <a:solidFill>
                  <a:schemeClr val="tx1"/>
                </a:solidFill>
              </a:defRPr>
            </a:lvl1pPr>
          </a:lstStyle>
          <a:p>
            <a:r>
              <a:rPr lang="en-US" dirty="0"/>
              <a:t>GEOL 599</a:t>
            </a:r>
            <a:br>
              <a:rPr lang="en-US" dirty="0"/>
            </a:br>
            <a:r>
              <a:rPr lang="en-US" dirty="0"/>
              <a:t>Applied Machine Learning for Geoscience Data</a:t>
            </a:r>
          </a:p>
        </p:txBody>
      </p:sp>
    </p:spTree>
    <p:extLst>
      <p:ext uri="{BB962C8B-B14F-4D97-AF65-F5344CB8AC3E}">
        <p14:creationId xmlns:p14="http://schemas.microsoft.com/office/powerpoint/2010/main" val="29691130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505B7-09A3-CD35-0F48-F6AC4FE002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18CA42-DE5B-A0F5-7D42-23509A2DDDE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CDB7EA-5BEF-6A60-8C8C-EE99F86D730B}"/>
              </a:ext>
            </a:extLst>
          </p:cNvPr>
          <p:cNvSpPr>
            <a:spLocks noGrp="1"/>
          </p:cNvSpPr>
          <p:nvPr>
            <p:ph type="dt" sz="half" idx="10"/>
          </p:nvPr>
        </p:nvSpPr>
        <p:spPr>
          <a:xfrm>
            <a:off x="838200" y="6356350"/>
            <a:ext cx="2743200" cy="365125"/>
          </a:xfrm>
          <a:prstGeom prst="rect">
            <a:avLst/>
          </a:prstGeom>
        </p:spPr>
        <p:txBody>
          <a:bodyPr/>
          <a:lstStyle/>
          <a:p>
            <a:fld id="{09418D03-48AA-CB49-A132-AF8A2DA0E64B}" type="datetime1">
              <a:rPr lang="en-US" smtClean="0"/>
              <a:t>8/24/26</a:t>
            </a:fld>
            <a:endParaRPr lang="en-US"/>
          </a:p>
        </p:txBody>
      </p:sp>
      <p:sp>
        <p:nvSpPr>
          <p:cNvPr id="5" name="Footer Placeholder 4">
            <a:extLst>
              <a:ext uri="{FF2B5EF4-FFF2-40B4-BE49-F238E27FC236}">
                <a16:creationId xmlns:a16="http://schemas.microsoft.com/office/drawing/2014/main" id="{DAEF1026-75B7-EFCA-1EB7-A6D8B3B464D5}"/>
              </a:ext>
            </a:extLst>
          </p:cNvPr>
          <p:cNvSpPr>
            <a:spLocks noGrp="1"/>
          </p:cNvSpPr>
          <p:nvPr>
            <p:ph type="ftr" sz="quarter" idx="11"/>
          </p:nvPr>
        </p:nvSpPr>
        <p:spPr/>
        <p:txBody>
          <a:bodyPr/>
          <a:lstStyle/>
          <a:p>
            <a:r>
              <a:rPr lang="en-US"/>
              <a:t>GEOL 599</a:t>
            </a:r>
          </a:p>
        </p:txBody>
      </p:sp>
      <p:sp>
        <p:nvSpPr>
          <p:cNvPr id="6" name="Slide Number Placeholder 5">
            <a:extLst>
              <a:ext uri="{FF2B5EF4-FFF2-40B4-BE49-F238E27FC236}">
                <a16:creationId xmlns:a16="http://schemas.microsoft.com/office/drawing/2014/main" id="{FCE2B28F-DC4B-2CAA-D736-7042BDD1564F}"/>
              </a:ext>
            </a:extLst>
          </p:cNvPr>
          <p:cNvSpPr>
            <a:spLocks noGrp="1"/>
          </p:cNvSpPr>
          <p:nvPr>
            <p:ph type="sldNum" sz="quarter" idx="12"/>
          </p:nvPr>
        </p:nvSpPr>
        <p:spPr/>
        <p:txBody>
          <a:bodyPr/>
          <a:lstStyle/>
          <a:p>
            <a:fld id="{10A4AB6E-1AC4-C44F-A0CC-883A0306AF8B}" type="slidenum">
              <a:rPr lang="en-US" smtClean="0"/>
              <a:t>‹#›</a:t>
            </a:fld>
            <a:endParaRPr lang="en-US"/>
          </a:p>
        </p:txBody>
      </p:sp>
    </p:spTree>
    <p:extLst>
      <p:ext uri="{BB962C8B-B14F-4D97-AF65-F5344CB8AC3E}">
        <p14:creationId xmlns:p14="http://schemas.microsoft.com/office/powerpoint/2010/main" val="204787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75A5D-6083-49E0-EB07-46E46705DB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794158-D0ED-B328-7FB6-8508C50E72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AEA2D35-2853-8EB1-AFAE-2A9E5C2B439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AF664778-0B2B-73D7-BD5C-AE37BF503074}"/>
              </a:ext>
            </a:extLst>
          </p:cNvPr>
          <p:cNvSpPr>
            <a:spLocks noGrp="1"/>
          </p:cNvSpPr>
          <p:nvPr>
            <p:ph type="ftr" sz="quarter" idx="11"/>
          </p:nvPr>
        </p:nvSpPr>
        <p:spPr/>
        <p:txBody>
          <a:bodyPr/>
          <a:lstStyle/>
          <a:p>
            <a:r>
              <a:rPr lang="en-US"/>
              <a:t>GEOL 599</a:t>
            </a:r>
          </a:p>
        </p:txBody>
      </p:sp>
      <p:sp>
        <p:nvSpPr>
          <p:cNvPr id="7" name="Slide Number Placeholder 6">
            <a:extLst>
              <a:ext uri="{FF2B5EF4-FFF2-40B4-BE49-F238E27FC236}">
                <a16:creationId xmlns:a16="http://schemas.microsoft.com/office/drawing/2014/main" id="{77B6A1EE-6D0F-02A2-34F3-06FAF29A1888}"/>
              </a:ext>
            </a:extLst>
          </p:cNvPr>
          <p:cNvSpPr>
            <a:spLocks noGrp="1"/>
          </p:cNvSpPr>
          <p:nvPr>
            <p:ph type="sldNum" sz="quarter" idx="12"/>
          </p:nvPr>
        </p:nvSpPr>
        <p:spPr/>
        <p:txBody>
          <a:bodyPr/>
          <a:lstStyle/>
          <a:p>
            <a:fld id="{10A4AB6E-1AC4-C44F-A0CC-883A0306AF8B}" type="slidenum">
              <a:rPr lang="en-US" smtClean="0"/>
              <a:t>‹#›</a:t>
            </a:fld>
            <a:endParaRPr lang="en-US"/>
          </a:p>
        </p:txBody>
      </p:sp>
    </p:spTree>
    <p:extLst>
      <p:ext uri="{BB962C8B-B14F-4D97-AF65-F5344CB8AC3E}">
        <p14:creationId xmlns:p14="http://schemas.microsoft.com/office/powerpoint/2010/main" val="30665104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FD206-18F2-9CE1-11FE-5F7FD5C753A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B1E4094-9CD9-970B-A183-C9901E31D423}"/>
              </a:ext>
            </a:extLst>
          </p:cNvPr>
          <p:cNvSpPr>
            <a:spLocks noGrp="1"/>
          </p:cNvSpPr>
          <p:nvPr>
            <p:ph type="dt" sz="half" idx="10"/>
          </p:nvPr>
        </p:nvSpPr>
        <p:spPr>
          <a:xfrm>
            <a:off x="838200" y="6356350"/>
            <a:ext cx="2743200" cy="365125"/>
          </a:xfrm>
          <a:prstGeom prst="rect">
            <a:avLst/>
          </a:prstGeom>
        </p:spPr>
        <p:txBody>
          <a:bodyPr/>
          <a:lstStyle/>
          <a:p>
            <a:fld id="{22FBD965-6108-7945-883E-024EB22FF9F9}" type="datetime1">
              <a:rPr lang="en-US" smtClean="0"/>
              <a:t>8/24/26</a:t>
            </a:fld>
            <a:endParaRPr lang="en-US"/>
          </a:p>
        </p:txBody>
      </p:sp>
      <p:sp>
        <p:nvSpPr>
          <p:cNvPr id="4" name="Footer Placeholder 3">
            <a:extLst>
              <a:ext uri="{FF2B5EF4-FFF2-40B4-BE49-F238E27FC236}">
                <a16:creationId xmlns:a16="http://schemas.microsoft.com/office/drawing/2014/main" id="{78655C67-D7DD-F09A-B00B-A801CAB65AC7}"/>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84401E41-A874-FA58-18A5-EA60211D0E73}"/>
              </a:ext>
            </a:extLst>
          </p:cNvPr>
          <p:cNvSpPr>
            <a:spLocks noGrp="1"/>
          </p:cNvSpPr>
          <p:nvPr>
            <p:ph type="sldNum" sz="quarter" idx="12"/>
          </p:nvPr>
        </p:nvSpPr>
        <p:spPr/>
        <p:txBody>
          <a:bodyPr/>
          <a:lstStyle/>
          <a:p>
            <a:fld id="{10A4AB6E-1AC4-C44F-A0CC-883A0306AF8B}" type="slidenum">
              <a:rPr lang="en-US" smtClean="0"/>
              <a:t>‹#›</a:t>
            </a:fld>
            <a:endParaRPr lang="en-US"/>
          </a:p>
        </p:txBody>
      </p:sp>
    </p:spTree>
    <p:extLst>
      <p:ext uri="{BB962C8B-B14F-4D97-AF65-F5344CB8AC3E}">
        <p14:creationId xmlns:p14="http://schemas.microsoft.com/office/powerpoint/2010/main" val="502197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FF5D95-40F0-0635-C904-7E748079148B}"/>
              </a:ext>
            </a:extLst>
          </p:cNvPr>
          <p:cNvSpPr>
            <a:spLocks noGrp="1"/>
          </p:cNvSpPr>
          <p:nvPr>
            <p:ph type="dt" sz="half" idx="10"/>
          </p:nvPr>
        </p:nvSpPr>
        <p:spPr>
          <a:xfrm>
            <a:off x="838200" y="6356350"/>
            <a:ext cx="2743200" cy="365125"/>
          </a:xfrm>
          <a:prstGeom prst="rect">
            <a:avLst/>
          </a:prstGeom>
        </p:spPr>
        <p:txBody>
          <a:bodyPr/>
          <a:lstStyle/>
          <a:p>
            <a:fld id="{0275880B-0B4C-2E4A-B266-E0FE9A68D62F}" type="datetime1">
              <a:rPr lang="en-US" smtClean="0"/>
              <a:t>8/24/26</a:t>
            </a:fld>
            <a:endParaRPr lang="en-US"/>
          </a:p>
        </p:txBody>
      </p:sp>
      <p:sp>
        <p:nvSpPr>
          <p:cNvPr id="3" name="Footer Placeholder 2">
            <a:extLst>
              <a:ext uri="{FF2B5EF4-FFF2-40B4-BE49-F238E27FC236}">
                <a16:creationId xmlns:a16="http://schemas.microsoft.com/office/drawing/2014/main" id="{74DB12B9-C9F2-BACD-A839-913B604B56CD}"/>
              </a:ext>
            </a:extLst>
          </p:cNvPr>
          <p:cNvSpPr>
            <a:spLocks noGrp="1"/>
          </p:cNvSpPr>
          <p:nvPr>
            <p:ph type="ftr" sz="quarter" idx="11"/>
          </p:nvPr>
        </p:nvSpPr>
        <p:spPr/>
        <p:txBody>
          <a:bodyPr/>
          <a:lstStyle/>
          <a:p>
            <a:r>
              <a:rPr lang="en-US"/>
              <a:t>GEOL 599</a:t>
            </a:r>
          </a:p>
        </p:txBody>
      </p:sp>
      <p:sp>
        <p:nvSpPr>
          <p:cNvPr id="4" name="Slide Number Placeholder 3">
            <a:extLst>
              <a:ext uri="{FF2B5EF4-FFF2-40B4-BE49-F238E27FC236}">
                <a16:creationId xmlns:a16="http://schemas.microsoft.com/office/drawing/2014/main" id="{84A29665-3410-49BB-1D7A-41AF6002487A}"/>
              </a:ext>
            </a:extLst>
          </p:cNvPr>
          <p:cNvSpPr>
            <a:spLocks noGrp="1"/>
          </p:cNvSpPr>
          <p:nvPr>
            <p:ph type="sldNum" sz="quarter" idx="12"/>
          </p:nvPr>
        </p:nvSpPr>
        <p:spPr/>
        <p:txBody>
          <a:bodyPr/>
          <a:lstStyle/>
          <a:p>
            <a:fld id="{10A4AB6E-1AC4-C44F-A0CC-883A0306AF8B}" type="slidenum">
              <a:rPr lang="en-US" smtClean="0"/>
              <a:t>‹#›</a:t>
            </a:fld>
            <a:endParaRPr lang="en-US"/>
          </a:p>
        </p:txBody>
      </p:sp>
    </p:spTree>
    <p:extLst>
      <p:ext uri="{BB962C8B-B14F-4D97-AF65-F5344CB8AC3E}">
        <p14:creationId xmlns:p14="http://schemas.microsoft.com/office/powerpoint/2010/main" val="19248497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63C0E-7FC5-B6FD-1C83-A481576B9B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6A655D9-2AF1-203E-B440-CA1770A50A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60E54E5-7F53-5749-117E-C893269717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A3D668-5A6A-2815-6A54-44B974F023FF}"/>
              </a:ext>
            </a:extLst>
          </p:cNvPr>
          <p:cNvSpPr>
            <a:spLocks noGrp="1"/>
          </p:cNvSpPr>
          <p:nvPr>
            <p:ph type="dt" sz="half" idx="10"/>
          </p:nvPr>
        </p:nvSpPr>
        <p:spPr>
          <a:xfrm>
            <a:off x="838200" y="6356350"/>
            <a:ext cx="2743200" cy="365125"/>
          </a:xfrm>
          <a:prstGeom prst="rect">
            <a:avLst/>
          </a:prstGeom>
        </p:spPr>
        <p:txBody>
          <a:bodyPr/>
          <a:lstStyle/>
          <a:p>
            <a:fld id="{12EC2D56-32BF-9F41-918E-49D0AA578943}" type="datetime1">
              <a:rPr lang="en-US" smtClean="0"/>
              <a:t>8/24/26</a:t>
            </a:fld>
            <a:endParaRPr lang="en-US"/>
          </a:p>
        </p:txBody>
      </p:sp>
      <p:sp>
        <p:nvSpPr>
          <p:cNvPr id="6" name="Footer Placeholder 5">
            <a:extLst>
              <a:ext uri="{FF2B5EF4-FFF2-40B4-BE49-F238E27FC236}">
                <a16:creationId xmlns:a16="http://schemas.microsoft.com/office/drawing/2014/main" id="{8053E52E-D8F4-5313-1B36-986748552080}"/>
              </a:ext>
            </a:extLst>
          </p:cNvPr>
          <p:cNvSpPr>
            <a:spLocks noGrp="1"/>
          </p:cNvSpPr>
          <p:nvPr>
            <p:ph type="ftr" sz="quarter" idx="11"/>
          </p:nvPr>
        </p:nvSpPr>
        <p:spPr/>
        <p:txBody>
          <a:bodyPr/>
          <a:lstStyle/>
          <a:p>
            <a:r>
              <a:rPr lang="en-US"/>
              <a:t>GEOL 599</a:t>
            </a:r>
          </a:p>
        </p:txBody>
      </p:sp>
      <p:sp>
        <p:nvSpPr>
          <p:cNvPr id="7" name="Slide Number Placeholder 6">
            <a:extLst>
              <a:ext uri="{FF2B5EF4-FFF2-40B4-BE49-F238E27FC236}">
                <a16:creationId xmlns:a16="http://schemas.microsoft.com/office/drawing/2014/main" id="{2BC80849-1A56-0383-E5C4-97DDE0488723}"/>
              </a:ext>
            </a:extLst>
          </p:cNvPr>
          <p:cNvSpPr>
            <a:spLocks noGrp="1"/>
          </p:cNvSpPr>
          <p:nvPr>
            <p:ph type="sldNum" sz="quarter" idx="12"/>
          </p:nvPr>
        </p:nvSpPr>
        <p:spPr/>
        <p:txBody>
          <a:bodyPr/>
          <a:lstStyle/>
          <a:p>
            <a:fld id="{10A4AB6E-1AC4-C44F-A0CC-883A0306AF8B}" type="slidenum">
              <a:rPr lang="en-US" smtClean="0"/>
              <a:t>‹#›</a:t>
            </a:fld>
            <a:endParaRPr lang="en-US"/>
          </a:p>
        </p:txBody>
      </p:sp>
    </p:spTree>
    <p:extLst>
      <p:ext uri="{BB962C8B-B14F-4D97-AF65-F5344CB8AC3E}">
        <p14:creationId xmlns:p14="http://schemas.microsoft.com/office/powerpoint/2010/main" val="8574167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7B588-3C09-D5CF-2676-6FC7737E3C2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AD266BE-5A12-67D9-057B-1BBF237367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161E22-66C9-B589-0129-498B002A0EC5}"/>
              </a:ext>
            </a:extLst>
          </p:cNvPr>
          <p:cNvSpPr>
            <a:spLocks noGrp="1"/>
          </p:cNvSpPr>
          <p:nvPr>
            <p:ph type="dt" sz="half" idx="10"/>
          </p:nvPr>
        </p:nvSpPr>
        <p:spPr>
          <a:xfrm>
            <a:off x="838200" y="6356350"/>
            <a:ext cx="2743200" cy="365125"/>
          </a:xfrm>
          <a:prstGeom prst="rect">
            <a:avLst/>
          </a:prstGeom>
        </p:spPr>
        <p:txBody>
          <a:bodyPr/>
          <a:lstStyle/>
          <a:p>
            <a:fld id="{59722F35-E892-0345-AB79-C0946392D699}" type="datetime1">
              <a:rPr lang="en-US" smtClean="0"/>
              <a:t>8/24/26</a:t>
            </a:fld>
            <a:endParaRPr lang="en-US"/>
          </a:p>
        </p:txBody>
      </p:sp>
      <p:sp>
        <p:nvSpPr>
          <p:cNvPr id="5" name="Footer Placeholder 4">
            <a:extLst>
              <a:ext uri="{FF2B5EF4-FFF2-40B4-BE49-F238E27FC236}">
                <a16:creationId xmlns:a16="http://schemas.microsoft.com/office/drawing/2014/main" id="{67AE1508-762A-D53F-C7EC-9D9BF416BA06}"/>
              </a:ext>
            </a:extLst>
          </p:cNvPr>
          <p:cNvSpPr>
            <a:spLocks noGrp="1"/>
          </p:cNvSpPr>
          <p:nvPr>
            <p:ph type="ftr" sz="quarter" idx="11"/>
          </p:nvPr>
        </p:nvSpPr>
        <p:spPr/>
        <p:txBody>
          <a:bodyPr/>
          <a:lstStyle/>
          <a:p>
            <a:r>
              <a:rPr lang="en-US"/>
              <a:t>GEOL 599</a:t>
            </a:r>
          </a:p>
        </p:txBody>
      </p:sp>
      <p:sp>
        <p:nvSpPr>
          <p:cNvPr id="6" name="Slide Number Placeholder 5">
            <a:extLst>
              <a:ext uri="{FF2B5EF4-FFF2-40B4-BE49-F238E27FC236}">
                <a16:creationId xmlns:a16="http://schemas.microsoft.com/office/drawing/2014/main" id="{3410CDCB-37FC-4C2D-A3D2-0DD3FFECEA4F}"/>
              </a:ext>
            </a:extLst>
          </p:cNvPr>
          <p:cNvSpPr>
            <a:spLocks noGrp="1"/>
          </p:cNvSpPr>
          <p:nvPr>
            <p:ph type="sldNum" sz="quarter" idx="12"/>
          </p:nvPr>
        </p:nvSpPr>
        <p:spPr/>
        <p:txBody>
          <a:bodyPr/>
          <a:lstStyle/>
          <a:p>
            <a:fld id="{10A4AB6E-1AC4-C44F-A0CC-883A0306AF8B}" type="slidenum">
              <a:rPr lang="en-US" smtClean="0"/>
              <a:t>‹#›</a:t>
            </a:fld>
            <a:endParaRPr lang="en-US"/>
          </a:p>
        </p:txBody>
      </p:sp>
    </p:spTree>
    <p:extLst>
      <p:ext uri="{BB962C8B-B14F-4D97-AF65-F5344CB8AC3E}">
        <p14:creationId xmlns:p14="http://schemas.microsoft.com/office/powerpoint/2010/main" val="1323050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3F802EE-C334-A1A8-98B8-350093E9A97B}"/>
              </a:ext>
            </a:extLst>
          </p:cNvPr>
          <p:cNvSpPr/>
          <p:nvPr userDrawn="1"/>
        </p:nvSpPr>
        <p:spPr>
          <a:xfrm>
            <a:off x="0" y="0"/>
            <a:ext cx="12192000" cy="1001486"/>
          </a:xfrm>
          <a:prstGeom prst="rect">
            <a:avLst/>
          </a:prstGeom>
          <a:solidFill>
            <a:srgbClr val="7300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DE59E362-3E7B-106E-C26F-017E025D026C}"/>
              </a:ext>
            </a:extLst>
          </p:cNvPr>
          <p:cNvSpPr>
            <a:spLocks noGrp="1"/>
          </p:cNvSpPr>
          <p:nvPr>
            <p:ph type="title"/>
          </p:nvPr>
        </p:nvSpPr>
        <p:spPr>
          <a:xfrm>
            <a:off x="838200" y="223611"/>
            <a:ext cx="10515600" cy="68787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BDB616FF-4C58-32D3-4174-A5F9887DA9DC}"/>
              </a:ext>
            </a:extLst>
          </p:cNvPr>
          <p:cNvSpPr>
            <a:spLocks noGrp="1"/>
          </p:cNvSpPr>
          <p:nvPr>
            <p:ph type="body" idx="1"/>
          </p:nvPr>
        </p:nvSpPr>
        <p:spPr>
          <a:xfrm>
            <a:off x="838200" y="1135094"/>
            <a:ext cx="10515600" cy="50114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4A32BC8C-1205-6412-7DF1-F9370BF637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olidFill>
              </a:defRPr>
            </a:lvl1pPr>
          </a:lstStyle>
          <a:p>
            <a:r>
              <a:rPr lang="en-US" dirty="0">
                <a:solidFill>
                  <a:schemeClr val="tx1"/>
                </a:solidFill>
              </a:rPr>
              <a:t>GEOL 599</a:t>
            </a:r>
          </a:p>
        </p:txBody>
      </p:sp>
      <p:sp>
        <p:nvSpPr>
          <p:cNvPr id="6" name="Slide Number Placeholder 5">
            <a:extLst>
              <a:ext uri="{FF2B5EF4-FFF2-40B4-BE49-F238E27FC236}">
                <a16:creationId xmlns:a16="http://schemas.microsoft.com/office/drawing/2014/main" id="{DADF6326-AC4E-DA41-3F99-70C0F11188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defRPr>
            </a:lvl1pPr>
          </a:lstStyle>
          <a:p>
            <a:fld id="{10A4AB6E-1AC4-C44F-A0CC-883A0306AF8B}" type="slidenum">
              <a:rPr lang="en-US" smtClean="0"/>
              <a:pPr/>
              <a:t>‹#›</a:t>
            </a:fld>
            <a:endParaRPr lang="en-US" dirty="0">
              <a:solidFill>
                <a:schemeClr val="tx1"/>
              </a:solidFill>
            </a:endParaRPr>
          </a:p>
        </p:txBody>
      </p:sp>
      <p:pic>
        <p:nvPicPr>
          <p:cNvPr id="8" name="Graphic 7">
            <a:extLst>
              <a:ext uri="{FF2B5EF4-FFF2-40B4-BE49-F238E27FC236}">
                <a16:creationId xmlns:a16="http://schemas.microsoft.com/office/drawing/2014/main" id="{896C53DE-F0FB-6345-E263-C4CF733709AE}"/>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78922" y="6036159"/>
            <a:ext cx="3159579" cy="913432"/>
          </a:xfrm>
          <a:prstGeom prst="rect">
            <a:avLst/>
          </a:prstGeom>
        </p:spPr>
      </p:pic>
    </p:spTree>
    <p:extLst>
      <p:ext uri="{BB962C8B-B14F-4D97-AF65-F5344CB8AC3E}">
        <p14:creationId xmlns:p14="http://schemas.microsoft.com/office/powerpoint/2010/main" val="40414950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5" r:id="rId5"/>
    <p:sldLayoutId id="2147483657" r:id="rId6"/>
    <p:sldLayoutId id="2147483658" r:id="rId7"/>
  </p:sldLayoutIdLst>
  <p:hf hdr="0" dt="0"/>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1D74B-1267-62B5-F4B9-8B9EE90CEDDD}"/>
              </a:ext>
            </a:extLst>
          </p:cNvPr>
          <p:cNvSpPr>
            <a:spLocks noGrp="1"/>
          </p:cNvSpPr>
          <p:nvPr>
            <p:ph type="ctrTitle"/>
          </p:nvPr>
        </p:nvSpPr>
        <p:spPr/>
        <p:txBody>
          <a:bodyPr/>
          <a:lstStyle/>
          <a:p>
            <a:r>
              <a:rPr lang="en-US" dirty="0"/>
              <a:t>GEOL 599</a:t>
            </a:r>
            <a:br>
              <a:rPr lang="en-US" dirty="0"/>
            </a:br>
            <a:r>
              <a:rPr lang="en-US" dirty="0"/>
              <a:t>Applied Machine Learning for Geoscience Data</a:t>
            </a:r>
          </a:p>
        </p:txBody>
      </p:sp>
      <p:sp>
        <p:nvSpPr>
          <p:cNvPr id="3" name="Subtitle 2">
            <a:extLst>
              <a:ext uri="{FF2B5EF4-FFF2-40B4-BE49-F238E27FC236}">
                <a16:creationId xmlns:a16="http://schemas.microsoft.com/office/drawing/2014/main" id="{D9FB06DC-E070-314E-1C1A-F8B257144CDD}"/>
              </a:ext>
            </a:extLst>
          </p:cNvPr>
          <p:cNvSpPr>
            <a:spLocks noGrp="1"/>
          </p:cNvSpPr>
          <p:nvPr>
            <p:ph type="subTitle" idx="1"/>
          </p:nvPr>
        </p:nvSpPr>
        <p:spPr/>
        <p:txBody>
          <a:bodyPr/>
          <a:lstStyle/>
          <a:p>
            <a:r>
              <a:rPr lang="en-US"/>
              <a:t>Lecture 2</a:t>
            </a:r>
            <a:endParaRPr lang="en-US" dirty="0"/>
          </a:p>
        </p:txBody>
      </p:sp>
      <p:sp>
        <p:nvSpPr>
          <p:cNvPr id="10" name="TextBox 9">
            <a:extLst>
              <a:ext uri="{FF2B5EF4-FFF2-40B4-BE49-F238E27FC236}">
                <a16:creationId xmlns:a16="http://schemas.microsoft.com/office/drawing/2014/main" id="{F1FCA0F4-200B-9DEE-1D44-C6B1B4432703}"/>
              </a:ext>
              <a:ext uri="{C183D7F6-B498-43B3-948B-1728B52AA6E4}">
                <adec:decorative xmlns:adec="http://schemas.microsoft.com/office/drawing/2017/decorative" val="0"/>
              </a:ext>
            </a:extLst>
          </p:cNvPr>
          <p:cNvSpPr txBox="1"/>
          <p:nvPr/>
        </p:nvSpPr>
        <p:spPr>
          <a:xfrm>
            <a:off x="949124" y="3703898"/>
            <a:ext cx="10232020" cy="1200329"/>
          </a:xfrm>
          <a:prstGeom prst="rect">
            <a:avLst/>
          </a:prstGeom>
          <a:noFill/>
        </p:spPr>
        <p:txBody>
          <a:bodyPr wrap="square" rtlCol="0">
            <a:spAutoFit/>
          </a:bodyPr>
          <a:lstStyle/>
          <a:p>
            <a:pPr marL="342900" indent="-342900">
              <a:buFont typeface="+mj-lt"/>
              <a:buAutoNum type="arabicPeriod"/>
            </a:pPr>
            <a:r>
              <a:rPr lang="en-US" sz="2400" dirty="0"/>
              <a:t>Linear regression and KNN</a:t>
            </a:r>
          </a:p>
          <a:p>
            <a:pPr marL="342900" indent="-342900">
              <a:buFont typeface="+mj-lt"/>
              <a:buAutoNum type="arabicPeriod"/>
            </a:pPr>
            <a:r>
              <a:rPr lang="en-US" sz="2400" dirty="0"/>
              <a:t>Test/train split</a:t>
            </a:r>
          </a:p>
          <a:p>
            <a:pPr marL="342900" indent="-342900">
              <a:buFont typeface="+mj-lt"/>
              <a:buAutoNum type="arabicPeriod"/>
            </a:pPr>
            <a:r>
              <a:rPr lang="en-US" sz="2400" dirty="0"/>
              <a:t>Handling missing data</a:t>
            </a:r>
          </a:p>
        </p:txBody>
      </p:sp>
      <p:sp>
        <p:nvSpPr>
          <p:cNvPr id="4" name="Footer Placeholder 3">
            <a:extLst>
              <a:ext uri="{FF2B5EF4-FFF2-40B4-BE49-F238E27FC236}">
                <a16:creationId xmlns:a16="http://schemas.microsoft.com/office/drawing/2014/main" id="{496939D3-C906-D27A-E627-E49703BA5AEB}"/>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solidFill>
                  <a:schemeClr val="tx1"/>
                </a:solidFill>
              </a:rPr>
              <a:t>GEOL 599</a:t>
            </a:r>
            <a:endParaRPr lang="en-US" dirty="0">
              <a:solidFill>
                <a:schemeClr val="tx1"/>
              </a:solidFill>
            </a:endParaRPr>
          </a:p>
        </p:txBody>
      </p:sp>
      <p:sp>
        <p:nvSpPr>
          <p:cNvPr id="5" name="Slide Number Placeholder 4">
            <a:extLst>
              <a:ext uri="{FF2B5EF4-FFF2-40B4-BE49-F238E27FC236}">
                <a16:creationId xmlns:a16="http://schemas.microsoft.com/office/drawing/2014/main" id="{BE1ED953-1DCE-B252-D7D6-5DDFEE91540D}"/>
              </a:ext>
              <a:ext uri="{C183D7F6-B498-43B3-948B-1728B52AA6E4}">
                <adec:decorative xmlns:adec="http://schemas.microsoft.com/office/drawing/2017/decorative" val="1"/>
              </a:ext>
            </a:extLst>
          </p:cNvPr>
          <p:cNvSpPr>
            <a:spLocks noGrp="1"/>
          </p:cNvSpPr>
          <p:nvPr>
            <p:ph type="sldNum" sz="quarter" idx="12"/>
          </p:nvPr>
        </p:nvSpPr>
        <p:spPr/>
        <p:txBody>
          <a:bodyPr/>
          <a:lstStyle/>
          <a:p>
            <a:fld id="{10A4AB6E-1AC4-C44F-A0CC-883A0306AF8B}" type="slidenum">
              <a:rPr lang="en-US" smtClean="0"/>
              <a:pPr/>
              <a:t>1</a:t>
            </a:fld>
            <a:endParaRPr lang="en-US" dirty="0"/>
          </a:p>
        </p:txBody>
      </p:sp>
    </p:spTree>
    <p:extLst>
      <p:ext uri="{BB962C8B-B14F-4D97-AF65-F5344CB8AC3E}">
        <p14:creationId xmlns:p14="http://schemas.microsoft.com/office/powerpoint/2010/main" val="31987111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F6654-C8B6-EC34-4E40-E38CAA9DEC14}"/>
              </a:ext>
            </a:extLst>
          </p:cNvPr>
          <p:cNvSpPr>
            <a:spLocks noGrp="1"/>
          </p:cNvSpPr>
          <p:nvPr>
            <p:ph type="title"/>
          </p:nvPr>
        </p:nvSpPr>
        <p:spPr/>
        <p:txBody>
          <a:bodyPr>
            <a:normAutofit fontScale="90000"/>
          </a:bodyPr>
          <a:lstStyle/>
          <a:p>
            <a:r>
              <a:rPr lang="en-US" dirty="0"/>
              <a:t>Class logistics</a:t>
            </a:r>
          </a:p>
        </p:txBody>
      </p:sp>
      <p:sp>
        <p:nvSpPr>
          <p:cNvPr id="3" name="Content Placeholder 2">
            <a:extLst>
              <a:ext uri="{FF2B5EF4-FFF2-40B4-BE49-F238E27FC236}">
                <a16:creationId xmlns:a16="http://schemas.microsoft.com/office/drawing/2014/main" id="{BF66D28D-70B8-1382-1AEE-726F7625286E}"/>
              </a:ext>
            </a:extLst>
          </p:cNvPr>
          <p:cNvSpPr>
            <a:spLocks noGrp="1"/>
          </p:cNvSpPr>
          <p:nvPr>
            <p:ph idx="1"/>
          </p:nvPr>
        </p:nvSpPr>
        <p:spPr/>
        <p:txBody>
          <a:bodyPr/>
          <a:lstStyle/>
          <a:p>
            <a:r>
              <a:rPr lang="en-US" dirty="0"/>
              <a:t>Turn in homework (</a:t>
            </a:r>
            <a:r>
              <a:rPr lang="en-US" dirty="0" err="1"/>
              <a:t>Rmarkdown</a:t>
            </a:r>
            <a:r>
              <a:rPr lang="en-US" dirty="0"/>
              <a:t> knitted, completed </a:t>
            </a:r>
            <a:r>
              <a:rPr lang="en-US" dirty="0" err="1"/>
              <a:t>jupyter</a:t>
            </a:r>
            <a:r>
              <a:rPr lang="en-US" dirty="0"/>
              <a:t> notebook, python code + figures and answers to Qs)</a:t>
            </a:r>
          </a:p>
          <a:p>
            <a:r>
              <a:rPr lang="en-US" dirty="0"/>
              <a:t>Notebooks now on Blackboard</a:t>
            </a:r>
          </a:p>
          <a:p>
            <a:r>
              <a:rPr lang="en-US" dirty="0"/>
              <a:t>Git Repo</a:t>
            </a:r>
          </a:p>
          <a:p>
            <a:r>
              <a:rPr lang="en-US" dirty="0"/>
              <a:t>Remaining issues from class 1</a:t>
            </a:r>
          </a:p>
          <a:p>
            <a:pPr lvl="1"/>
            <a:r>
              <a:rPr lang="en-US" dirty="0"/>
              <a:t>Some code not working on some windows machines </a:t>
            </a:r>
          </a:p>
        </p:txBody>
      </p:sp>
      <p:sp>
        <p:nvSpPr>
          <p:cNvPr id="4" name="Footer Placeholder 3">
            <a:extLst>
              <a:ext uri="{FF2B5EF4-FFF2-40B4-BE49-F238E27FC236}">
                <a16:creationId xmlns:a16="http://schemas.microsoft.com/office/drawing/2014/main" id="{8687CEBB-D41B-2019-AD9D-AB8FFE8DE230}"/>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7C46BC6F-39D0-02D3-2C88-29398381519B}"/>
              </a:ext>
            </a:extLst>
          </p:cNvPr>
          <p:cNvSpPr>
            <a:spLocks noGrp="1"/>
          </p:cNvSpPr>
          <p:nvPr>
            <p:ph type="sldNum" sz="quarter" idx="12"/>
          </p:nvPr>
        </p:nvSpPr>
        <p:spPr/>
        <p:txBody>
          <a:bodyPr/>
          <a:lstStyle/>
          <a:p>
            <a:fld id="{10A4AB6E-1AC4-C44F-A0CC-883A0306AF8B}" type="slidenum">
              <a:rPr lang="en-US" smtClean="0"/>
              <a:t>2</a:t>
            </a:fld>
            <a:endParaRPr lang="en-US"/>
          </a:p>
        </p:txBody>
      </p:sp>
    </p:spTree>
    <p:extLst>
      <p:ext uri="{BB962C8B-B14F-4D97-AF65-F5344CB8AC3E}">
        <p14:creationId xmlns:p14="http://schemas.microsoft.com/office/powerpoint/2010/main" val="3005296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99748-B9DC-19D6-A04D-888B710C3EB4}"/>
              </a:ext>
            </a:extLst>
          </p:cNvPr>
          <p:cNvSpPr>
            <a:spLocks noGrp="1"/>
          </p:cNvSpPr>
          <p:nvPr>
            <p:ph type="title"/>
          </p:nvPr>
        </p:nvSpPr>
        <p:spPr/>
        <p:txBody>
          <a:bodyPr>
            <a:normAutofit fontScale="90000"/>
          </a:bodyPr>
          <a:lstStyle/>
          <a:p>
            <a:r>
              <a:rPr lang="en-US" dirty="0"/>
              <a:t>Discussion Question</a:t>
            </a:r>
          </a:p>
        </p:txBody>
      </p:sp>
      <p:sp>
        <p:nvSpPr>
          <p:cNvPr id="3" name="Content Placeholder 2">
            <a:extLst>
              <a:ext uri="{FF2B5EF4-FFF2-40B4-BE49-F238E27FC236}">
                <a16:creationId xmlns:a16="http://schemas.microsoft.com/office/drawing/2014/main" id="{49339805-3753-0D80-35F6-E207DD7BC491}"/>
              </a:ext>
            </a:extLst>
          </p:cNvPr>
          <p:cNvSpPr>
            <a:spLocks noGrp="1"/>
          </p:cNvSpPr>
          <p:nvPr>
            <p:ph idx="1"/>
          </p:nvPr>
        </p:nvSpPr>
        <p:spPr/>
        <p:txBody>
          <a:bodyPr/>
          <a:lstStyle/>
          <a:p>
            <a:pPr marL="0" indent="0">
              <a:buNone/>
            </a:pPr>
            <a:r>
              <a:rPr lang="en-US" dirty="0"/>
              <a:t>On a residential, two-way street with no sidewalks, on what side of the street should you walk?</a:t>
            </a:r>
          </a:p>
          <a:p>
            <a:pPr marL="0" indent="0">
              <a:buNone/>
            </a:pPr>
            <a:r>
              <a:rPr lang="en-US" dirty="0"/>
              <a:t>	A. Right</a:t>
            </a:r>
          </a:p>
          <a:p>
            <a:pPr marL="0" indent="0">
              <a:buNone/>
            </a:pPr>
            <a:r>
              <a:rPr lang="en-US" dirty="0"/>
              <a:t>	B. Left</a:t>
            </a:r>
          </a:p>
          <a:p>
            <a:pPr marL="0" indent="0">
              <a:buNone/>
            </a:pPr>
            <a:r>
              <a:rPr lang="en-US" dirty="0"/>
              <a:t>	C. Either</a:t>
            </a:r>
          </a:p>
          <a:p>
            <a:pPr marL="0" indent="0">
              <a:buNone/>
            </a:pPr>
            <a:r>
              <a:rPr lang="en-US" dirty="0"/>
              <a:t>	D. You aren’t allowed to walk on those streets</a:t>
            </a:r>
          </a:p>
        </p:txBody>
      </p:sp>
      <p:sp>
        <p:nvSpPr>
          <p:cNvPr id="4" name="Footer Placeholder 3">
            <a:extLst>
              <a:ext uri="{FF2B5EF4-FFF2-40B4-BE49-F238E27FC236}">
                <a16:creationId xmlns:a16="http://schemas.microsoft.com/office/drawing/2014/main" id="{BEA8906D-416F-BD57-8B2B-37C9271012BC}"/>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7A584CE1-E171-392B-3E0B-3D70ACF921F2}"/>
              </a:ext>
            </a:extLst>
          </p:cNvPr>
          <p:cNvSpPr>
            <a:spLocks noGrp="1"/>
          </p:cNvSpPr>
          <p:nvPr>
            <p:ph type="sldNum" sz="quarter" idx="12"/>
          </p:nvPr>
        </p:nvSpPr>
        <p:spPr/>
        <p:txBody>
          <a:bodyPr/>
          <a:lstStyle/>
          <a:p>
            <a:fld id="{10A4AB6E-1AC4-C44F-A0CC-883A0306AF8B}" type="slidenum">
              <a:rPr lang="en-US" smtClean="0"/>
              <a:t>3</a:t>
            </a:fld>
            <a:endParaRPr lang="en-US"/>
          </a:p>
        </p:txBody>
      </p:sp>
    </p:spTree>
    <p:extLst>
      <p:ext uri="{BB962C8B-B14F-4D97-AF65-F5344CB8AC3E}">
        <p14:creationId xmlns:p14="http://schemas.microsoft.com/office/powerpoint/2010/main" val="2453739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03F77-7574-84D3-49E6-03703DD78658}"/>
              </a:ext>
            </a:extLst>
          </p:cNvPr>
          <p:cNvSpPr>
            <a:spLocks noGrp="1"/>
          </p:cNvSpPr>
          <p:nvPr>
            <p:ph type="title"/>
          </p:nvPr>
        </p:nvSpPr>
        <p:spPr/>
        <p:txBody>
          <a:bodyPr>
            <a:normAutofit fontScale="90000"/>
          </a:bodyPr>
          <a:lstStyle/>
          <a:p>
            <a:r>
              <a:rPr lang="en-US" dirty="0"/>
              <a:t>How to fit a curve</a:t>
            </a:r>
          </a:p>
        </p:txBody>
      </p:sp>
      <p:sp>
        <p:nvSpPr>
          <p:cNvPr id="4" name="Footer Placeholder 3">
            <a:extLst>
              <a:ext uri="{FF2B5EF4-FFF2-40B4-BE49-F238E27FC236}">
                <a16:creationId xmlns:a16="http://schemas.microsoft.com/office/drawing/2014/main" id="{3F3306DE-3040-C25E-257B-DB2DA88CB497}"/>
              </a:ext>
            </a:extLst>
          </p:cNvPr>
          <p:cNvSpPr>
            <a:spLocks noGrp="1"/>
          </p:cNvSpPr>
          <p:nvPr>
            <p:ph type="ftr" sz="quarter" idx="11"/>
          </p:nvPr>
        </p:nvSpPr>
        <p:spPr/>
        <p:txBody>
          <a:bodyPr/>
          <a:lstStyle/>
          <a:p>
            <a:r>
              <a:rPr lang="en-US" dirty="0"/>
              <a:t>GEOL 599</a:t>
            </a:r>
          </a:p>
        </p:txBody>
      </p:sp>
      <p:sp>
        <p:nvSpPr>
          <p:cNvPr id="5" name="Slide Number Placeholder 4">
            <a:extLst>
              <a:ext uri="{FF2B5EF4-FFF2-40B4-BE49-F238E27FC236}">
                <a16:creationId xmlns:a16="http://schemas.microsoft.com/office/drawing/2014/main" id="{F6C5959B-8530-B791-C149-4ED64D9AAB5A}"/>
              </a:ext>
            </a:extLst>
          </p:cNvPr>
          <p:cNvSpPr>
            <a:spLocks noGrp="1"/>
          </p:cNvSpPr>
          <p:nvPr>
            <p:ph type="sldNum" sz="quarter" idx="12"/>
          </p:nvPr>
        </p:nvSpPr>
        <p:spPr/>
        <p:txBody>
          <a:bodyPr/>
          <a:lstStyle/>
          <a:p>
            <a:fld id="{10A4AB6E-1AC4-C44F-A0CC-883A0306AF8B}" type="slidenum">
              <a:rPr lang="en-US" smtClean="0"/>
              <a:t>4</a:t>
            </a:fld>
            <a:endParaRPr lang="en-US"/>
          </a:p>
        </p:txBody>
      </p:sp>
      <p:pic>
        <p:nvPicPr>
          <p:cNvPr id="24" name="Picture 23" descr="A simple scatter plot">
            <a:extLst>
              <a:ext uri="{FF2B5EF4-FFF2-40B4-BE49-F238E27FC236}">
                <a16:creationId xmlns:a16="http://schemas.microsoft.com/office/drawing/2014/main" id="{33D45663-D634-8564-D652-FC6812891087}"/>
              </a:ext>
            </a:extLst>
          </p:cNvPr>
          <p:cNvPicPr>
            <a:picLocks noChangeAspect="1"/>
          </p:cNvPicPr>
          <p:nvPr/>
        </p:nvPicPr>
        <p:blipFill>
          <a:blip r:embed="rId2"/>
          <a:srcRect l="6437" t="5530" b="9952"/>
          <a:stretch>
            <a:fillRect/>
          </a:stretch>
        </p:blipFill>
        <p:spPr>
          <a:xfrm>
            <a:off x="1289891" y="1221418"/>
            <a:ext cx="9407487" cy="4665663"/>
          </a:xfrm>
          <a:prstGeom prst="rect">
            <a:avLst/>
          </a:prstGeom>
        </p:spPr>
      </p:pic>
    </p:spTree>
    <p:extLst>
      <p:ext uri="{BB962C8B-B14F-4D97-AF65-F5344CB8AC3E}">
        <p14:creationId xmlns:p14="http://schemas.microsoft.com/office/powerpoint/2010/main" val="2004004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28FC1-D08F-D33A-0F16-D01AFF906802}"/>
              </a:ext>
            </a:extLst>
          </p:cNvPr>
          <p:cNvSpPr>
            <a:spLocks noGrp="1"/>
          </p:cNvSpPr>
          <p:nvPr>
            <p:ph type="title"/>
          </p:nvPr>
        </p:nvSpPr>
        <p:spPr/>
        <p:txBody>
          <a:bodyPr>
            <a:normAutofit fontScale="90000"/>
          </a:bodyPr>
          <a:lstStyle/>
          <a:p>
            <a:r>
              <a:rPr lang="en-US" dirty="0"/>
              <a:t>Defining the problem</a:t>
            </a:r>
          </a:p>
        </p:txBody>
      </p:sp>
      <p:graphicFrame>
        <p:nvGraphicFramePr>
          <p:cNvPr id="6" name="Content Placeholder 5">
            <a:extLst>
              <a:ext uri="{FF2B5EF4-FFF2-40B4-BE49-F238E27FC236}">
                <a16:creationId xmlns:a16="http://schemas.microsoft.com/office/drawing/2014/main" id="{B7C30E0F-EB89-0BF6-E2B2-248E1F7D79F2}"/>
              </a:ext>
            </a:extLst>
          </p:cNvPr>
          <p:cNvGraphicFramePr>
            <a:graphicFrameLocks noGrp="1"/>
          </p:cNvGraphicFramePr>
          <p:nvPr>
            <p:ph idx="1"/>
            <p:extLst>
              <p:ext uri="{D42A27DB-BD31-4B8C-83A1-F6EECF244321}">
                <p14:modId xmlns:p14="http://schemas.microsoft.com/office/powerpoint/2010/main" val="671150009"/>
              </p:ext>
            </p:extLst>
          </p:nvPr>
        </p:nvGraphicFramePr>
        <p:xfrm>
          <a:off x="619125" y="1302196"/>
          <a:ext cx="11572875" cy="4663440"/>
        </p:xfrm>
        <a:graphic>
          <a:graphicData uri="http://schemas.openxmlformats.org/drawingml/2006/table">
            <a:tbl>
              <a:tblPr firstRow="1"/>
              <a:tblGrid>
                <a:gridCol w="4972050">
                  <a:extLst>
                    <a:ext uri="{9D8B030D-6E8A-4147-A177-3AD203B41FA5}">
                      <a16:colId xmlns:a16="http://schemas.microsoft.com/office/drawing/2014/main" val="2298458754"/>
                    </a:ext>
                  </a:extLst>
                </a:gridCol>
                <a:gridCol w="6600825">
                  <a:extLst>
                    <a:ext uri="{9D8B030D-6E8A-4147-A177-3AD203B41FA5}">
                      <a16:colId xmlns:a16="http://schemas.microsoft.com/office/drawing/2014/main" val="800419176"/>
                    </a:ext>
                  </a:extLst>
                </a:gridCol>
              </a:tblGrid>
              <a:tr h="0">
                <a:tc>
                  <a:txBody>
                    <a:bodyPr/>
                    <a:lstStyle/>
                    <a:p>
                      <a:pPr algn="l">
                        <a:buNone/>
                      </a:pPr>
                      <a:r>
                        <a:rPr lang="en-US" sz="2200" b="0" i="0" dirty="0">
                          <a:solidFill>
                            <a:schemeClr val="tx1"/>
                          </a:solidFill>
                          <a:effectLst/>
                        </a:rPr>
                        <a:t>Question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2200" b="0" i="0" dirty="0">
                          <a:solidFill>
                            <a:schemeClr val="tx1"/>
                          </a:solidFill>
                          <a:effectLst/>
                        </a:rPr>
                        <a:t>Answer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40268364"/>
                  </a:ext>
                </a:extLst>
              </a:tr>
              <a:tr h="0">
                <a:tc>
                  <a:txBody>
                    <a:bodyPr/>
                    <a:lstStyle/>
                    <a:p>
                      <a:pPr algn="l">
                        <a:buNone/>
                      </a:pPr>
                      <a:r>
                        <a:rPr lang="en-US" sz="2200" b="0" i="0" dirty="0">
                          <a:solidFill>
                            <a:schemeClr val="tx1"/>
                          </a:solidFill>
                          <a:effectLst/>
                        </a:rPr>
                        <a:t>What is the prediction target?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2200" b="0" i="0" dirty="0">
                          <a:solidFill>
                            <a:schemeClr val="tx1"/>
                          </a:solidFill>
                          <a:effectLst/>
                        </a:rPr>
                        <a:t>Soil organic carbon, flood occurrence, daily streamflow, land-cover class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8306915"/>
                  </a:ext>
                </a:extLst>
              </a:tr>
              <a:tr h="0">
                <a:tc>
                  <a:txBody>
                    <a:bodyPr/>
                    <a:lstStyle/>
                    <a:p>
                      <a:pPr algn="l">
                        <a:buNone/>
                      </a:pPr>
                      <a:r>
                        <a:rPr lang="en-US" sz="2200" b="0" i="0" dirty="0">
                          <a:solidFill>
                            <a:schemeClr val="tx1"/>
                          </a:solidFill>
                          <a:effectLst/>
                        </a:rPr>
                        <a:t>What is the spatial resolution?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2200" b="0" i="0" dirty="0">
                          <a:solidFill>
                            <a:schemeClr val="tx1"/>
                          </a:solidFill>
                          <a:effectLst/>
                        </a:rPr>
                        <a:t>10 m Sentinel-2 pixels, 1 km grid cells, watershed averages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0582822"/>
                  </a:ext>
                </a:extLst>
              </a:tr>
              <a:tr h="0">
                <a:tc>
                  <a:txBody>
                    <a:bodyPr/>
                    <a:lstStyle/>
                    <a:p>
                      <a:pPr algn="l">
                        <a:buNone/>
                      </a:pPr>
                      <a:r>
                        <a:rPr lang="en-US" sz="2200" b="0" i="0" dirty="0">
                          <a:solidFill>
                            <a:schemeClr val="tx1"/>
                          </a:solidFill>
                          <a:effectLst/>
                        </a:rPr>
                        <a:t>What is the temporal resolution?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2200" b="0" i="0" dirty="0">
                          <a:solidFill>
                            <a:schemeClr val="tx1"/>
                          </a:solidFill>
                          <a:effectLst/>
                        </a:rPr>
                        <a:t>Hourly, daily, monthly, annual, event-based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46630170"/>
                  </a:ext>
                </a:extLst>
              </a:tr>
              <a:tr h="0">
                <a:tc>
                  <a:txBody>
                    <a:bodyPr/>
                    <a:lstStyle/>
                    <a:p>
                      <a:pPr algn="l">
                        <a:buNone/>
                      </a:pPr>
                      <a:r>
                        <a:rPr lang="en-US" sz="2200" b="0" i="0" dirty="0">
                          <a:solidFill>
                            <a:schemeClr val="tx1"/>
                          </a:solidFill>
                          <a:effectLst/>
                        </a:rPr>
                        <a:t>What is the intended use?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2200" b="0" i="0" dirty="0">
                          <a:solidFill>
                            <a:schemeClr val="tx1"/>
                          </a:solidFill>
                          <a:effectLst/>
                        </a:rPr>
                        <a:t>Forecasting, mapping, interpolation, risk ranking, classification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5871267"/>
                  </a:ext>
                </a:extLst>
              </a:tr>
              <a:tr h="0">
                <a:tc>
                  <a:txBody>
                    <a:bodyPr/>
                    <a:lstStyle/>
                    <a:p>
                      <a:pPr algn="l">
                        <a:buNone/>
                      </a:pPr>
                      <a:r>
                        <a:rPr lang="en-US" sz="2200" b="0" i="0">
                          <a:solidFill>
                            <a:schemeClr val="tx1"/>
                          </a:solidFill>
                          <a:effectLst/>
                        </a:rPr>
                        <a:t>What is the deployment domain?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2200" b="0" i="0" dirty="0">
                          <a:solidFill>
                            <a:schemeClr val="tx1"/>
                          </a:solidFill>
                          <a:effectLst/>
                        </a:rPr>
                        <a:t>Same region, new region, future period, global map, new sensor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11130584"/>
                  </a:ext>
                </a:extLst>
              </a:tr>
              <a:tr h="0">
                <a:tc>
                  <a:txBody>
                    <a:bodyPr/>
                    <a:lstStyle/>
                    <a:p>
                      <a:pPr algn="l">
                        <a:buNone/>
                      </a:pPr>
                      <a:r>
                        <a:rPr lang="en-US" sz="2200" b="0" i="0">
                          <a:solidFill>
                            <a:schemeClr val="tx1"/>
                          </a:solidFill>
                          <a:effectLst/>
                        </a:rPr>
                        <a:t>What kind of error matters most?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2200" b="0" i="0" dirty="0">
                          <a:solidFill>
                            <a:schemeClr val="tx1"/>
                          </a:solidFill>
                          <a:effectLst/>
                        </a:rPr>
                        <a:t>Large flood misses, false landslide alarms, average streamflow error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02809432"/>
                  </a:ext>
                </a:extLst>
              </a:tr>
            </a:tbl>
          </a:graphicData>
        </a:graphic>
      </p:graphicFrame>
      <p:sp>
        <p:nvSpPr>
          <p:cNvPr id="4" name="Footer Placeholder 3">
            <a:extLst>
              <a:ext uri="{FF2B5EF4-FFF2-40B4-BE49-F238E27FC236}">
                <a16:creationId xmlns:a16="http://schemas.microsoft.com/office/drawing/2014/main" id="{AE84A067-4EC4-422C-3906-46967156ECB7}"/>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3883F01F-82A1-AE37-7848-B993BB78034A}"/>
              </a:ext>
            </a:extLst>
          </p:cNvPr>
          <p:cNvSpPr>
            <a:spLocks noGrp="1"/>
          </p:cNvSpPr>
          <p:nvPr>
            <p:ph type="sldNum" sz="quarter" idx="12"/>
          </p:nvPr>
        </p:nvSpPr>
        <p:spPr/>
        <p:txBody>
          <a:bodyPr/>
          <a:lstStyle/>
          <a:p>
            <a:fld id="{10A4AB6E-1AC4-C44F-A0CC-883A0306AF8B}" type="slidenum">
              <a:rPr lang="en-US" smtClean="0"/>
              <a:t>5</a:t>
            </a:fld>
            <a:endParaRPr lang="en-US"/>
          </a:p>
        </p:txBody>
      </p:sp>
    </p:spTree>
    <p:extLst>
      <p:ext uri="{BB962C8B-B14F-4D97-AF65-F5344CB8AC3E}">
        <p14:creationId xmlns:p14="http://schemas.microsoft.com/office/powerpoint/2010/main" val="16508778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54C35-77E5-B9BB-AE4E-0BBC6458FE5A}"/>
              </a:ext>
            </a:extLst>
          </p:cNvPr>
          <p:cNvSpPr>
            <a:spLocks noGrp="1"/>
          </p:cNvSpPr>
          <p:nvPr>
            <p:ph type="title"/>
          </p:nvPr>
        </p:nvSpPr>
        <p:spPr/>
        <p:txBody>
          <a:bodyPr>
            <a:normAutofit fontScale="90000"/>
          </a:bodyPr>
          <a:lstStyle/>
          <a:p>
            <a:r>
              <a:rPr lang="en-US" dirty="0"/>
              <a:t>Understand your data!</a:t>
            </a:r>
          </a:p>
        </p:txBody>
      </p:sp>
      <p:sp>
        <p:nvSpPr>
          <p:cNvPr id="3" name="Content Placeholder 2">
            <a:extLst>
              <a:ext uri="{FF2B5EF4-FFF2-40B4-BE49-F238E27FC236}">
                <a16:creationId xmlns:a16="http://schemas.microsoft.com/office/drawing/2014/main" id="{C5AA86E9-5F94-5EAE-38D1-279F0F108540}"/>
              </a:ext>
            </a:extLst>
          </p:cNvPr>
          <p:cNvSpPr>
            <a:spLocks noGrp="1"/>
          </p:cNvSpPr>
          <p:nvPr>
            <p:ph idx="1"/>
          </p:nvPr>
        </p:nvSpPr>
        <p:spPr>
          <a:xfrm>
            <a:off x="838200" y="1135094"/>
            <a:ext cx="5257800" cy="5011428"/>
          </a:xfrm>
        </p:spPr>
        <p:txBody>
          <a:bodyPr/>
          <a:lstStyle/>
          <a:p>
            <a:r>
              <a:rPr lang="en-US" dirty="0"/>
              <a:t>Anscombe's quartet </a:t>
            </a:r>
          </a:p>
          <a:p>
            <a:pPr lvl="1"/>
            <a:r>
              <a:rPr lang="en-US" dirty="0"/>
              <a:t>approximately the same linear regression line </a:t>
            </a:r>
          </a:p>
          <a:p>
            <a:pPr lvl="1"/>
            <a:r>
              <a:rPr lang="en-US" dirty="0"/>
              <a:t>nearly identical means, standard deviations, and correlations </a:t>
            </a:r>
          </a:p>
          <a:p>
            <a:pPr lvl="1"/>
            <a:r>
              <a:rPr lang="en-US" dirty="0"/>
              <a:t>graphically very different</a:t>
            </a:r>
          </a:p>
          <a:p>
            <a:pPr lvl="1"/>
            <a:r>
              <a:rPr lang="en-US" dirty="0"/>
              <a:t>this illustrates the pitfalls of relying solely on a fitted model to understand the relationship between variables.</a:t>
            </a:r>
          </a:p>
        </p:txBody>
      </p:sp>
      <p:sp>
        <p:nvSpPr>
          <p:cNvPr id="4" name="Footer Placeholder 3">
            <a:extLst>
              <a:ext uri="{FF2B5EF4-FFF2-40B4-BE49-F238E27FC236}">
                <a16:creationId xmlns:a16="http://schemas.microsoft.com/office/drawing/2014/main" id="{E9C14A38-F9A2-F92A-8471-A8DD331D147B}"/>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19FC38DB-4436-6C28-4FAF-88E626C7B710}"/>
              </a:ext>
            </a:extLst>
          </p:cNvPr>
          <p:cNvSpPr>
            <a:spLocks noGrp="1"/>
          </p:cNvSpPr>
          <p:nvPr>
            <p:ph type="sldNum" sz="quarter" idx="12"/>
          </p:nvPr>
        </p:nvSpPr>
        <p:spPr/>
        <p:txBody>
          <a:bodyPr/>
          <a:lstStyle/>
          <a:p>
            <a:fld id="{10A4AB6E-1AC4-C44F-A0CC-883A0306AF8B}" type="slidenum">
              <a:rPr lang="en-US" smtClean="0"/>
              <a:t>6</a:t>
            </a:fld>
            <a:endParaRPr lang="en-US"/>
          </a:p>
        </p:txBody>
      </p:sp>
      <p:pic>
        <p:nvPicPr>
          <p:cNvPr id="7" name="Graphic 6" descr="Four scatter plots that look very different but have the same mean, std, and correlations called the Anscombe’s quartet">
            <a:extLst>
              <a:ext uri="{FF2B5EF4-FFF2-40B4-BE49-F238E27FC236}">
                <a16:creationId xmlns:a16="http://schemas.microsoft.com/office/drawing/2014/main" id="{DB51E4C5-6523-39C5-B0AA-C69859574C0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096000" y="1411849"/>
            <a:ext cx="5927705" cy="4311057"/>
          </a:xfrm>
          <a:prstGeom prst="rect">
            <a:avLst/>
          </a:prstGeom>
        </p:spPr>
      </p:pic>
    </p:spTree>
    <p:extLst>
      <p:ext uri="{BB962C8B-B14F-4D97-AF65-F5344CB8AC3E}">
        <p14:creationId xmlns:p14="http://schemas.microsoft.com/office/powerpoint/2010/main" val="34326289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423D1-33FD-DE21-9F3C-047E403F224D}"/>
              </a:ext>
            </a:extLst>
          </p:cNvPr>
          <p:cNvSpPr>
            <a:spLocks noGrp="1"/>
          </p:cNvSpPr>
          <p:nvPr>
            <p:ph type="title"/>
          </p:nvPr>
        </p:nvSpPr>
        <p:spPr/>
        <p:txBody>
          <a:bodyPr>
            <a:normAutofit fontScale="90000"/>
          </a:bodyPr>
          <a:lstStyle/>
          <a:p>
            <a:r>
              <a:rPr lang="en-US" dirty="0"/>
              <a:t>Fun data relations</a:t>
            </a:r>
          </a:p>
        </p:txBody>
      </p:sp>
      <p:pic>
        <p:nvPicPr>
          <p:cNvPr id="7" name="Content Placeholder 6" descr="Scatter plot displays data points arranged to form a dinosaur shape, X, a start, an oval, and they all have the same mean, std, and correlation">
            <a:extLst>
              <a:ext uri="{FF2B5EF4-FFF2-40B4-BE49-F238E27FC236}">
                <a16:creationId xmlns:a16="http://schemas.microsoft.com/office/drawing/2014/main" id="{BFF47E2F-BE03-0817-D4EF-9FB90B949C72}"/>
              </a:ext>
            </a:extLst>
          </p:cNvPr>
          <p:cNvPicPr>
            <a:picLocks noGrp="1" noChangeAspect="1"/>
          </p:cNvPicPr>
          <p:nvPr>
            <p:ph idx="1"/>
          </p:nvPr>
        </p:nvPicPr>
        <p:blipFill>
          <a:blip r:embed="rId3"/>
          <a:stretch>
            <a:fillRect/>
          </a:stretch>
        </p:blipFill>
        <p:spPr>
          <a:xfrm>
            <a:off x="844550" y="1532731"/>
            <a:ext cx="10502900" cy="4216400"/>
          </a:xfrm>
          <a:prstGeom prst="rect">
            <a:avLst/>
          </a:prstGeom>
        </p:spPr>
      </p:pic>
      <p:sp>
        <p:nvSpPr>
          <p:cNvPr id="4" name="Footer Placeholder 3">
            <a:extLst>
              <a:ext uri="{FF2B5EF4-FFF2-40B4-BE49-F238E27FC236}">
                <a16:creationId xmlns:a16="http://schemas.microsoft.com/office/drawing/2014/main" id="{7C3400EC-3563-2D88-E64D-5DD01E8B0235}"/>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1609EAAB-EE8F-9145-C78B-E8C653100E78}"/>
              </a:ext>
            </a:extLst>
          </p:cNvPr>
          <p:cNvSpPr>
            <a:spLocks noGrp="1"/>
          </p:cNvSpPr>
          <p:nvPr>
            <p:ph type="sldNum" sz="quarter" idx="12"/>
          </p:nvPr>
        </p:nvSpPr>
        <p:spPr/>
        <p:txBody>
          <a:bodyPr/>
          <a:lstStyle/>
          <a:p>
            <a:fld id="{10A4AB6E-1AC4-C44F-A0CC-883A0306AF8B}" type="slidenum">
              <a:rPr lang="en-US" smtClean="0"/>
              <a:t>7</a:t>
            </a:fld>
            <a:endParaRPr lang="en-US"/>
          </a:p>
        </p:txBody>
      </p:sp>
    </p:spTree>
    <p:extLst>
      <p:ext uri="{BB962C8B-B14F-4D97-AF65-F5344CB8AC3E}">
        <p14:creationId xmlns:p14="http://schemas.microsoft.com/office/powerpoint/2010/main" val="2738259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53478-3A80-2F72-BD6E-272DEA5EE3AD}"/>
              </a:ext>
            </a:extLst>
          </p:cNvPr>
          <p:cNvSpPr>
            <a:spLocks noGrp="1"/>
          </p:cNvSpPr>
          <p:nvPr>
            <p:ph type="title"/>
          </p:nvPr>
        </p:nvSpPr>
        <p:spPr/>
        <p:txBody>
          <a:bodyPr>
            <a:normAutofit fontScale="90000"/>
          </a:bodyPr>
          <a:lstStyle/>
          <a:p>
            <a:r>
              <a:rPr lang="en-US" dirty="0"/>
              <a:t>Fit these data</a:t>
            </a:r>
          </a:p>
        </p:txBody>
      </p:sp>
      <p:sp>
        <p:nvSpPr>
          <p:cNvPr id="4" name="Footer Placeholder 3">
            <a:extLst>
              <a:ext uri="{FF2B5EF4-FFF2-40B4-BE49-F238E27FC236}">
                <a16:creationId xmlns:a16="http://schemas.microsoft.com/office/drawing/2014/main" id="{B9850816-E6E9-2757-29C5-76867D79BE62}"/>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6F72AA2D-BD84-6EA8-A504-4AE2748B5950}"/>
              </a:ext>
            </a:extLst>
          </p:cNvPr>
          <p:cNvSpPr>
            <a:spLocks noGrp="1"/>
          </p:cNvSpPr>
          <p:nvPr>
            <p:ph type="sldNum" sz="quarter" idx="12"/>
          </p:nvPr>
        </p:nvSpPr>
        <p:spPr/>
        <p:txBody>
          <a:bodyPr/>
          <a:lstStyle/>
          <a:p>
            <a:fld id="{10A4AB6E-1AC4-C44F-A0CC-883A0306AF8B}" type="slidenum">
              <a:rPr lang="en-US" smtClean="0"/>
              <a:t>8</a:t>
            </a:fld>
            <a:endParaRPr lang="en-US"/>
          </a:p>
        </p:txBody>
      </p:sp>
      <p:grpSp>
        <p:nvGrpSpPr>
          <p:cNvPr id="3" name="Group 2" descr="A sample scatter plot">
            <a:extLst>
              <a:ext uri="{FF2B5EF4-FFF2-40B4-BE49-F238E27FC236}">
                <a16:creationId xmlns:a16="http://schemas.microsoft.com/office/drawing/2014/main" id="{97524D20-1DB0-9D53-C732-3836AE47E387}"/>
              </a:ext>
            </a:extLst>
          </p:cNvPr>
          <p:cNvGrpSpPr/>
          <p:nvPr/>
        </p:nvGrpSpPr>
        <p:grpSpPr>
          <a:xfrm>
            <a:off x="742950" y="1257300"/>
            <a:ext cx="7716758" cy="5269945"/>
            <a:chOff x="742950" y="1257300"/>
            <a:chExt cx="7716758" cy="5269945"/>
          </a:xfrm>
        </p:grpSpPr>
        <p:cxnSp>
          <p:nvCxnSpPr>
            <p:cNvPr id="7" name="Straight Connector 6">
              <a:extLst>
                <a:ext uri="{FF2B5EF4-FFF2-40B4-BE49-F238E27FC236}">
                  <a16:creationId xmlns:a16="http://schemas.microsoft.com/office/drawing/2014/main" id="{C3D6F19A-5743-8949-CCA3-D374586BC37F}"/>
                </a:ext>
              </a:extLst>
            </p:cNvPr>
            <p:cNvCxnSpPr/>
            <p:nvPr/>
          </p:nvCxnSpPr>
          <p:spPr>
            <a:xfrm>
              <a:off x="1500188" y="1257300"/>
              <a:ext cx="0" cy="4600575"/>
            </a:xfrm>
            <a:prstGeom prst="line">
              <a:avLst/>
            </a:prstGeom>
            <a:ln w="38100"/>
          </p:spPr>
          <p:style>
            <a:lnRef idx="2">
              <a:schemeClr val="dk1"/>
            </a:lnRef>
            <a:fillRef idx="0">
              <a:schemeClr val="dk1"/>
            </a:fillRef>
            <a:effectRef idx="1">
              <a:schemeClr val="dk1"/>
            </a:effectRef>
            <a:fontRef idx="minor">
              <a:schemeClr val="tx1"/>
            </a:fontRef>
          </p:style>
        </p:cxnSp>
        <p:cxnSp>
          <p:nvCxnSpPr>
            <p:cNvPr id="8" name="Straight Connector 7">
              <a:extLst>
                <a:ext uri="{FF2B5EF4-FFF2-40B4-BE49-F238E27FC236}">
                  <a16:creationId xmlns:a16="http://schemas.microsoft.com/office/drawing/2014/main" id="{84FCF3D5-3054-DA68-CE6E-837719ABA9A8}"/>
                </a:ext>
              </a:extLst>
            </p:cNvPr>
            <p:cNvCxnSpPr>
              <a:cxnSpLocks/>
            </p:cNvCxnSpPr>
            <p:nvPr/>
          </p:nvCxnSpPr>
          <p:spPr>
            <a:xfrm flipH="1">
              <a:off x="1500188" y="5895975"/>
              <a:ext cx="6958012" cy="0"/>
            </a:xfrm>
            <a:prstGeom prst="line">
              <a:avLst/>
            </a:prstGeom>
            <a:ln w="38100"/>
          </p:spPr>
          <p:style>
            <a:lnRef idx="2">
              <a:schemeClr val="dk1"/>
            </a:lnRef>
            <a:fillRef idx="0">
              <a:schemeClr val="dk1"/>
            </a:fillRef>
            <a:effectRef idx="1">
              <a:schemeClr val="dk1"/>
            </a:effectRef>
            <a:fontRef idx="minor">
              <a:schemeClr val="tx1"/>
            </a:fontRef>
          </p:style>
        </p:cxnSp>
        <p:sp>
          <p:nvSpPr>
            <p:cNvPr id="10" name="Oval 9">
              <a:extLst>
                <a:ext uri="{FF2B5EF4-FFF2-40B4-BE49-F238E27FC236}">
                  <a16:creationId xmlns:a16="http://schemas.microsoft.com/office/drawing/2014/main" id="{2FEA9F84-3A70-DED1-9CB1-1621F49F14E8}"/>
                </a:ext>
              </a:extLst>
            </p:cNvPr>
            <p:cNvSpPr/>
            <p:nvPr/>
          </p:nvSpPr>
          <p:spPr>
            <a:xfrm>
              <a:off x="1714498" y="5357811"/>
              <a:ext cx="228589" cy="22858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6E4CFE21-93E2-CF6D-EE07-D27D3C24B025}"/>
                </a:ext>
              </a:extLst>
            </p:cNvPr>
            <p:cNvSpPr/>
            <p:nvPr/>
          </p:nvSpPr>
          <p:spPr>
            <a:xfrm>
              <a:off x="2238378" y="5210169"/>
              <a:ext cx="228589" cy="22858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92F5FDA-E247-DFB0-8716-C82DD53D818B}"/>
                </a:ext>
              </a:extLst>
            </p:cNvPr>
            <p:cNvSpPr/>
            <p:nvPr/>
          </p:nvSpPr>
          <p:spPr>
            <a:xfrm>
              <a:off x="2605095" y="4876784"/>
              <a:ext cx="228589" cy="22858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BAE82689-AB86-EFDF-CA34-DDEAA1BDDB7B}"/>
                </a:ext>
              </a:extLst>
            </p:cNvPr>
            <p:cNvSpPr/>
            <p:nvPr/>
          </p:nvSpPr>
          <p:spPr>
            <a:xfrm>
              <a:off x="3007544" y="5295896"/>
              <a:ext cx="228589" cy="22858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A4CB5D0-83E0-ACA0-B397-B09EF7077298}"/>
                </a:ext>
              </a:extLst>
            </p:cNvPr>
            <p:cNvSpPr/>
            <p:nvPr/>
          </p:nvSpPr>
          <p:spPr>
            <a:xfrm>
              <a:off x="3186155" y="4838674"/>
              <a:ext cx="228589" cy="22858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4093B3CE-8682-D609-5CDF-BCA434146B6C}"/>
                </a:ext>
              </a:extLst>
            </p:cNvPr>
            <p:cNvSpPr/>
            <p:nvPr/>
          </p:nvSpPr>
          <p:spPr>
            <a:xfrm>
              <a:off x="3745733" y="4995050"/>
              <a:ext cx="228589" cy="22858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F070B14F-C90E-C7BB-7F03-835C6AD4F3F5}"/>
                </a:ext>
              </a:extLst>
            </p:cNvPr>
            <p:cNvSpPr/>
            <p:nvPr/>
          </p:nvSpPr>
          <p:spPr>
            <a:xfrm>
              <a:off x="3679073" y="4650569"/>
              <a:ext cx="228589" cy="22858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2F9BAD68-83B4-E6F8-165C-30D9800F848B}"/>
                </a:ext>
              </a:extLst>
            </p:cNvPr>
            <p:cNvSpPr/>
            <p:nvPr/>
          </p:nvSpPr>
          <p:spPr>
            <a:xfrm>
              <a:off x="4171992" y="4524357"/>
              <a:ext cx="228589" cy="22858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D19F0193-3F14-1820-C6EB-CDBC096DED30}"/>
                </a:ext>
              </a:extLst>
            </p:cNvPr>
            <p:cNvSpPr/>
            <p:nvPr/>
          </p:nvSpPr>
          <p:spPr>
            <a:xfrm>
              <a:off x="4757763" y="4186202"/>
              <a:ext cx="228589" cy="22858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1EF33B8D-536A-8D44-CBB5-04477D318F5A}"/>
                </a:ext>
              </a:extLst>
            </p:cNvPr>
            <p:cNvSpPr/>
            <p:nvPr/>
          </p:nvSpPr>
          <p:spPr>
            <a:xfrm>
              <a:off x="4595806" y="4641016"/>
              <a:ext cx="228589" cy="22858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A4088F73-8929-8FC4-FB73-AB49DEE7B73E}"/>
                </a:ext>
              </a:extLst>
            </p:cNvPr>
            <p:cNvSpPr/>
            <p:nvPr/>
          </p:nvSpPr>
          <p:spPr>
            <a:xfrm>
              <a:off x="5022073" y="4557623"/>
              <a:ext cx="228589" cy="22858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23C0E38F-4C7D-6A81-A197-2ECEC3168FD1}"/>
                </a:ext>
              </a:extLst>
            </p:cNvPr>
            <p:cNvSpPr/>
            <p:nvPr/>
          </p:nvSpPr>
          <p:spPr>
            <a:xfrm>
              <a:off x="7358099" y="2495051"/>
              <a:ext cx="228589" cy="22858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93BEFB17-DE9E-51BE-1055-CAEAD4D58947}"/>
                </a:ext>
              </a:extLst>
            </p:cNvPr>
            <p:cNvSpPr/>
            <p:nvPr/>
          </p:nvSpPr>
          <p:spPr>
            <a:xfrm>
              <a:off x="5467398" y="3867116"/>
              <a:ext cx="228589" cy="22858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0F3834D5-AAE5-594C-C2F9-8DF389BE604F}"/>
                </a:ext>
              </a:extLst>
            </p:cNvPr>
            <p:cNvSpPr/>
            <p:nvPr/>
          </p:nvSpPr>
          <p:spPr>
            <a:xfrm>
              <a:off x="5891248" y="4055259"/>
              <a:ext cx="228589" cy="22858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67424D03-5160-D545-548F-8C5F798C0E3F}"/>
                </a:ext>
              </a:extLst>
            </p:cNvPr>
            <p:cNvSpPr/>
            <p:nvPr/>
          </p:nvSpPr>
          <p:spPr>
            <a:xfrm>
              <a:off x="5981705" y="3312288"/>
              <a:ext cx="228589" cy="22858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2042DAB8-74FC-BE29-4BFE-0E2CDA1A6581}"/>
                </a:ext>
              </a:extLst>
            </p:cNvPr>
            <p:cNvSpPr/>
            <p:nvPr/>
          </p:nvSpPr>
          <p:spPr>
            <a:xfrm>
              <a:off x="6515138" y="3679018"/>
              <a:ext cx="228589" cy="22858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DBD71149-05A0-769A-3B98-B740035916B3}"/>
                </a:ext>
              </a:extLst>
            </p:cNvPr>
            <p:cNvSpPr/>
            <p:nvPr/>
          </p:nvSpPr>
          <p:spPr>
            <a:xfrm>
              <a:off x="6986669" y="3243275"/>
              <a:ext cx="228589" cy="22858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000F3E0F-37A3-137A-842F-23F5D6F3BF68}"/>
                </a:ext>
              </a:extLst>
            </p:cNvPr>
            <p:cNvSpPr txBox="1"/>
            <p:nvPr/>
          </p:nvSpPr>
          <p:spPr>
            <a:xfrm>
              <a:off x="742950" y="1657350"/>
              <a:ext cx="288862" cy="369332"/>
            </a:xfrm>
            <a:prstGeom prst="rect">
              <a:avLst/>
            </a:prstGeom>
            <a:noFill/>
          </p:spPr>
          <p:txBody>
            <a:bodyPr wrap="none" rtlCol="0">
              <a:spAutoFit/>
            </a:bodyPr>
            <a:lstStyle/>
            <a:p>
              <a:r>
                <a:rPr lang="en-US" dirty="0"/>
                <a:t>y</a:t>
              </a:r>
            </a:p>
          </p:txBody>
        </p:sp>
        <p:sp>
          <p:nvSpPr>
            <p:cNvPr id="28" name="TextBox 27">
              <a:extLst>
                <a:ext uri="{FF2B5EF4-FFF2-40B4-BE49-F238E27FC236}">
                  <a16:creationId xmlns:a16="http://schemas.microsoft.com/office/drawing/2014/main" id="{19CF483E-B33B-A93F-F7EA-81DA154045FD}"/>
                </a:ext>
              </a:extLst>
            </p:cNvPr>
            <p:cNvSpPr txBox="1"/>
            <p:nvPr/>
          </p:nvSpPr>
          <p:spPr>
            <a:xfrm>
              <a:off x="8172450" y="6157913"/>
              <a:ext cx="287258" cy="369332"/>
            </a:xfrm>
            <a:prstGeom prst="rect">
              <a:avLst/>
            </a:prstGeom>
            <a:noFill/>
          </p:spPr>
          <p:txBody>
            <a:bodyPr wrap="none" rtlCol="0">
              <a:spAutoFit/>
            </a:bodyPr>
            <a:lstStyle/>
            <a:p>
              <a:r>
                <a:rPr lang="en-US" dirty="0"/>
                <a:t>x</a:t>
              </a:r>
            </a:p>
          </p:txBody>
        </p:sp>
      </p:grpSp>
    </p:spTree>
    <p:extLst>
      <p:ext uri="{BB962C8B-B14F-4D97-AF65-F5344CB8AC3E}">
        <p14:creationId xmlns:p14="http://schemas.microsoft.com/office/powerpoint/2010/main" val="37924479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EB56C-FA17-2A69-46F2-23F140EAB46C}"/>
              </a:ext>
            </a:extLst>
          </p:cNvPr>
          <p:cNvSpPr>
            <a:spLocks noGrp="1"/>
          </p:cNvSpPr>
          <p:nvPr>
            <p:ph type="title"/>
          </p:nvPr>
        </p:nvSpPr>
        <p:spPr/>
        <p:txBody>
          <a:bodyPr>
            <a:normAutofit fontScale="90000"/>
          </a:bodyPr>
          <a:lstStyle/>
          <a:p>
            <a:r>
              <a:rPr lang="en-US" dirty="0"/>
              <a:t>Linear Regression</a:t>
            </a:r>
          </a:p>
        </p:txBody>
      </p:sp>
      <p:sp>
        <p:nvSpPr>
          <p:cNvPr id="3" name="Content Placeholder 2">
            <a:extLst>
              <a:ext uri="{FF2B5EF4-FFF2-40B4-BE49-F238E27FC236}">
                <a16:creationId xmlns:a16="http://schemas.microsoft.com/office/drawing/2014/main" id="{9624AD89-8A77-91B3-A995-D8BD0DC24283}"/>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A89C0634-32A8-161D-9694-5C0816DF1096}"/>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7CB35F5F-2908-6CBF-3B95-97BE0466E848}"/>
              </a:ext>
            </a:extLst>
          </p:cNvPr>
          <p:cNvSpPr>
            <a:spLocks noGrp="1"/>
          </p:cNvSpPr>
          <p:nvPr>
            <p:ph type="sldNum" sz="quarter" idx="12"/>
          </p:nvPr>
        </p:nvSpPr>
        <p:spPr/>
        <p:txBody>
          <a:bodyPr/>
          <a:lstStyle/>
          <a:p>
            <a:fld id="{10A4AB6E-1AC4-C44F-A0CC-883A0306AF8B}" type="slidenum">
              <a:rPr lang="en-US" smtClean="0"/>
              <a:t>9</a:t>
            </a:fld>
            <a:endParaRPr lang="en-US"/>
          </a:p>
        </p:txBody>
      </p:sp>
    </p:spTree>
    <p:extLst>
      <p:ext uri="{BB962C8B-B14F-4D97-AF65-F5344CB8AC3E}">
        <p14:creationId xmlns:p14="http://schemas.microsoft.com/office/powerpoint/2010/main" val="37520228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8B32E-9BC2-CB15-3725-C9C0B7607743}"/>
              </a:ext>
            </a:extLst>
          </p:cNvPr>
          <p:cNvSpPr>
            <a:spLocks noGrp="1"/>
          </p:cNvSpPr>
          <p:nvPr>
            <p:ph type="title"/>
          </p:nvPr>
        </p:nvSpPr>
        <p:spPr/>
        <p:txBody>
          <a:bodyPr>
            <a:normAutofit fontScale="90000"/>
          </a:bodyPr>
          <a:lstStyle/>
          <a:p>
            <a:r>
              <a:rPr lang="en-US" dirty="0"/>
              <a:t>Ordinary least squares </a:t>
            </a:r>
          </a:p>
        </p:txBody>
      </p:sp>
      <p:sp>
        <p:nvSpPr>
          <p:cNvPr id="3" name="Content Placeholder 2">
            <a:extLst>
              <a:ext uri="{FF2B5EF4-FFF2-40B4-BE49-F238E27FC236}">
                <a16:creationId xmlns:a16="http://schemas.microsoft.com/office/drawing/2014/main" id="{C92AE8E9-C895-59AC-308F-535214953D43}"/>
              </a:ext>
            </a:extLst>
          </p:cNvPr>
          <p:cNvSpPr>
            <a:spLocks noGrp="1"/>
          </p:cNvSpPr>
          <p:nvPr>
            <p:ph idx="1"/>
          </p:nvPr>
        </p:nvSpPr>
        <p:spPr/>
        <p:txBody>
          <a:bodyPr/>
          <a:lstStyle/>
          <a:p>
            <a:pPr marL="0" indent="0">
              <a:buNone/>
            </a:pPr>
            <a:r>
              <a:rPr lang="en-US" dirty="0"/>
              <a:t>The model is built by minimizing a “cost” function.</a:t>
            </a:r>
          </a:p>
          <a:p>
            <a:pPr lvl="1"/>
            <a:r>
              <a:rPr lang="en-US" dirty="0"/>
              <a:t>Cost or loss is the difference between the predicted values and the actual values of the target, i.e., residuals.</a:t>
            </a:r>
          </a:p>
          <a:p>
            <a:pPr marL="0" indent="0">
              <a:buNone/>
            </a:pPr>
            <a:endParaRPr lang="en-US" dirty="0"/>
          </a:p>
          <a:p>
            <a:pPr marL="0" indent="0">
              <a:buNone/>
            </a:pPr>
            <a:r>
              <a:rPr lang="en-US" dirty="0"/>
              <a:t>In linear regression, the sum of squared residuals </a:t>
            </a:r>
          </a:p>
          <a:p>
            <a:endParaRPr lang="en-US" dirty="0"/>
          </a:p>
        </p:txBody>
      </p:sp>
      <p:sp>
        <p:nvSpPr>
          <p:cNvPr id="4" name="Footer Placeholder 3">
            <a:extLst>
              <a:ext uri="{FF2B5EF4-FFF2-40B4-BE49-F238E27FC236}">
                <a16:creationId xmlns:a16="http://schemas.microsoft.com/office/drawing/2014/main" id="{F06FED24-DE6E-A1DD-C6C3-55F7B8A6C9B9}"/>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4DB3CEB8-4A93-EB7D-0AAB-C95148A4205F}"/>
              </a:ext>
            </a:extLst>
          </p:cNvPr>
          <p:cNvSpPr>
            <a:spLocks noGrp="1"/>
          </p:cNvSpPr>
          <p:nvPr>
            <p:ph type="sldNum" sz="quarter" idx="12"/>
          </p:nvPr>
        </p:nvSpPr>
        <p:spPr/>
        <p:txBody>
          <a:bodyPr/>
          <a:lstStyle/>
          <a:p>
            <a:fld id="{10A4AB6E-1AC4-C44F-A0CC-883A0306AF8B}" type="slidenum">
              <a:rPr lang="en-US" smtClean="0"/>
              <a:t>10</a:t>
            </a:fld>
            <a:endParaRPr lang="en-US"/>
          </a:p>
        </p:txBody>
      </p:sp>
      <p:pic>
        <p:nvPicPr>
          <p:cNvPr id="7" name="Picture 6" descr="Scatter plot with a diagonal trend line showing points A, B, D, E above and points C, F below the line, indicating deviations from the trend. Points are marked in red with labels, vertical dashed lines highlight distances from the trend line, and axes are numbered with grid lines for reference.&#10;">
            <a:extLst>
              <a:ext uri="{FF2B5EF4-FFF2-40B4-BE49-F238E27FC236}">
                <a16:creationId xmlns:a16="http://schemas.microsoft.com/office/drawing/2014/main" id="{50D4D481-1E5A-8229-52A1-A56DBBBCAC93}"/>
              </a:ext>
            </a:extLst>
          </p:cNvPr>
          <p:cNvPicPr>
            <a:picLocks noChangeAspect="1"/>
          </p:cNvPicPr>
          <p:nvPr/>
        </p:nvPicPr>
        <p:blipFill>
          <a:blip r:embed="rId3"/>
          <a:stretch>
            <a:fillRect/>
          </a:stretch>
        </p:blipFill>
        <p:spPr>
          <a:xfrm>
            <a:off x="4248150" y="3632200"/>
            <a:ext cx="3695700" cy="3225800"/>
          </a:xfrm>
          <a:prstGeom prst="rect">
            <a:avLst/>
          </a:prstGeom>
        </p:spPr>
      </p:pic>
    </p:spTree>
    <p:extLst>
      <p:ext uri="{BB962C8B-B14F-4D97-AF65-F5344CB8AC3E}">
        <p14:creationId xmlns:p14="http://schemas.microsoft.com/office/powerpoint/2010/main" val="9080369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D1120-D647-D102-F4A6-CC7AC0401B62}"/>
              </a:ext>
            </a:extLst>
          </p:cNvPr>
          <p:cNvSpPr>
            <a:spLocks noGrp="1"/>
          </p:cNvSpPr>
          <p:nvPr>
            <p:ph type="title"/>
          </p:nvPr>
        </p:nvSpPr>
        <p:spPr/>
        <p:txBody>
          <a:bodyPr>
            <a:normAutofit fontScale="90000"/>
          </a:bodyPr>
          <a:lstStyle/>
          <a:p>
            <a:r>
              <a:rPr lang="en-US" dirty="0"/>
              <a:t>Multiple regression</a:t>
            </a:r>
          </a:p>
        </p:txBody>
      </p:sp>
      <p:sp>
        <p:nvSpPr>
          <p:cNvPr id="3" name="Content Placeholder 2">
            <a:extLst>
              <a:ext uri="{FF2B5EF4-FFF2-40B4-BE49-F238E27FC236}">
                <a16:creationId xmlns:a16="http://schemas.microsoft.com/office/drawing/2014/main" id="{C7ADEDA4-C1B5-F0D8-13A3-021260CF48A5}"/>
              </a:ext>
            </a:extLst>
          </p:cNvPr>
          <p:cNvSpPr>
            <a:spLocks noGrp="1"/>
          </p:cNvSpPr>
          <p:nvPr>
            <p:ph idx="1"/>
          </p:nvPr>
        </p:nvSpPr>
        <p:spPr>
          <a:xfrm>
            <a:off x="838200" y="1135094"/>
            <a:ext cx="6159500" cy="5011428"/>
          </a:xfrm>
        </p:spPr>
        <p:txBody>
          <a:bodyPr>
            <a:normAutofit/>
          </a:bodyPr>
          <a:lstStyle/>
          <a:p>
            <a:r>
              <a:rPr lang="en-US" dirty="0"/>
              <a:t>Simple linear regression has 2 variable </a:t>
            </a:r>
          </a:p>
          <a:p>
            <a:pPr lvl="1"/>
            <a:r>
              <a:rPr lang="en-US" dirty="0"/>
              <a:t>1 target, 1 feature</a:t>
            </a:r>
          </a:p>
          <a:p>
            <a:r>
              <a:rPr lang="en-US" dirty="0"/>
              <a:t>Multiple linear regression has &gt;2 variables </a:t>
            </a:r>
          </a:p>
          <a:p>
            <a:pPr lvl="1"/>
            <a:r>
              <a:rPr lang="en-US" dirty="0"/>
              <a:t>1 target, many features</a:t>
            </a:r>
          </a:p>
          <a:p>
            <a:pPr marL="0" indent="0">
              <a:buNone/>
            </a:pPr>
            <a:endParaRPr lang="en-US" dirty="0"/>
          </a:p>
          <a:p>
            <a:pPr marL="0" indent="0">
              <a:buNone/>
            </a:pPr>
            <a:r>
              <a:rPr lang="en-US" dirty="0"/>
              <a:t>Estimates change in y (target) for a 1 unit increase in </a:t>
            </a:r>
            <a:r>
              <a:rPr lang="en-US" i="1" dirty="0" err="1"/>
              <a:t>x</a:t>
            </a:r>
            <a:r>
              <a:rPr lang="en-US" i="1" baseline="-25000" dirty="0" err="1"/>
              <a:t>n</a:t>
            </a:r>
            <a:r>
              <a:rPr lang="en-US" i="1" dirty="0"/>
              <a:t> </a:t>
            </a:r>
            <a:r>
              <a:rPr lang="en-US" b="1" dirty="0"/>
              <a:t>holding all other features constant</a:t>
            </a:r>
            <a:endParaRPr lang="en-US" dirty="0"/>
          </a:p>
          <a:p>
            <a:pPr marL="0" indent="0">
              <a:buNone/>
            </a:pPr>
            <a:endParaRPr lang="en-US" dirty="0"/>
          </a:p>
        </p:txBody>
      </p:sp>
      <p:sp>
        <p:nvSpPr>
          <p:cNvPr id="4" name="Footer Placeholder 3">
            <a:extLst>
              <a:ext uri="{FF2B5EF4-FFF2-40B4-BE49-F238E27FC236}">
                <a16:creationId xmlns:a16="http://schemas.microsoft.com/office/drawing/2014/main" id="{04242E56-7974-A813-DD14-EFF5CBD1797A}"/>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74AEE1F3-BF0D-575D-54C2-DAD60606D4AD}"/>
              </a:ext>
            </a:extLst>
          </p:cNvPr>
          <p:cNvSpPr>
            <a:spLocks noGrp="1"/>
          </p:cNvSpPr>
          <p:nvPr>
            <p:ph type="sldNum" sz="quarter" idx="12"/>
          </p:nvPr>
        </p:nvSpPr>
        <p:spPr/>
        <p:txBody>
          <a:bodyPr/>
          <a:lstStyle/>
          <a:p>
            <a:fld id="{10A4AB6E-1AC4-C44F-A0CC-883A0306AF8B}" type="slidenum">
              <a:rPr lang="en-US" smtClean="0"/>
              <a:t>11</a:t>
            </a:fld>
            <a:endParaRPr lang="en-US"/>
          </a:p>
        </p:txBody>
      </p:sp>
      <p:pic>
        <p:nvPicPr>
          <p:cNvPr id="7" name="Picture 6" descr="3D scatter plot with a colored surface plane illustrating a regression model between variables X1, X2, and Y. Red data points with vertical black lines show deviations from the surface, highlighting residuals and model fit accuracy.&#10;">
            <a:extLst>
              <a:ext uri="{FF2B5EF4-FFF2-40B4-BE49-F238E27FC236}">
                <a16:creationId xmlns:a16="http://schemas.microsoft.com/office/drawing/2014/main" id="{027CB886-A0A0-F94B-7A77-075755CD9EAF}"/>
              </a:ext>
            </a:extLst>
          </p:cNvPr>
          <p:cNvPicPr>
            <a:picLocks noChangeAspect="1"/>
          </p:cNvPicPr>
          <p:nvPr/>
        </p:nvPicPr>
        <p:blipFill>
          <a:blip r:embed="rId2"/>
          <a:srcRect l="14363" t="7727" r="15763"/>
          <a:stretch>
            <a:fillRect/>
          </a:stretch>
        </p:blipFill>
        <p:spPr>
          <a:xfrm>
            <a:off x="7442200" y="1457325"/>
            <a:ext cx="3771900" cy="3943349"/>
          </a:xfrm>
          <a:prstGeom prst="rect">
            <a:avLst/>
          </a:prstGeom>
        </p:spPr>
      </p:pic>
    </p:spTree>
    <p:extLst>
      <p:ext uri="{BB962C8B-B14F-4D97-AF65-F5344CB8AC3E}">
        <p14:creationId xmlns:p14="http://schemas.microsoft.com/office/powerpoint/2010/main" val="17598515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0F8ED-5354-188B-196A-747D2E10CA1B}"/>
              </a:ext>
            </a:extLst>
          </p:cNvPr>
          <p:cNvSpPr>
            <a:spLocks noGrp="1"/>
          </p:cNvSpPr>
          <p:nvPr>
            <p:ph type="title"/>
          </p:nvPr>
        </p:nvSpPr>
        <p:spPr/>
        <p:txBody>
          <a:bodyPr>
            <a:normAutofit fontScale="90000"/>
          </a:bodyPr>
          <a:lstStyle/>
          <a:p>
            <a:r>
              <a:rPr lang="en-US" dirty="0"/>
              <a:t>k-nearest neighbor (KNN)</a:t>
            </a:r>
          </a:p>
        </p:txBody>
      </p:sp>
      <p:sp>
        <p:nvSpPr>
          <p:cNvPr id="3" name="Content Placeholder 2">
            <a:extLst>
              <a:ext uri="{FF2B5EF4-FFF2-40B4-BE49-F238E27FC236}">
                <a16:creationId xmlns:a16="http://schemas.microsoft.com/office/drawing/2014/main" id="{4F789C2E-03D7-CCAE-3712-97EEBE4EA611}"/>
              </a:ext>
            </a:extLst>
          </p:cNvPr>
          <p:cNvSpPr>
            <a:spLocks noGrp="1"/>
          </p:cNvSpPr>
          <p:nvPr>
            <p:ph idx="1"/>
          </p:nvPr>
        </p:nvSpPr>
        <p:spPr/>
        <p:txBody>
          <a:bodyPr>
            <a:normAutofit/>
          </a:bodyPr>
          <a:lstStyle/>
          <a:p>
            <a:r>
              <a:rPr lang="en-US" dirty="0"/>
              <a:t>If K =1  also known as NN (nearest neighbor) </a:t>
            </a:r>
          </a:p>
          <a:p>
            <a:pPr lvl="1"/>
            <a:r>
              <a:rPr lang="en-US" dirty="0"/>
              <a:t>Determine the label of the closest point to the unlabeled point assign the same label to the unknown point.</a:t>
            </a:r>
          </a:p>
          <a:p>
            <a:r>
              <a:rPr lang="en-US" dirty="0"/>
              <a:t>If K&gt; 1 </a:t>
            </a:r>
          </a:p>
          <a:p>
            <a:pPr lvl="1"/>
            <a:r>
              <a:rPr lang="en-US" dirty="0"/>
              <a:t>Take the majority vote of the closest K labeled examples</a:t>
            </a:r>
          </a:p>
          <a:p>
            <a:r>
              <a:rPr lang="en-US" dirty="0"/>
              <a:t>Based on feature similarity, i.e. “distance”</a:t>
            </a:r>
          </a:p>
          <a:p>
            <a:r>
              <a:rPr lang="en-US" dirty="0"/>
              <a:t>“Close” is defined by a feature, or a set of features. It can be actual physical distance, or it can be measurements of other features (e.g., sea surface temperature).</a:t>
            </a:r>
          </a:p>
          <a:p>
            <a:endParaRPr lang="en-US" dirty="0"/>
          </a:p>
        </p:txBody>
      </p:sp>
      <p:sp>
        <p:nvSpPr>
          <p:cNvPr id="4" name="Footer Placeholder 3">
            <a:extLst>
              <a:ext uri="{FF2B5EF4-FFF2-40B4-BE49-F238E27FC236}">
                <a16:creationId xmlns:a16="http://schemas.microsoft.com/office/drawing/2014/main" id="{FF1A73C5-ADA6-9D42-ABE6-EAFA1CBFC21E}"/>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B70CCCAB-3E35-3505-B404-D7033C206C77}"/>
              </a:ext>
            </a:extLst>
          </p:cNvPr>
          <p:cNvSpPr>
            <a:spLocks noGrp="1"/>
          </p:cNvSpPr>
          <p:nvPr>
            <p:ph type="sldNum" sz="quarter" idx="12"/>
          </p:nvPr>
        </p:nvSpPr>
        <p:spPr/>
        <p:txBody>
          <a:bodyPr/>
          <a:lstStyle/>
          <a:p>
            <a:fld id="{10A4AB6E-1AC4-C44F-A0CC-883A0306AF8B}" type="slidenum">
              <a:rPr lang="en-US" smtClean="0"/>
              <a:t>12</a:t>
            </a:fld>
            <a:endParaRPr lang="en-US"/>
          </a:p>
        </p:txBody>
      </p:sp>
    </p:spTree>
    <p:extLst>
      <p:ext uri="{BB962C8B-B14F-4D97-AF65-F5344CB8AC3E}">
        <p14:creationId xmlns:p14="http://schemas.microsoft.com/office/powerpoint/2010/main" val="21992876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F9855-77FE-980D-1416-EB9EC42C8D70}"/>
              </a:ext>
            </a:extLst>
          </p:cNvPr>
          <p:cNvSpPr>
            <a:spLocks noGrp="1"/>
          </p:cNvSpPr>
          <p:nvPr>
            <p:ph type="title"/>
          </p:nvPr>
        </p:nvSpPr>
        <p:spPr/>
        <p:txBody>
          <a:bodyPr>
            <a:normAutofit fontScale="90000"/>
          </a:bodyPr>
          <a:lstStyle/>
          <a:p>
            <a:r>
              <a:rPr lang="en-US" dirty="0"/>
              <a:t>A note on different “distance” metrics for KNN</a:t>
            </a:r>
          </a:p>
        </p:txBody>
      </p:sp>
      <p:sp>
        <p:nvSpPr>
          <p:cNvPr id="3" name="Content Placeholder 2">
            <a:extLst>
              <a:ext uri="{FF2B5EF4-FFF2-40B4-BE49-F238E27FC236}">
                <a16:creationId xmlns:a16="http://schemas.microsoft.com/office/drawing/2014/main" id="{4FA0277B-978E-DF32-84EC-D13D4A067DF2}"/>
              </a:ext>
            </a:extLst>
          </p:cNvPr>
          <p:cNvSpPr>
            <a:spLocks noGrp="1"/>
          </p:cNvSpPr>
          <p:nvPr>
            <p:ph idx="1"/>
          </p:nvPr>
        </p:nvSpPr>
        <p:spPr/>
        <p:txBody>
          <a:bodyPr/>
          <a:lstStyle/>
          <a:p>
            <a:r>
              <a:rPr lang="en-US" dirty="0"/>
              <a:t>Manhattan</a:t>
            </a:r>
          </a:p>
          <a:p>
            <a:pPr lvl="1"/>
            <a:r>
              <a:rPr lang="en-US" dirty="0"/>
              <a:t>Good for high dimensional data (curse of dimensionality)</a:t>
            </a:r>
          </a:p>
          <a:p>
            <a:r>
              <a:rPr lang="en-US" dirty="0"/>
              <a:t>Euclidean</a:t>
            </a:r>
          </a:p>
          <a:p>
            <a:r>
              <a:rPr lang="en-US" dirty="0"/>
              <a:t>Minkowski</a:t>
            </a:r>
          </a:p>
          <a:p>
            <a:endParaRPr lang="en-US" dirty="0"/>
          </a:p>
          <a:p>
            <a:endParaRPr lang="en-US" dirty="0"/>
          </a:p>
        </p:txBody>
      </p:sp>
      <p:sp>
        <p:nvSpPr>
          <p:cNvPr id="4" name="Footer Placeholder 3">
            <a:extLst>
              <a:ext uri="{FF2B5EF4-FFF2-40B4-BE49-F238E27FC236}">
                <a16:creationId xmlns:a16="http://schemas.microsoft.com/office/drawing/2014/main" id="{83750A66-A67E-060B-C9C1-18A5F1C14B6A}"/>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C8530594-7234-DB0F-50B1-8C1B6ED452C3}"/>
              </a:ext>
            </a:extLst>
          </p:cNvPr>
          <p:cNvSpPr>
            <a:spLocks noGrp="1"/>
          </p:cNvSpPr>
          <p:nvPr>
            <p:ph type="sldNum" sz="quarter" idx="12"/>
          </p:nvPr>
        </p:nvSpPr>
        <p:spPr/>
        <p:txBody>
          <a:bodyPr/>
          <a:lstStyle/>
          <a:p>
            <a:fld id="{10A4AB6E-1AC4-C44F-A0CC-883A0306AF8B}" type="slidenum">
              <a:rPr lang="en-US" smtClean="0"/>
              <a:t>13</a:t>
            </a:fld>
            <a:endParaRPr lang="en-US"/>
          </a:p>
        </p:txBody>
      </p:sp>
      <p:pic>
        <p:nvPicPr>
          <p:cNvPr id="7" name="Picture 6" descr="Diagram showing three types of distance metrics: Euclidean, Manhattan, and Minkowski. Each square contains two points, one red and one blue, connected by arrows illustrating straight-line distance for Euclidean, right-angle path for Manhattan, and curved path for Minkowski.&#10;">
            <a:extLst>
              <a:ext uri="{FF2B5EF4-FFF2-40B4-BE49-F238E27FC236}">
                <a16:creationId xmlns:a16="http://schemas.microsoft.com/office/drawing/2014/main" id="{7BD142DC-5D7D-5B20-5F1B-091DBF836116}"/>
              </a:ext>
            </a:extLst>
          </p:cNvPr>
          <p:cNvPicPr>
            <a:picLocks noChangeAspect="1"/>
          </p:cNvPicPr>
          <p:nvPr/>
        </p:nvPicPr>
        <p:blipFill>
          <a:blip r:embed="rId2"/>
          <a:stretch>
            <a:fillRect/>
          </a:stretch>
        </p:blipFill>
        <p:spPr>
          <a:xfrm>
            <a:off x="2209800" y="3158039"/>
            <a:ext cx="7772400" cy="2751903"/>
          </a:xfrm>
          <a:prstGeom prst="rect">
            <a:avLst/>
          </a:prstGeom>
        </p:spPr>
      </p:pic>
    </p:spTree>
    <p:extLst>
      <p:ext uri="{BB962C8B-B14F-4D97-AF65-F5344CB8AC3E}">
        <p14:creationId xmlns:p14="http://schemas.microsoft.com/office/powerpoint/2010/main" val="10433010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68799-26DC-4F99-63C5-EA50778BA5EF}"/>
              </a:ext>
            </a:extLst>
          </p:cNvPr>
          <p:cNvSpPr>
            <a:spLocks noGrp="1"/>
          </p:cNvSpPr>
          <p:nvPr>
            <p:ph type="title"/>
          </p:nvPr>
        </p:nvSpPr>
        <p:spPr/>
        <p:txBody>
          <a:bodyPr>
            <a:normAutofit fontScale="90000"/>
          </a:bodyPr>
          <a:lstStyle/>
          <a:p>
            <a:r>
              <a:rPr lang="en-US" dirty="0"/>
              <a:t>KNN Example</a:t>
            </a:r>
          </a:p>
        </p:txBody>
      </p:sp>
      <p:sp>
        <p:nvSpPr>
          <p:cNvPr id="3" name="Content Placeholder 2">
            <a:extLst>
              <a:ext uri="{FF2B5EF4-FFF2-40B4-BE49-F238E27FC236}">
                <a16:creationId xmlns:a16="http://schemas.microsoft.com/office/drawing/2014/main" id="{9C591441-E8D4-B8CF-7627-202732839AA7}"/>
              </a:ext>
            </a:extLst>
          </p:cNvPr>
          <p:cNvSpPr>
            <a:spLocks noGrp="1"/>
          </p:cNvSpPr>
          <p:nvPr>
            <p:ph idx="1"/>
          </p:nvPr>
        </p:nvSpPr>
        <p:spPr/>
        <p:txBody>
          <a:bodyPr>
            <a:normAutofit/>
          </a:bodyPr>
          <a:lstStyle/>
          <a:p>
            <a:r>
              <a:rPr lang="en-US" dirty="0"/>
              <a:t>Let’s take K = 3</a:t>
            </a:r>
          </a:p>
          <a:p>
            <a:pPr lvl="1"/>
            <a:r>
              <a:rPr lang="en-US" dirty="0"/>
              <a:t>What is the label for the majority of closest K = 3 points?</a:t>
            </a:r>
          </a:p>
          <a:p>
            <a:r>
              <a:rPr lang="en-US" dirty="0"/>
              <a:t>Assign that to the unknown sample (e.g., predict the label!).</a:t>
            </a:r>
          </a:p>
          <a:p>
            <a:endParaRPr lang="en-US" dirty="0"/>
          </a:p>
          <a:p>
            <a:pPr marL="0" indent="0">
              <a:buNone/>
            </a:pPr>
            <a:r>
              <a:rPr lang="en-US" dirty="0"/>
              <a:t>Steps</a:t>
            </a:r>
          </a:p>
          <a:p>
            <a:r>
              <a:rPr lang="en-US" dirty="0"/>
              <a:t>Calculate distance</a:t>
            </a:r>
          </a:p>
          <a:p>
            <a:r>
              <a:rPr lang="en-US" dirty="0"/>
              <a:t>Find K closest points</a:t>
            </a:r>
          </a:p>
          <a:p>
            <a:r>
              <a:rPr lang="en-US" dirty="0"/>
              <a:t>Take majority Vote</a:t>
            </a:r>
          </a:p>
          <a:p>
            <a:endParaRPr lang="en-US" dirty="0"/>
          </a:p>
          <a:p>
            <a:endParaRPr lang="en-US" dirty="0"/>
          </a:p>
          <a:p>
            <a:endParaRPr lang="en-US" dirty="0"/>
          </a:p>
          <a:p>
            <a:endParaRPr lang="en-US" dirty="0"/>
          </a:p>
          <a:p>
            <a:endParaRPr lang="en-US" dirty="0"/>
          </a:p>
        </p:txBody>
      </p:sp>
      <p:sp>
        <p:nvSpPr>
          <p:cNvPr id="4" name="Footer Placeholder 3">
            <a:extLst>
              <a:ext uri="{FF2B5EF4-FFF2-40B4-BE49-F238E27FC236}">
                <a16:creationId xmlns:a16="http://schemas.microsoft.com/office/drawing/2014/main" id="{AC7333D9-1D5D-90F5-F60E-AB1E1985A2D3}"/>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1ABC9A3D-FC93-3F1D-DC0A-4BAE3A327976}"/>
              </a:ext>
            </a:extLst>
          </p:cNvPr>
          <p:cNvSpPr>
            <a:spLocks noGrp="1"/>
          </p:cNvSpPr>
          <p:nvPr>
            <p:ph type="sldNum" sz="quarter" idx="12"/>
          </p:nvPr>
        </p:nvSpPr>
        <p:spPr/>
        <p:txBody>
          <a:bodyPr/>
          <a:lstStyle/>
          <a:p>
            <a:fld id="{10A4AB6E-1AC4-C44F-A0CC-883A0306AF8B}" type="slidenum">
              <a:rPr lang="en-US" smtClean="0"/>
              <a:t>14</a:t>
            </a:fld>
            <a:endParaRPr lang="en-US"/>
          </a:p>
        </p:txBody>
      </p:sp>
      <p:pic>
        <p:nvPicPr>
          <p:cNvPr id="7" name="Picture 6" descr="Scatter plot diagram illustrating kNN classifier with k=3, showing classification of a single test point on the left and decision surface drawing on the right. Red and blue points represent two classes, with dashed lines indicating nearest neighbors and decision boundaries.">
            <a:extLst>
              <a:ext uri="{FF2B5EF4-FFF2-40B4-BE49-F238E27FC236}">
                <a16:creationId xmlns:a16="http://schemas.microsoft.com/office/drawing/2014/main" id="{CCB3E3CF-FD18-9C8F-0CB5-0503E75843DF}"/>
              </a:ext>
            </a:extLst>
          </p:cNvPr>
          <p:cNvPicPr>
            <a:picLocks noChangeAspect="1"/>
          </p:cNvPicPr>
          <p:nvPr/>
        </p:nvPicPr>
        <p:blipFill>
          <a:blip r:embed="rId3"/>
          <a:srcRect l="7108"/>
          <a:stretch>
            <a:fillRect/>
          </a:stretch>
        </p:blipFill>
        <p:spPr>
          <a:xfrm>
            <a:off x="4543425" y="2835275"/>
            <a:ext cx="7219950" cy="3886200"/>
          </a:xfrm>
          <a:prstGeom prst="rect">
            <a:avLst/>
          </a:prstGeom>
        </p:spPr>
      </p:pic>
    </p:spTree>
    <p:extLst>
      <p:ext uri="{BB962C8B-B14F-4D97-AF65-F5344CB8AC3E}">
        <p14:creationId xmlns:p14="http://schemas.microsoft.com/office/powerpoint/2010/main" val="39475014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68093-83B8-1236-E3C9-A43F064DC296}"/>
              </a:ext>
            </a:extLst>
          </p:cNvPr>
          <p:cNvSpPr>
            <a:spLocks noGrp="1"/>
          </p:cNvSpPr>
          <p:nvPr>
            <p:ph type="title"/>
          </p:nvPr>
        </p:nvSpPr>
        <p:spPr/>
        <p:txBody>
          <a:bodyPr>
            <a:normAutofit fontScale="90000"/>
          </a:bodyPr>
          <a:lstStyle/>
          <a:p>
            <a:r>
              <a:rPr lang="en-US" dirty="0"/>
              <a:t>KNN Advantages</a:t>
            </a:r>
          </a:p>
        </p:txBody>
      </p:sp>
      <p:sp>
        <p:nvSpPr>
          <p:cNvPr id="3" name="Content Placeholder 2">
            <a:extLst>
              <a:ext uri="{FF2B5EF4-FFF2-40B4-BE49-F238E27FC236}">
                <a16:creationId xmlns:a16="http://schemas.microsoft.com/office/drawing/2014/main" id="{F958CCA8-C57A-F2A8-1A77-F7516ACE5646}"/>
              </a:ext>
            </a:extLst>
          </p:cNvPr>
          <p:cNvSpPr>
            <a:spLocks noGrp="1"/>
          </p:cNvSpPr>
          <p:nvPr>
            <p:ph idx="1"/>
          </p:nvPr>
        </p:nvSpPr>
        <p:spPr/>
        <p:txBody>
          <a:bodyPr>
            <a:normAutofit fontScale="92500"/>
          </a:bodyPr>
          <a:lstStyle/>
          <a:p>
            <a:r>
              <a:rPr lang="en-US" dirty="0"/>
              <a:t> It is extremely easy to implement</a:t>
            </a:r>
          </a:p>
          <a:p>
            <a:r>
              <a:rPr lang="en-US" dirty="0"/>
              <a:t>It is a non-parametric, lazy learning algorithm</a:t>
            </a:r>
          </a:p>
          <a:p>
            <a:pPr lvl="1"/>
            <a:r>
              <a:rPr lang="en-US" dirty="0"/>
              <a:t>requires no training prior to making real time predictions.</a:t>
            </a:r>
          </a:p>
          <a:p>
            <a:r>
              <a:rPr lang="en-US" dirty="0"/>
              <a:t>Since the algorithm requires no training before making predictions, new data can be added seamlessly</a:t>
            </a:r>
          </a:p>
          <a:p>
            <a:pPr lvl="1"/>
            <a:r>
              <a:rPr lang="en-US" dirty="0"/>
              <a:t>But at a price for down the road… slowing down when predicting for unknown labels.</a:t>
            </a:r>
          </a:p>
          <a:p>
            <a:r>
              <a:rPr lang="en-US" dirty="0"/>
              <a:t>Much faster “during training” than some other algorithms that you will learn about (e.g., SVM) which learn first from training and then try to generalize (but KNN may be slower in testing, i.e., when put to use).</a:t>
            </a:r>
          </a:p>
          <a:p>
            <a:r>
              <a:rPr lang="en-US" dirty="0"/>
              <a:t>There are only two parameters required to implement KNN i.e. the value of K and the distance function (e.g. Euclidean, Manhattan…)</a:t>
            </a:r>
          </a:p>
        </p:txBody>
      </p:sp>
      <p:sp>
        <p:nvSpPr>
          <p:cNvPr id="4" name="Footer Placeholder 3">
            <a:extLst>
              <a:ext uri="{FF2B5EF4-FFF2-40B4-BE49-F238E27FC236}">
                <a16:creationId xmlns:a16="http://schemas.microsoft.com/office/drawing/2014/main" id="{69D49998-392F-8707-6D15-FBD1592E0318}"/>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4F4720F8-5FE9-6AD5-32C8-7F9BA0F82833}"/>
              </a:ext>
            </a:extLst>
          </p:cNvPr>
          <p:cNvSpPr>
            <a:spLocks noGrp="1"/>
          </p:cNvSpPr>
          <p:nvPr>
            <p:ph type="sldNum" sz="quarter" idx="12"/>
          </p:nvPr>
        </p:nvSpPr>
        <p:spPr/>
        <p:txBody>
          <a:bodyPr/>
          <a:lstStyle/>
          <a:p>
            <a:fld id="{10A4AB6E-1AC4-C44F-A0CC-883A0306AF8B}" type="slidenum">
              <a:rPr lang="en-US" smtClean="0"/>
              <a:t>15</a:t>
            </a:fld>
            <a:endParaRPr lang="en-US"/>
          </a:p>
        </p:txBody>
      </p:sp>
    </p:spTree>
    <p:extLst>
      <p:ext uri="{BB962C8B-B14F-4D97-AF65-F5344CB8AC3E}">
        <p14:creationId xmlns:p14="http://schemas.microsoft.com/office/powerpoint/2010/main" val="19563083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127E6-7F42-2E7B-3FC0-93E8A9DDEC3F}"/>
              </a:ext>
            </a:extLst>
          </p:cNvPr>
          <p:cNvSpPr>
            <a:spLocks noGrp="1"/>
          </p:cNvSpPr>
          <p:nvPr>
            <p:ph type="title"/>
          </p:nvPr>
        </p:nvSpPr>
        <p:spPr/>
        <p:txBody>
          <a:bodyPr>
            <a:normAutofit fontScale="90000"/>
          </a:bodyPr>
          <a:lstStyle/>
          <a:p>
            <a:r>
              <a:rPr lang="en-US" dirty="0"/>
              <a:t>KNN Disadvantages</a:t>
            </a:r>
          </a:p>
        </p:txBody>
      </p:sp>
      <p:sp>
        <p:nvSpPr>
          <p:cNvPr id="3" name="Content Placeholder 2">
            <a:extLst>
              <a:ext uri="{FF2B5EF4-FFF2-40B4-BE49-F238E27FC236}">
                <a16:creationId xmlns:a16="http://schemas.microsoft.com/office/drawing/2014/main" id="{1FBEC738-6719-239A-131B-46296E024ECC}"/>
              </a:ext>
            </a:extLst>
          </p:cNvPr>
          <p:cNvSpPr>
            <a:spLocks noGrp="1"/>
          </p:cNvSpPr>
          <p:nvPr>
            <p:ph idx="1"/>
          </p:nvPr>
        </p:nvSpPr>
        <p:spPr/>
        <p:txBody>
          <a:bodyPr>
            <a:normAutofit/>
          </a:bodyPr>
          <a:lstStyle/>
          <a:p>
            <a:r>
              <a:rPr lang="en-US" dirty="0"/>
              <a:t>The KNN algorithm doesn't work well with high dimensional data. It suffers from </a:t>
            </a:r>
            <a:r>
              <a:rPr lang="en-US" b="1" i="1" dirty="0"/>
              <a:t>Curse of Dimensionality</a:t>
            </a:r>
            <a:endParaRPr lang="en-US" dirty="0"/>
          </a:p>
          <a:p>
            <a:pPr lvl="1"/>
            <a:r>
              <a:rPr lang="en-US" dirty="0"/>
              <a:t>it becomes difficult for the algorithm to calculate distance in each dimension.</a:t>
            </a:r>
          </a:p>
          <a:p>
            <a:r>
              <a:rPr lang="en-US" dirty="0"/>
              <a:t>The KNN algorithm has a high prediction cost for large datasets.</a:t>
            </a:r>
          </a:p>
          <a:p>
            <a:pPr lvl="1"/>
            <a:r>
              <a:rPr lang="en-US" dirty="0"/>
              <a:t>The cost of calculating distance between new point and each existing point becomes higher.</a:t>
            </a:r>
          </a:p>
        </p:txBody>
      </p:sp>
      <p:sp>
        <p:nvSpPr>
          <p:cNvPr id="4" name="Footer Placeholder 3">
            <a:extLst>
              <a:ext uri="{FF2B5EF4-FFF2-40B4-BE49-F238E27FC236}">
                <a16:creationId xmlns:a16="http://schemas.microsoft.com/office/drawing/2014/main" id="{A696274D-1D39-8CEE-CCBA-66FEB7D8DF8B}"/>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2E690236-8C8E-3C32-2780-6AC7CD8D5BF9}"/>
              </a:ext>
            </a:extLst>
          </p:cNvPr>
          <p:cNvSpPr>
            <a:spLocks noGrp="1"/>
          </p:cNvSpPr>
          <p:nvPr>
            <p:ph type="sldNum" sz="quarter" idx="12"/>
          </p:nvPr>
        </p:nvSpPr>
        <p:spPr/>
        <p:txBody>
          <a:bodyPr/>
          <a:lstStyle/>
          <a:p>
            <a:fld id="{10A4AB6E-1AC4-C44F-A0CC-883A0306AF8B}" type="slidenum">
              <a:rPr lang="en-US" smtClean="0"/>
              <a:t>16</a:t>
            </a:fld>
            <a:endParaRPr lang="en-US"/>
          </a:p>
        </p:txBody>
      </p:sp>
    </p:spTree>
    <p:extLst>
      <p:ext uri="{BB962C8B-B14F-4D97-AF65-F5344CB8AC3E}">
        <p14:creationId xmlns:p14="http://schemas.microsoft.com/office/powerpoint/2010/main" val="17222585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7A3F4EA5-4BEC-8379-27C1-63302FE61CC6}"/>
              </a:ext>
            </a:extLst>
          </p:cNvPr>
          <p:cNvSpPr txBox="1"/>
          <p:nvPr/>
        </p:nvSpPr>
        <p:spPr>
          <a:xfrm>
            <a:off x="431346" y="1089164"/>
            <a:ext cx="11329307" cy="4154984"/>
          </a:xfrm>
          <a:prstGeom prst="rect">
            <a:avLst/>
          </a:prstGeom>
          <a:noFill/>
        </p:spPr>
        <p:txBody>
          <a:bodyPr wrap="square">
            <a:spAutoFit/>
          </a:bodyPr>
          <a:lstStyle/>
          <a:p>
            <a:pPr indent="0" algn="l">
              <a:buNone/>
            </a:pPr>
            <a:r>
              <a:rPr lang="en-US" sz="2400" dirty="0"/>
              <a:t>S</a:t>
            </a:r>
            <a:r>
              <a:rPr lang="en-US" sz="2400" b="0" i="0" dirty="0">
                <a:effectLst/>
              </a:rPr>
              <a:t>eparates data used to fit the model from data used to evaluate the model.</a:t>
            </a:r>
          </a:p>
          <a:p>
            <a:pPr indent="0" algn="l">
              <a:buNone/>
            </a:pPr>
            <a:endParaRPr lang="en-US" sz="2400" dirty="0"/>
          </a:p>
          <a:p>
            <a:pPr indent="0" algn="l">
              <a:buNone/>
            </a:pPr>
            <a:endParaRPr lang="en-US" sz="2400" b="0" i="0" dirty="0">
              <a:effectLst/>
            </a:endParaRPr>
          </a:p>
          <a:p>
            <a:pPr indent="0" algn="l">
              <a:buNone/>
            </a:pPr>
            <a:endParaRPr lang="en-US" sz="2400" dirty="0"/>
          </a:p>
          <a:p>
            <a:pPr indent="0" algn="l">
              <a:buNone/>
            </a:pPr>
            <a:endParaRPr lang="en-US" sz="2400" b="0" i="0" dirty="0">
              <a:effectLst/>
            </a:endParaRPr>
          </a:p>
          <a:p>
            <a:pPr indent="0" algn="l">
              <a:buNone/>
            </a:pPr>
            <a:endParaRPr lang="en-US" sz="2400" dirty="0"/>
          </a:p>
          <a:p>
            <a:pPr indent="0" algn="l">
              <a:buNone/>
            </a:pPr>
            <a:endParaRPr lang="en-US" sz="2400" b="0" i="0" dirty="0">
              <a:effectLst/>
            </a:endParaRPr>
          </a:p>
          <a:p>
            <a:pPr indent="0" algn="l">
              <a:buNone/>
            </a:pPr>
            <a:endParaRPr lang="en-US" sz="2400" b="0" i="0" dirty="0">
              <a:effectLst/>
            </a:endParaRPr>
          </a:p>
          <a:p>
            <a:pPr indent="0" algn="l">
              <a:buNone/>
            </a:pPr>
            <a:r>
              <a:rPr lang="en-US" sz="2400" b="0" i="0" dirty="0">
                <a:effectLst/>
              </a:rPr>
              <a:t>*** A common mistake is repeatedly checking the test set during model development. Once that happens, the test set becomes part of the modeling process and no longer provides an honest final estimate.</a:t>
            </a:r>
          </a:p>
        </p:txBody>
      </p:sp>
      <p:sp>
        <p:nvSpPr>
          <p:cNvPr id="2" name="Title 1">
            <a:extLst>
              <a:ext uri="{FF2B5EF4-FFF2-40B4-BE49-F238E27FC236}">
                <a16:creationId xmlns:a16="http://schemas.microsoft.com/office/drawing/2014/main" id="{CA67F492-8471-F63C-D51A-B6445C68B3F9}"/>
              </a:ext>
            </a:extLst>
          </p:cNvPr>
          <p:cNvSpPr>
            <a:spLocks noGrp="1"/>
          </p:cNvSpPr>
          <p:nvPr>
            <p:ph type="title"/>
          </p:nvPr>
        </p:nvSpPr>
        <p:spPr/>
        <p:txBody>
          <a:bodyPr>
            <a:normAutofit fontScale="90000"/>
          </a:bodyPr>
          <a:lstStyle/>
          <a:p>
            <a:r>
              <a:rPr lang="en-US" dirty="0"/>
              <a:t>Test/train split</a:t>
            </a:r>
          </a:p>
        </p:txBody>
      </p:sp>
      <p:sp>
        <p:nvSpPr>
          <p:cNvPr id="4" name="Footer Placeholder 3">
            <a:extLst>
              <a:ext uri="{FF2B5EF4-FFF2-40B4-BE49-F238E27FC236}">
                <a16:creationId xmlns:a16="http://schemas.microsoft.com/office/drawing/2014/main" id="{9232550A-005F-0BF6-F53A-05EE8FF041CF}"/>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009DDD67-8D63-A493-4037-A4FF52D4AB85}"/>
              </a:ext>
            </a:extLst>
          </p:cNvPr>
          <p:cNvSpPr>
            <a:spLocks noGrp="1"/>
          </p:cNvSpPr>
          <p:nvPr>
            <p:ph type="sldNum" sz="quarter" idx="12"/>
          </p:nvPr>
        </p:nvSpPr>
        <p:spPr/>
        <p:txBody>
          <a:bodyPr/>
          <a:lstStyle/>
          <a:p>
            <a:fld id="{10A4AB6E-1AC4-C44F-A0CC-883A0306AF8B}" type="slidenum">
              <a:rPr lang="en-US" smtClean="0"/>
              <a:t>17</a:t>
            </a:fld>
            <a:endParaRPr lang="en-US"/>
          </a:p>
        </p:txBody>
      </p:sp>
      <p:graphicFrame>
        <p:nvGraphicFramePr>
          <p:cNvPr id="12" name="Content Placeholder 11">
            <a:extLst>
              <a:ext uri="{FF2B5EF4-FFF2-40B4-BE49-F238E27FC236}">
                <a16:creationId xmlns:a16="http://schemas.microsoft.com/office/drawing/2014/main" id="{D9AC979C-5BDF-A23C-FAF5-5B509D5D4113}"/>
              </a:ext>
            </a:extLst>
          </p:cNvPr>
          <p:cNvGraphicFramePr>
            <a:graphicFrameLocks noGrp="1"/>
          </p:cNvGraphicFramePr>
          <p:nvPr>
            <p:ph idx="1"/>
            <p:extLst>
              <p:ext uri="{D42A27DB-BD31-4B8C-83A1-F6EECF244321}">
                <p14:modId xmlns:p14="http://schemas.microsoft.com/office/powerpoint/2010/main" val="3486279142"/>
              </p:ext>
            </p:extLst>
          </p:nvPr>
        </p:nvGraphicFramePr>
        <p:xfrm>
          <a:off x="838200" y="1872138"/>
          <a:ext cx="10515600" cy="1828800"/>
        </p:xfrm>
        <a:graphic>
          <a:graphicData uri="http://schemas.openxmlformats.org/drawingml/2006/table">
            <a:tbl>
              <a:tblPr firstRow="1"/>
              <a:tblGrid>
                <a:gridCol w="2047875">
                  <a:extLst>
                    <a:ext uri="{9D8B030D-6E8A-4147-A177-3AD203B41FA5}">
                      <a16:colId xmlns:a16="http://schemas.microsoft.com/office/drawing/2014/main" val="361710232"/>
                    </a:ext>
                  </a:extLst>
                </a:gridCol>
                <a:gridCol w="8467725">
                  <a:extLst>
                    <a:ext uri="{9D8B030D-6E8A-4147-A177-3AD203B41FA5}">
                      <a16:colId xmlns:a16="http://schemas.microsoft.com/office/drawing/2014/main" val="1398853333"/>
                    </a:ext>
                  </a:extLst>
                </a:gridCol>
              </a:tblGrid>
              <a:tr h="0">
                <a:tc>
                  <a:txBody>
                    <a:bodyPr/>
                    <a:lstStyle/>
                    <a:p>
                      <a:pPr>
                        <a:buNone/>
                      </a:pPr>
                      <a:r>
                        <a:rPr lang="en-US" sz="2400" b="1"/>
                        <a:t>Dataset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400" b="1" dirty="0"/>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05956351"/>
                  </a:ext>
                </a:extLst>
              </a:tr>
              <a:tr h="0">
                <a:tc>
                  <a:txBody>
                    <a:bodyPr/>
                    <a:lstStyle/>
                    <a:p>
                      <a:pPr>
                        <a:buNone/>
                      </a:pPr>
                      <a:r>
                        <a:rPr lang="en-US" sz="2400" dirty="0"/>
                        <a:t>Training 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400"/>
                        <a:t>Used to fit model parameters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22154639"/>
                  </a:ext>
                </a:extLst>
              </a:tr>
              <a:tr h="0">
                <a:tc>
                  <a:txBody>
                    <a:bodyPr/>
                    <a:lstStyle/>
                    <a:p>
                      <a:pPr>
                        <a:buNone/>
                      </a:pPr>
                      <a:r>
                        <a:rPr lang="en-US" sz="2400" dirty="0"/>
                        <a:t>Validation 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400" dirty="0"/>
                        <a:t>Used for model selection and hyperparameter tuning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2736437"/>
                  </a:ext>
                </a:extLst>
              </a:tr>
              <a:tr h="0">
                <a:tc>
                  <a:txBody>
                    <a:bodyPr/>
                    <a:lstStyle/>
                    <a:p>
                      <a:pPr>
                        <a:buNone/>
                      </a:pPr>
                      <a:r>
                        <a:rPr lang="en-US" sz="2400"/>
                        <a:t>Test 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400" dirty="0"/>
                        <a:t>Used once for final performance evaluation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8012615"/>
                  </a:ext>
                </a:extLst>
              </a:tr>
            </a:tbl>
          </a:graphicData>
        </a:graphic>
      </p:graphicFrame>
    </p:spTree>
    <p:extLst>
      <p:ext uri="{BB962C8B-B14F-4D97-AF65-F5344CB8AC3E}">
        <p14:creationId xmlns:p14="http://schemas.microsoft.com/office/powerpoint/2010/main" val="18926859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51537-1952-28C3-6DFF-6A021566F5BC}"/>
              </a:ext>
            </a:extLst>
          </p:cNvPr>
          <p:cNvSpPr>
            <a:spLocks noGrp="1"/>
          </p:cNvSpPr>
          <p:nvPr>
            <p:ph type="title"/>
          </p:nvPr>
        </p:nvSpPr>
        <p:spPr/>
        <p:txBody>
          <a:bodyPr>
            <a:normAutofit fontScale="90000"/>
          </a:bodyPr>
          <a:lstStyle/>
          <a:p>
            <a:r>
              <a:rPr lang="en-US" dirty="0"/>
              <a:t>Random split</a:t>
            </a:r>
          </a:p>
        </p:txBody>
      </p:sp>
      <p:sp>
        <p:nvSpPr>
          <p:cNvPr id="3" name="Content Placeholder 2">
            <a:extLst>
              <a:ext uri="{FF2B5EF4-FFF2-40B4-BE49-F238E27FC236}">
                <a16:creationId xmlns:a16="http://schemas.microsoft.com/office/drawing/2014/main" id="{B20A3064-424B-F0FD-8666-92FC529B2AC0}"/>
              </a:ext>
            </a:extLst>
          </p:cNvPr>
          <p:cNvSpPr>
            <a:spLocks noGrp="1"/>
          </p:cNvSpPr>
          <p:nvPr>
            <p:ph idx="1"/>
          </p:nvPr>
        </p:nvSpPr>
        <p:spPr>
          <a:xfrm>
            <a:off x="838200" y="1135094"/>
            <a:ext cx="5641428" cy="5011428"/>
          </a:xfrm>
        </p:spPr>
        <p:txBody>
          <a:bodyPr>
            <a:noAutofit/>
          </a:bodyPr>
          <a:lstStyle/>
          <a:p>
            <a:pPr marL="0" indent="0">
              <a:buNone/>
            </a:pPr>
            <a:r>
              <a:rPr lang="en-US" sz="2400" dirty="0"/>
              <a:t>Randomly assign observations to train and test sets.</a:t>
            </a:r>
          </a:p>
          <a:p>
            <a:pPr marL="0" indent="0">
              <a:buNone/>
            </a:pPr>
            <a:endParaRPr lang="en-US" sz="2400" dirty="0"/>
          </a:p>
          <a:p>
            <a:pPr marL="0" indent="0">
              <a:buNone/>
            </a:pPr>
            <a:r>
              <a:rPr lang="en-US" sz="2400" dirty="0"/>
              <a:t>Appropriate when:</a:t>
            </a:r>
          </a:p>
          <a:p>
            <a:pPr lvl="1"/>
            <a:r>
              <a:rPr lang="en-US" sz="2000" dirty="0"/>
              <a:t>Observations are approximately independent.</a:t>
            </a:r>
          </a:p>
          <a:p>
            <a:pPr lvl="1"/>
            <a:r>
              <a:rPr lang="en-US" sz="2000" dirty="0"/>
              <a:t>Train and test data come from the same population.</a:t>
            </a:r>
          </a:p>
          <a:p>
            <a:pPr lvl="1"/>
            <a:r>
              <a:rPr lang="en-US" sz="2000" dirty="0"/>
              <a:t>There is no meaningful spatial, temporal, or grouped dependence.</a:t>
            </a:r>
          </a:p>
          <a:p>
            <a:pPr lvl="1"/>
            <a:r>
              <a:rPr lang="en-US" sz="2000" dirty="0"/>
              <a:t>Often inappropriate in geoscience because nearby or adjacent observations are usually correlated.</a:t>
            </a:r>
          </a:p>
        </p:txBody>
      </p:sp>
      <p:sp>
        <p:nvSpPr>
          <p:cNvPr id="4" name="Footer Placeholder 3">
            <a:extLst>
              <a:ext uri="{FF2B5EF4-FFF2-40B4-BE49-F238E27FC236}">
                <a16:creationId xmlns:a16="http://schemas.microsoft.com/office/drawing/2014/main" id="{B34AC221-84EA-EB92-46C4-EB8767E1FB74}"/>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F85FD61A-E5B3-DA28-ABBE-E783B91A9BF8}"/>
              </a:ext>
            </a:extLst>
          </p:cNvPr>
          <p:cNvSpPr>
            <a:spLocks noGrp="1"/>
          </p:cNvSpPr>
          <p:nvPr>
            <p:ph type="sldNum" sz="quarter" idx="12"/>
          </p:nvPr>
        </p:nvSpPr>
        <p:spPr/>
        <p:txBody>
          <a:bodyPr/>
          <a:lstStyle/>
          <a:p>
            <a:fld id="{10A4AB6E-1AC4-C44F-A0CC-883A0306AF8B}" type="slidenum">
              <a:rPr lang="en-US" smtClean="0"/>
              <a:t>18</a:t>
            </a:fld>
            <a:endParaRPr lang="en-US"/>
          </a:p>
        </p:txBody>
      </p:sp>
      <p:pic>
        <p:nvPicPr>
          <p:cNvPr id="7" name="Picture 6" descr="Diagram illustrating data splitting process for machine learning. It shows original data divided into randomly selected rows, which are then separated into larger blue training data and smaller orange testing data sections.&#10;">
            <a:extLst>
              <a:ext uri="{FF2B5EF4-FFF2-40B4-BE49-F238E27FC236}">
                <a16:creationId xmlns:a16="http://schemas.microsoft.com/office/drawing/2014/main" id="{DFE9EDD9-B08E-A3C2-BFA8-7E1361B7D14F}"/>
              </a:ext>
            </a:extLst>
          </p:cNvPr>
          <p:cNvPicPr>
            <a:picLocks noChangeAspect="1"/>
          </p:cNvPicPr>
          <p:nvPr/>
        </p:nvPicPr>
        <p:blipFill>
          <a:blip r:embed="rId2"/>
          <a:srcRect t="8046"/>
          <a:stretch>
            <a:fillRect/>
          </a:stretch>
        </p:blipFill>
        <p:spPr>
          <a:xfrm>
            <a:off x="6479628" y="1343852"/>
            <a:ext cx="5423338" cy="4575074"/>
          </a:xfrm>
          <a:prstGeom prst="rect">
            <a:avLst/>
          </a:prstGeom>
        </p:spPr>
      </p:pic>
    </p:spTree>
    <p:extLst>
      <p:ext uri="{BB962C8B-B14F-4D97-AF65-F5344CB8AC3E}">
        <p14:creationId xmlns:p14="http://schemas.microsoft.com/office/powerpoint/2010/main" val="37460065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EF214-4F2D-80B9-2EED-6D3E9CEE2A62}"/>
              </a:ext>
            </a:extLst>
          </p:cNvPr>
          <p:cNvSpPr>
            <a:spLocks noGrp="1"/>
          </p:cNvSpPr>
          <p:nvPr>
            <p:ph type="title"/>
          </p:nvPr>
        </p:nvSpPr>
        <p:spPr/>
        <p:txBody>
          <a:bodyPr>
            <a:normAutofit fontScale="90000"/>
          </a:bodyPr>
          <a:lstStyle/>
          <a:p>
            <a:r>
              <a:rPr lang="en-US" dirty="0"/>
              <a:t>Leakage risk with missing data</a:t>
            </a:r>
          </a:p>
        </p:txBody>
      </p:sp>
      <p:sp>
        <p:nvSpPr>
          <p:cNvPr id="3" name="Content Placeholder 2">
            <a:extLst>
              <a:ext uri="{FF2B5EF4-FFF2-40B4-BE49-F238E27FC236}">
                <a16:creationId xmlns:a16="http://schemas.microsoft.com/office/drawing/2014/main" id="{9881B6C3-1C42-1889-E29D-7E669F89CFFF}"/>
              </a:ext>
            </a:extLst>
          </p:cNvPr>
          <p:cNvSpPr>
            <a:spLocks noGrp="1"/>
          </p:cNvSpPr>
          <p:nvPr>
            <p:ph idx="1"/>
          </p:nvPr>
        </p:nvSpPr>
        <p:spPr/>
        <p:txBody>
          <a:bodyPr>
            <a:normAutofit lnSpcReduction="10000"/>
          </a:bodyPr>
          <a:lstStyle/>
          <a:p>
            <a:pPr marL="0" indent="0">
              <a:buNone/>
            </a:pPr>
            <a:r>
              <a:rPr lang="en-US" dirty="0"/>
              <a:t>Imputation must be part of the modeling pipeline and fit only on training data inside each cross-validation fold.</a:t>
            </a:r>
          </a:p>
          <a:p>
            <a:r>
              <a:rPr lang="en-US" dirty="0"/>
              <a:t>Bad practice:</a:t>
            </a:r>
          </a:p>
          <a:p>
            <a:pPr lvl="1"/>
            <a:r>
              <a:rPr lang="en-US" dirty="0"/>
              <a:t>Compute global mean using the full dataset.</a:t>
            </a:r>
          </a:p>
          <a:p>
            <a:pPr lvl="1"/>
            <a:r>
              <a:rPr lang="en-US" dirty="0"/>
              <a:t>Impute missing values.</a:t>
            </a:r>
          </a:p>
          <a:p>
            <a:pPr lvl="1"/>
            <a:r>
              <a:rPr lang="en-US" dirty="0"/>
              <a:t>Split into train/test.</a:t>
            </a:r>
          </a:p>
          <a:p>
            <a:pPr lvl="1"/>
            <a:r>
              <a:rPr lang="en-US" dirty="0"/>
              <a:t>This leaks test-set information into training.</a:t>
            </a:r>
          </a:p>
          <a:p>
            <a:r>
              <a:rPr lang="en-US" dirty="0"/>
              <a:t>Better practice:</a:t>
            </a:r>
          </a:p>
          <a:p>
            <a:pPr lvl="1"/>
            <a:r>
              <a:rPr lang="en-US" dirty="0"/>
              <a:t>Split data.</a:t>
            </a:r>
          </a:p>
          <a:p>
            <a:pPr lvl="1"/>
            <a:r>
              <a:rPr lang="en-US" dirty="0"/>
              <a:t>Fit imputer on training data.</a:t>
            </a:r>
          </a:p>
          <a:p>
            <a:pPr lvl="1"/>
            <a:r>
              <a:rPr lang="en-US" dirty="0"/>
              <a:t>Transform training and test data using training imputer.</a:t>
            </a:r>
          </a:p>
          <a:p>
            <a:pPr lvl="1"/>
            <a:r>
              <a:rPr lang="en-US" dirty="0"/>
              <a:t>Repeat within each CV fold.</a:t>
            </a:r>
          </a:p>
        </p:txBody>
      </p:sp>
      <p:sp>
        <p:nvSpPr>
          <p:cNvPr id="4" name="Footer Placeholder 3">
            <a:extLst>
              <a:ext uri="{FF2B5EF4-FFF2-40B4-BE49-F238E27FC236}">
                <a16:creationId xmlns:a16="http://schemas.microsoft.com/office/drawing/2014/main" id="{9B07DB18-1D88-3D07-F2AF-FB911095ED08}"/>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F7D7BAD2-D116-37C1-2299-E3E61FE8D4AC}"/>
              </a:ext>
            </a:extLst>
          </p:cNvPr>
          <p:cNvSpPr>
            <a:spLocks noGrp="1"/>
          </p:cNvSpPr>
          <p:nvPr>
            <p:ph type="sldNum" sz="quarter" idx="12"/>
          </p:nvPr>
        </p:nvSpPr>
        <p:spPr/>
        <p:txBody>
          <a:bodyPr/>
          <a:lstStyle/>
          <a:p>
            <a:fld id="{10A4AB6E-1AC4-C44F-A0CC-883A0306AF8B}" type="slidenum">
              <a:rPr lang="en-US" smtClean="0"/>
              <a:t>19</a:t>
            </a:fld>
            <a:endParaRPr lang="en-US"/>
          </a:p>
        </p:txBody>
      </p:sp>
    </p:spTree>
    <p:extLst>
      <p:ext uri="{BB962C8B-B14F-4D97-AF65-F5344CB8AC3E}">
        <p14:creationId xmlns:p14="http://schemas.microsoft.com/office/powerpoint/2010/main" val="39801814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65B85-E115-C90F-208A-65E4102D57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500B26-210E-FA92-FCD6-97A7D7617742}"/>
              </a:ext>
            </a:extLst>
          </p:cNvPr>
          <p:cNvSpPr>
            <a:spLocks noGrp="1"/>
          </p:cNvSpPr>
          <p:nvPr>
            <p:ph type="title"/>
          </p:nvPr>
        </p:nvSpPr>
        <p:spPr/>
        <p:txBody>
          <a:bodyPr>
            <a:normAutofit fontScale="90000"/>
          </a:bodyPr>
          <a:lstStyle/>
          <a:p>
            <a:r>
              <a:rPr lang="en-US" dirty="0"/>
              <a:t>Stratified split</a:t>
            </a:r>
          </a:p>
        </p:txBody>
      </p:sp>
      <p:sp>
        <p:nvSpPr>
          <p:cNvPr id="3" name="Content Placeholder 2">
            <a:extLst>
              <a:ext uri="{FF2B5EF4-FFF2-40B4-BE49-F238E27FC236}">
                <a16:creationId xmlns:a16="http://schemas.microsoft.com/office/drawing/2014/main" id="{2E76D281-12BE-87C9-D0B7-85FB7354140E}"/>
              </a:ext>
            </a:extLst>
          </p:cNvPr>
          <p:cNvSpPr>
            <a:spLocks noGrp="1"/>
          </p:cNvSpPr>
          <p:nvPr>
            <p:ph idx="1"/>
          </p:nvPr>
        </p:nvSpPr>
        <p:spPr/>
        <p:txBody>
          <a:bodyPr>
            <a:noAutofit/>
          </a:bodyPr>
          <a:lstStyle/>
          <a:p>
            <a:pPr marL="0" indent="0">
              <a:buNone/>
            </a:pPr>
            <a:r>
              <a:rPr lang="en-US" sz="2400" dirty="0"/>
              <a:t>Preserves the distribution of important classes or groups.</a:t>
            </a:r>
          </a:p>
          <a:p>
            <a:pPr marL="0" indent="0">
              <a:buNone/>
            </a:pPr>
            <a:endParaRPr lang="en-US" sz="2400" dirty="0"/>
          </a:p>
          <a:p>
            <a:pPr marL="0" indent="0">
              <a:buNone/>
            </a:pPr>
            <a:r>
              <a:rPr lang="en-US" sz="2400" dirty="0"/>
              <a:t>Useful for:</a:t>
            </a:r>
          </a:p>
          <a:p>
            <a:pPr lvl="1"/>
            <a:r>
              <a:rPr lang="en-US" sz="2000" dirty="0"/>
              <a:t>Rare event classification.</a:t>
            </a:r>
          </a:p>
          <a:p>
            <a:pPr lvl="1"/>
            <a:r>
              <a:rPr lang="en-US" sz="2000" dirty="0"/>
              <a:t>Land-cover classification.</a:t>
            </a:r>
          </a:p>
          <a:p>
            <a:pPr lvl="1"/>
            <a:r>
              <a:rPr lang="en-US" sz="2000" dirty="0"/>
              <a:t>Landslide presence/absence.</a:t>
            </a:r>
          </a:p>
          <a:p>
            <a:pPr lvl="1"/>
            <a:r>
              <a:rPr lang="en-US" sz="2000" dirty="0"/>
              <a:t>Flood occurrence.</a:t>
            </a:r>
          </a:p>
          <a:p>
            <a:pPr lvl="1"/>
            <a:r>
              <a:rPr lang="en-US" sz="2000" dirty="0"/>
              <a:t>Imbalanced datasets.</a:t>
            </a:r>
          </a:p>
          <a:p>
            <a:pPr marL="0" indent="0">
              <a:buNone/>
            </a:pPr>
            <a:endParaRPr lang="en-US" sz="2400" dirty="0"/>
          </a:p>
        </p:txBody>
      </p:sp>
      <p:sp>
        <p:nvSpPr>
          <p:cNvPr id="4" name="Footer Placeholder 3">
            <a:extLst>
              <a:ext uri="{FF2B5EF4-FFF2-40B4-BE49-F238E27FC236}">
                <a16:creationId xmlns:a16="http://schemas.microsoft.com/office/drawing/2014/main" id="{851B36E7-E6DE-5FCC-97DD-F59C367B403E}"/>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81DC13F3-C0E2-677B-6AF3-941C0DD5D476}"/>
              </a:ext>
            </a:extLst>
          </p:cNvPr>
          <p:cNvSpPr>
            <a:spLocks noGrp="1"/>
          </p:cNvSpPr>
          <p:nvPr>
            <p:ph type="sldNum" sz="quarter" idx="12"/>
          </p:nvPr>
        </p:nvSpPr>
        <p:spPr/>
        <p:txBody>
          <a:bodyPr/>
          <a:lstStyle/>
          <a:p>
            <a:fld id="{10A4AB6E-1AC4-C44F-A0CC-883A0306AF8B}" type="slidenum">
              <a:rPr lang="en-US" smtClean="0"/>
              <a:t>20</a:t>
            </a:fld>
            <a:endParaRPr lang="en-US"/>
          </a:p>
        </p:txBody>
      </p:sp>
      <p:pic>
        <p:nvPicPr>
          <p:cNvPr id="7" name="Picture 6" descr="Bar chart and grid of smaller bar charts illustrating stratified K-fold cross validation for target class distribution by gender. Larger chart shows overall distribution with fewer females than males, while smaller charts display consistent gender proportions across five folds, each with separate bars for male and female classes highlighted in teal and yellow.&#10;&#10;">
            <a:extLst>
              <a:ext uri="{FF2B5EF4-FFF2-40B4-BE49-F238E27FC236}">
                <a16:creationId xmlns:a16="http://schemas.microsoft.com/office/drawing/2014/main" id="{D857B297-D1B2-B8F1-05D1-14575088F6E0}"/>
              </a:ext>
            </a:extLst>
          </p:cNvPr>
          <p:cNvPicPr>
            <a:picLocks noChangeAspect="1"/>
          </p:cNvPicPr>
          <p:nvPr/>
        </p:nvPicPr>
        <p:blipFill>
          <a:blip r:embed="rId3"/>
          <a:stretch>
            <a:fillRect/>
          </a:stretch>
        </p:blipFill>
        <p:spPr>
          <a:xfrm>
            <a:off x="5445578" y="1999202"/>
            <a:ext cx="6330043" cy="4006445"/>
          </a:xfrm>
          <a:prstGeom prst="rect">
            <a:avLst/>
          </a:prstGeom>
        </p:spPr>
      </p:pic>
    </p:spTree>
    <p:extLst>
      <p:ext uri="{BB962C8B-B14F-4D97-AF65-F5344CB8AC3E}">
        <p14:creationId xmlns:p14="http://schemas.microsoft.com/office/powerpoint/2010/main" val="35057670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92432-8A7C-A704-3EC9-171BF93CDEFA}"/>
              </a:ext>
            </a:extLst>
          </p:cNvPr>
          <p:cNvSpPr>
            <a:spLocks noGrp="1"/>
          </p:cNvSpPr>
          <p:nvPr>
            <p:ph type="title"/>
          </p:nvPr>
        </p:nvSpPr>
        <p:spPr/>
        <p:txBody>
          <a:bodyPr>
            <a:normAutofit fontScale="90000"/>
          </a:bodyPr>
          <a:lstStyle/>
          <a:p>
            <a:r>
              <a:rPr lang="en-US" dirty="0"/>
              <a:t>Temporal Split</a:t>
            </a:r>
          </a:p>
        </p:txBody>
      </p:sp>
      <p:sp>
        <p:nvSpPr>
          <p:cNvPr id="3" name="Content Placeholder 2">
            <a:extLst>
              <a:ext uri="{FF2B5EF4-FFF2-40B4-BE49-F238E27FC236}">
                <a16:creationId xmlns:a16="http://schemas.microsoft.com/office/drawing/2014/main" id="{7F2605AE-3631-0A75-84FC-4A72B698E7C9}"/>
              </a:ext>
            </a:extLst>
          </p:cNvPr>
          <p:cNvSpPr>
            <a:spLocks noGrp="1"/>
          </p:cNvSpPr>
          <p:nvPr>
            <p:ph idx="1"/>
          </p:nvPr>
        </p:nvSpPr>
        <p:spPr>
          <a:xfrm>
            <a:off x="838200" y="1135094"/>
            <a:ext cx="6822017" cy="5011428"/>
          </a:xfrm>
        </p:spPr>
        <p:txBody>
          <a:bodyPr>
            <a:normAutofit/>
          </a:bodyPr>
          <a:lstStyle/>
          <a:p>
            <a:pPr marL="0" indent="0">
              <a:buNone/>
            </a:pPr>
            <a:r>
              <a:rPr lang="en-US" dirty="0"/>
              <a:t>Train on earlier data and test on later data.</a:t>
            </a:r>
          </a:p>
          <a:p>
            <a:pPr marL="0" indent="0">
              <a:buNone/>
            </a:pPr>
            <a:r>
              <a:rPr lang="en-US" dirty="0"/>
              <a:t>Useful for:</a:t>
            </a:r>
          </a:p>
          <a:p>
            <a:pPr lvl="1"/>
            <a:r>
              <a:rPr lang="en-US" dirty="0"/>
              <a:t>Forecasting.</a:t>
            </a:r>
          </a:p>
          <a:p>
            <a:pPr lvl="1"/>
            <a:r>
              <a:rPr lang="en-US" dirty="0"/>
              <a:t>Climate and hydrology.</a:t>
            </a:r>
          </a:p>
          <a:p>
            <a:pPr lvl="1"/>
            <a:r>
              <a:rPr lang="en-US" dirty="0"/>
              <a:t>Drought prediction.</a:t>
            </a:r>
          </a:p>
          <a:p>
            <a:pPr lvl="1"/>
            <a:r>
              <a:rPr lang="en-US" dirty="0"/>
              <a:t>Fire risk forecasting.</a:t>
            </a:r>
          </a:p>
          <a:p>
            <a:pPr lvl="1"/>
            <a:r>
              <a:rPr lang="en-US" dirty="0"/>
              <a:t>Time series gap filling when future performance matters.</a:t>
            </a:r>
          </a:p>
          <a:p>
            <a:pPr marL="0" indent="0">
              <a:buNone/>
            </a:pPr>
            <a:r>
              <a:rPr lang="en-US" dirty="0"/>
              <a:t>Example:</a:t>
            </a:r>
          </a:p>
          <a:p>
            <a:pPr lvl="1"/>
            <a:r>
              <a:rPr lang="en-US" dirty="0"/>
              <a:t>Train on 2000–2018 data</a:t>
            </a:r>
          </a:p>
          <a:p>
            <a:pPr lvl="1"/>
            <a:r>
              <a:rPr lang="en-US" dirty="0"/>
              <a:t>Validate on 2019–2020 data</a:t>
            </a:r>
          </a:p>
          <a:p>
            <a:pPr lvl="1"/>
            <a:r>
              <a:rPr lang="en-US" dirty="0"/>
              <a:t>Test on 2021–2023 data</a:t>
            </a:r>
          </a:p>
          <a:p>
            <a:pPr marL="0" indent="0">
              <a:buNone/>
            </a:pPr>
            <a:endParaRPr lang="en-US" dirty="0"/>
          </a:p>
        </p:txBody>
      </p:sp>
      <p:sp>
        <p:nvSpPr>
          <p:cNvPr id="4" name="Footer Placeholder 3">
            <a:extLst>
              <a:ext uri="{FF2B5EF4-FFF2-40B4-BE49-F238E27FC236}">
                <a16:creationId xmlns:a16="http://schemas.microsoft.com/office/drawing/2014/main" id="{BE507314-72E7-CFC5-103F-60DB38344661}"/>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9B4F862A-F0ED-03FD-B263-D0E82E489A10}"/>
              </a:ext>
            </a:extLst>
          </p:cNvPr>
          <p:cNvSpPr>
            <a:spLocks noGrp="1"/>
          </p:cNvSpPr>
          <p:nvPr>
            <p:ph type="sldNum" sz="quarter" idx="12"/>
          </p:nvPr>
        </p:nvSpPr>
        <p:spPr/>
        <p:txBody>
          <a:bodyPr/>
          <a:lstStyle/>
          <a:p>
            <a:fld id="{10A4AB6E-1AC4-C44F-A0CC-883A0306AF8B}" type="slidenum">
              <a:rPr lang="en-US" smtClean="0"/>
              <a:t>21</a:t>
            </a:fld>
            <a:endParaRPr lang="en-US"/>
          </a:p>
        </p:txBody>
      </p:sp>
      <p:pic>
        <p:nvPicPr>
          <p:cNvPr id="7" name="Picture 6" descr="Bar chart compares time-based estimation and time-based cross-validation methods for training and testing phases. Training segments are shown in blue and testing segments in orange, with cross-validation displaying overlapping intervals indicating multiple training-testing cycles over time.&#10;">
            <a:extLst>
              <a:ext uri="{FF2B5EF4-FFF2-40B4-BE49-F238E27FC236}">
                <a16:creationId xmlns:a16="http://schemas.microsoft.com/office/drawing/2014/main" id="{0BDE4A9A-B658-9A1E-026D-E34363B8E544}"/>
              </a:ext>
            </a:extLst>
          </p:cNvPr>
          <p:cNvPicPr>
            <a:picLocks noChangeAspect="1"/>
          </p:cNvPicPr>
          <p:nvPr/>
        </p:nvPicPr>
        <p:blipFill>
          <a:blip r:embed="rId2"/>
          <a:stretch>
            <a:fillRect/>
          </a:stretch>
        </p:blipFill>
        <p:spPr>
          <a:xfrm>
            <a:off x="6982883" y="1833520"/>
            <a:ext cx="4370917" cy="4417916"/>
          </a:xfrm>
          <a:prstGeom prst="rect">
            <a:avLst/>
          </a:prstGeom>
        </p:spPr>
      </p:pic>
    </p:spTree>
    <p:extLst>
      <p:ext uri="{BB962C8B-B14F-4D97-AF65-F5344CB8AC3E}">
        <p14:creationId xmlns:p14="http://schemas.microsoft.com/office/powerpoint/2010/main" val="1393670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296D8-7681-C492-0F90-C1D27F73964F}"/>
              </a:ext>
            </a:extLst>
          </p:cNvPr>
          <p:cNvSpPr>
            <a:spLocks noGrp="1"/>
          </p:cNvSpPr>
          <p:nvPr>
            <p:ph type="title"/>
          </p:nvPr>
        </p:nvSpPr>
        <p:spPr/>
        <p:txBody>
          <a:bodyPr>
            <a:normAutofit fontScale="90000"/>
          </a:bodyPr>
          <a:lstStyle/>
          <a:p>
            <a:r>
              <a:rPr lang="en-US" dirty="0"/>
              <a:t>Spatial Split</a:t>
            </a:r>
          </a:p>
        </p:txBody>
      </p:sp>
      <p:sp>
        <p:nvSpPr>
          <p:cNvPr id="3" name="Content Placeholder 2">
            <a:extLst>
              <a:ext uri="{FF2B5EF4-FFF2-40B4-BE49-F238E27FC236}">
                <a16:creationId xmlns:a16="http://schemas.microsoft.com/office/drawing/2014/main" id="{5AA2384B-D86B-FF70-083B-772DF1ABB651}"/>
              </a:ext>
            </a:extLst>
          </p:cNvPr>
          <p:cNvSpPr>
            <a:spLocks noGrp="1"/>
          </p:cNvSpPr>
          <p:nvPr>
            <p:ph idx="1"/>
          </p:nvPr>
        </p:nvSpPr>
        <p:spPr/>
        <p:txBody>
          <a:bodyPr>
            <a:normAutofit/>
          </a:bodyPr>
          <a:lstStyle/>
          <a:p>
            <a:pPr marL="0" indent="0">
              <a:buNone/>
            </a:pPr>
            <a:r>
              <a:rPr lang="en-US" dirty="0"/>
              <a:t>Train on some areas and test on held-out areas.</a:t>
            </a:r>
          </a:p>
          <a:p>
            <a:pPr marL="0" indent="0">
              <a:buNone/>
            </a:pPr>
            <a:r>
              <a:rPr lang="en-US" dirty="0"/>
              <a:t>Useful for:</a:t>
            </a:r>
          </a:p>
          <a:p>
            <a:pPr lvl="1"/>
            <a:r>
              <a:rPr lang="en-US" dirty="0"/>
              <a:t>Spatial mapping.</a:t>
            </a:r>
          </a:p>
          <a:p>
            <a:pPr lvl="1"/>
            <a:r>
              <a:rPr lang="en-US" dirty="0"/>
              <a:t>Soil prediction.</a:t>
            </a:r>
          </a:p>
          <a:p>
            <a:pPr lvl="1"/>
            <a:r>
              <a:rPr lang="en-US" dirty="0"/>
              <a:t>Species distribution modeling.</a:t>
            </a:r>
          </a:p>
          <a:p>
            <a:pPr lvl="1"/>
            <a:r>
              <a:rPr lang="en-US" dirty="0"/>
              <a:t>Mineral prospectivity.</a:t>
            </a:r>
          </a:p>
          <a:p>
            <a:pPr lvl="1"/>
            <a:r>
              <a:rPr lang="en-US" dirty="0"/>
              <a:t>Remote sensing classification.</a:t>
            </a:r>
          </a:p>
          <a:p>
            <a:pPr lvl="1"/>
            <a:r>
              <a:rPr lang="en-US" dirty="0"/>
              <a:t>Regional generalization.</a:t>
            </a:r>
          </a:p>
          <a:p>
            <a:pPr marL="0" indent="0">
              <a:buNone/>
            </a:pPr>
            <a:r>
              <a:rPr lang="en-US" dirty="0"/>
              <a:t>Example:</a:t>
            </a:r>
          </a:p>
          <a:p>
            <a:pPr marL="0" indent="0">
              <a:buNone/>
            </a:pPr>
            <a:r>
              <a:rPr lang="en-US" dirty="0"/>
              <a:t>Train on samples from some watersheds, test on entirely different watersheds.</a:t>
            </a:r>
          </a:p>
          <a:p>
            <a:endParaRPr lang="en-US" dirty="0"/>
          </a:p>
        </p:txBody>
      </p:sp>
      <p:sp>
        <p:nvSpPr>
          <p:cNvPr id="4" name="Footer Placeholder 3">
            <a:extLst>
              <a:ext uri="{FF2B5EF4-FFF2-40B4-BE49-F238E27FC236}">
                <a16:creationId xmlns:a16="http://schemas.microsoft.com/office/drawing/2014/main" id="{3D7FA9A7-C3FF-BA81-AD05-0148203E3A62}"/>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E65A9488-1F25-B268-36BD-BA759F692284}"/>
              </a:ext>
            </a:extLst>
          </p:cNvPr>
          <p:cNvSpPr>
            <a:spLocks noGrp="1"/>
          </p:cNvSpPr>
          <p:nvPr>
            <p:ph type="sldNum" sz="quarter" idx="12"/>
          </p:nvPr>
        </p:nvSpPr>
        <p:spPr/>
        <p:txBody>
          <a:bodyPr/>
          <a:lstStyle/>
          <a:p>
            <a:fld id="{10A4AB6E-1AC4-C44F-A0CC-883A0306AF8B}" type="slidenum">
              <a:rPr lang="en-US" smtClean="0"/>
              <a:t>22</a:t>
            </a:fld>
            <a:endParaRPr lang="en-US"/>
          </a:p>
        </p:txBody>
      </p:sp>
    </p:spTree>
    <p:extLst>
      <p:ext uri="{BB962C8B-B14F-4D97-AF65-F5344CB8AC3E}">
        <p14:creationId xmlns:p14="http://schemas.microsoft.com/office/powerpoint/2010/main" val="3006411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ECE7A-1B79-B2B2-F3F1-64DE237C7C93}"/>
              </a:ext>
            </a:extLst>
          </p:cNvPr>
          <p:cNvSpPr>
            <a:spLocks noGrp="1"/>
          </p:cNvSpPr>
          <p:nvPr>
            <p:ph type="title"/>
          </p:nvPr>
        </p:nvSpPr>
        <p:spPr/>
        <p:txBody>
          <a:bodyPr>
            <a:normAutofit fontScale="90000"/>
          </a:bodyPr>
          <a:lstStyle/>
          <a:p>
            <a:r>
              <a:rPr lang="en-US" dirty="0"/>
              <a:t>Missing Data</a:t>
            </a:r>
          </a:p>
        </p:txBody>
      </p:sp>
      <p:sp>
        <p:nvSpPr>
          <p:cNvPr id="3" name="Content Placeholder 2">
            <a:extLst>
              <a:ext uri="{FF2B5EF4-FFF2-40B4-BE49-F238E27FC236}">
                <a16:creationId xmlns:a16="http://schemas.microsoft.com/office/drawing/2014/main" id="{D384C8E6-3296-1438-6314-4A16AF42A49E}"/>
              </a:ext>
            </a:extLst>
          </p:cNvPr>
          <p:cNvSpPr>
            <a:spLocks noGrp="1"/>
          </p:cNvSpPr>
          <p:nvPr>
            <p:ph idx="1"/>
          </p:nvPr>
        </p:nvSpPr>
        <p:spPr/>
        <p:txBody>
          <a:bodyPr>
            <a:normAutofit lnSpcReduction="10000"/>
          </a:bodyPr>
          <a:lstStyle/>
          <a:p>
            <a:r>
              <a:rPr lang="en-US" dirty="0"/>
              <a:t>Missing data are common in geoscience but cannot be handled by most machine learning algorithms</a:t>
            </a:r>
          </a:p>
          <a:p>
            <a:r>
              <a:rPr lang="en-US" dirty="0"/>
              <a:t>Examples:</a:t>
            </a:r>
          </a:p>
          <a:p>
            <a:pPr lvl="1"/>
            <a:r>
              <a:rPr lang="en-US" dirty="0"/>
              <a:t>Cloud-covered satellite pixels.</a:t>
            </a:r>
          </a:p>
          <a:p>
            <a:pPr lvl="1"/>
            <a:r>
              <a:rPr lang="en-US" dirty="0"/>
              <a:t>Sensor outages.</a:t>
            </a:r>
          </a:p>
          <a:p>
            <a:pPr lvl="1"/>
            <a:r>
              <a:rPr lang="en-US" dirty="0"/>
              <a:t>Field samples not collected in inaccessible areas.</a:t>
            </a:r>
          </a:p>
          <a:p>
            <a:pPr lvl="1"/>
            <a:r>
              <a:rPr lang="en-US" dirty="0"/>
              <a:t>Missing weather station records.</a:t>
            </a:r>
          </a:p>
          <a:p>
            <a:pPr lvl="1"/>
            <a:r>
              <a:rPr lang="en-US" dirty="0"/>
              <a:t>Gaps in stream gauge data.</a:t>
            </a:r>
          </a:p>
          <a:p>
            <a:pPr lvl="1"/>
            <a:r>
              <a:rPr lang="en-US" dirty="0"/>
              <a:t>Missing labels for unobserved hazards.</a:t>
            </a:r>
          </a:p>
          <a:p>
            <a:pPr lvl="1"/>
            <a:r>
              <a:rPr lang="en-US" dirty="0"/>
              <a:t>Satellite retrieval failure over snow, water, or dense vegetation.</a:t>
            </a:r>
          </a:p>
          <a:p>
            <a:pPr marL="0" indent="0">
              <a:buNone/>
            </a:pPr>
            <a:br>
              <a:rPr lang="en-US" dirty="0"/>
            </a:br>
            <a:endParaRPr lang="en-US" dirty="0"/>
          </a:p>
        </p:txBody>
      </p:sp>
      <p:sp>
        <p:nvSpPr>
          <p:cNvPr id="4" name="Footer Placeholder 3">
            <a:extLst>
              <a:ext uri="{FF2B5EF4-FFF2-40B4-BE49-F238E27FC236}">
                <a16:creationId xmlns:a16="http://schemas.microsoft.com/office/drawing/2014/main" id="{C5515B78-CE0C-9221-B7C6-E00680EC3BA4}"/>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F0B0D55F-4E6D-6317-B16E-935FFAA1C2FF}"/>
              </a:ext>
            </a:extLst>
          </p:cNvPr>
          <p:cNvSpPr>
            <a:spLocks noGrp="1"/>
          </p:cNvSpPr>
          <p:nvPr>
            <p:ph type="sldNum" sz="quarter" idx="12"/>
          </p:nvPr>
        </p:nvSpPr>
        <p:spPr/>
        <p:txBody>
          <a:bodyPr/>
          <a:lstStyle/>
          <a:p>
            <a:fld id="{10A4AB6E-1AC4-C44F-A0CC-883A0306AF8B}" type="slidenum">
              <a:rPr lang="en-US" smtClean="0"/>
              <a:t>23</a:t>
            </a:fld>
            <a:endParaRPr lang="en-US"/>
          </a:p>
        </p:txBody>
      </p:sp>
    </p:spTree>
    <p:extLst>
      <p:ext uri="{BB962C8B-B14F-4D97-AF65-F5344CB8AC3E}">
        <p14:creationId xmlns:p14="http://schemas.microsoft.com/office/powerpoint/2010/main" val="21401302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8E057-DB10-3091-EBDD-5F1EDA285697}"/>
              </a:ext>
            </a:extLst>
          </p:cNvPr>
          <p:cNvSpPr>
            <a:spLocks noGrp="1"/>
          </p:cNvSpPr>
          <p:nvPr>
            <p:ph type="title"/>
          </p:nvPr>
        </p:nvSpPr>
        <p:spPr/>
        <p:txBody>
          <a:bodyPr>
            <a:normAutofit fontScale="90000"/>
          </a:bodyPr>
          <a:lstStyle/>
          <a:p>
            <a:r>
              <a:rPr lang="en-US" dirty="0"/>
              <a:t>Types of missingness</a:t>
            </a:r>
          </a:p>
        </p:txBody>
      </p:sp>
      <p:sp>
        <p:nvSpPr>
          <p:cNvPr id="3" name="Content Placeholder 2">
            <a:extLst>
              <a:ext uri="{FF2B5EF4-FFF2-40B4-BE49-F238E27FC236}">
                <a16:creationId xmlns:a16="http://schemas.microsoft.com/office/drawing/2014/main" id="{D8BEA101-7FD9-EB9E-E1B4-A767A62A9657}"/>
              </a:ext>
            </a:extLst>
          </p:cNvPr>
          <p:cNvSpPr>
            <a:spLocks noGrp="1"/>
          </p:cNvSpPr>
          <p:nvPr>
            <p:ph idx="1"/>
          </p:nvPr>
        </p:nvSpPr>
        <p:spPr>
          <a:xfrm>
            <a:off x="838200" y="1135094"/>
            <a:ext cx="5119255" cy="5011428"/>
          </a:xfrm>
        </p:spPr>
        <p:txBody>
          <a:bodyPr>
            <a:normAutofit/>
          </a:bodyPr>
          <a:lstStyle/>
          <a:p>
            <a:r>
              <a:rPr lang="en-US" dirty="0"/>
              <a:t>Missing completely at random</a:t>
            </a:r>
          </a:p>
          <a:p>
            <a:pPr lvl="1"/>
            <a:r>
              <a:rPr lang="en-US" dirty="0"/>
              <a:t>The probability of missingness is unrelated to the data.</a:t>
            </a:r>
          </a:p>
          <a:p>
            <a:r>
              <a:rPr lang="en-US" dirty="0"/>
              <a:t>Missing at random</a:t>
            </a:r>
          </a:p>
          <a:p>
            <a:pPr lvl="1"/>
            <a:r>
              <a:rPr lang="en-US" dirty="0"/>
              <a:t>Missingness depends on observed variables.</a:t>
            </a:r>
          </a:p>
          <a:p>
            <a:r>
              <a:rPr lang="en-US" dirty="0"/>
              <a:t>Missing not at random</a:t>
            </a:r>
          </a:p>
          <a:p>
            <a:pPr lvl="1"/>
            <a:r>
              <a:rPr lang="en-US" dirty="0"/>
              <a:t>Missingness depends on unobserved values or the missing value itself.</a:t>
            </a:r>
          </a:p>
        </p:txBody>
      </p:sp>
      <p:sp>
        <p:nvSpPr>
          <p:cNvPr id="4" name="Footer Placeholder 3">
            <a:extLst>
              <a:ext uri="{FF2B5EF4-FFF2-40B4-BE49-F238E27FC236}">
                <a16:creationId xmlns:a16="http://schemas.microsoft.com/office/drawing/2014/main" id="{CE1E359B-32DE-D591-E306-6E109C640025}"/>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6BB57B18-AD2B-9D9D-12DE-8EE70B0E77C1}"/>
              </a:ext>
            </a:extLst>
          </p:cNvPr>
          <p:cNvSpPr>
            <a:spLocks noGrp="1"/>
          </p:cNvSpPr>
          <p:nvPr>
            <p:ph type="sldNum" sz="quarter" idx="12"/>
          </p:nvPr>
        </p:nvSpPr>
        <p:spPr/>
        <p:txBody>
          <a:bodyPr/>
          <a:lstStyle/>
          <a:p>
            <a:fld id="{10A4AB6E-1AC4-C44F-A0CC-883A0306AF8B}" type="slidenum">
              <a:rPr lang="en-US" smtClean="0"/>
              <a:t>24</a:t>
            </a:fld>
            <a:endParaRPr lang="en-US"/>
          </a:p>
        </p:txBody>
      </p:sp>
      <p:pic>
        <p:nvPicPr>
          <p:cNvPr id="9" name="Picture 8" descr="Heatmap visualization showing missing data across various columns in a dataset, with rows on the x-axis and column names on the y-axis. Red indicates no missing data, while teal highlights missing values, notably in columns like mass, birth_year, and homeworld, revealing patterns of incomplete entries.&#10;">
            <a:extLst>
              <a:ext uri="{FF2B5EF4-FFF2-40B4-BE49-F238E27FC236}">
                <a16:creationId xmlns:a16="http://schemas.microsoft.com/office/drawing/2014/main" id="{F38BF3C0-3CA8-2336-CA23-DAD5E9046A86}"/>
              </a:ext>
            </a:extLst>
          </p:cNvPr>
          <p:cNvPicPr>
            <a:picLocks noChangeAspect="1"/>
          </p:cNvPicPr>
          <p:nvPr/>
        </p:nvPicPr>
        <p:blipFill>
          <a:blip r:embed="rId3"/>
          <a:stretch>
            <a:fillRect/>
          </a:stretch>
        </p:blipFill>
        <p:spPr>
          <a:xfrm>
            <a:off x="6096000" y="1467443"/>
            <a:ext cx="6066126" cy="4332947"/>
          </a:xfrm>
          <a:prstGeom prst="rect">
            <a:avLst/>
          </a:prstGeom>
        </p:spPr>
      </p:pic>
    </p:spTree>
    <p:extLst>
      <p:ext uri="{BB962C8B-B14F-4D97-AF65-F5344CB8AC3E}">
        <p14:creationId xmlns:p14="http://schemas.microsoft.com/office/powerpoint/2010/main" val="16529479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1BDF3-C061-3B09-C415-9C1185610567}"/>
              </a:ext>
            </a:extLst>
          </p:cNvPr>
          <p:cNvSpPr>
            <a:spLocks noGrp="1"/>
          </p:cNvSpPr>
          <p:nvPr>
            <p:ph type="title"/>
          </p:nvPr>
        </p:nvSpPr>
        <p:spPr/>
        <p:txBody>
          <a:bodyPr>
            <a:normAutofit fontScale="90000"/>
          </a:bodyPr>
          <a:lstStyle/>
          <a:p>
            <a:r>
              <a:rPr lang="en-US" dirty="0"/>
              <a:t>Strategies for missing data</a:t>
            </a:r>
          </a:p>
        </p:txBody>
      </p:sp>
      <p:sp>
        <p:nvSpPr>
          <p:cNvPr id="3" name="Content Placeholder 2">
            <a:extLst>
              <a:ext uri="{FF2B5EF4-FFF2-40B4-BE49-F238E27FC236}">
                <a16:creationId xmlns:a16="http://schemas.microsoft.com/office/drawing/2014/main" id="{5D707C7E-27F5-6553-9F6B-A63325675F30}"/>
              </a:ext>
            </a:extLst>
          </p:cNvPr>
          <p:cNvSpPr>
            <a:spLocks noGrp="1"/>
          </p:cNvSpPr>
          <p:nvPr>
            <p:ph idx="1"/>
          </p:nvPr>
        </p:nvSpPr>
        <p:spPr/>
        <p:txBody>
          <a:bodyPr>
            <a:normAutofit/>
          </a:bodyPr>
          <a:lstStyle/>
          <a:p>
            <a:r>
              <a:rPr lang="en-US" dirty="0"/>
              <a:t>Deletion</a:t>
            </a:r>
          </a:p>
          <a:p>
            <a:pPr lvl="1"/>
            <a:r>
              <a:rPr lang="en-US" dirty="0"/>
              <a:t>Remove rows or columns with missing values.</a:t>
            </a:r>
          </a:p>
          <a:p>
            <a:pPr lvl="1"/>
            <a:r>
              <a:rPr lang="en-US" dirty="0"/>
              <a:t>Simple, but can waste data and be biased</a:t>
            </a:r>
          </a:p>
          <a:p>
            <a:r>
              <a:rPr lang="en-US" dirty="0"/>
              <a:t>Simple imputation</a:t>
            </a:r>
          </a:p>
          <a:p>
            <a:pPr lvl="1"/>
            <a:r>
              <a:rPr lang="en-US" dirty="0"/>
              <a:t>Fill missing values with mean, median, mode or constant value.</a:t>
            </a:r>
          </a:p>
          <a:p>
            <a:pPr lvl="1"/>
            <a:r>
              <a:rPr lang="en-US" dirty="0"/>
              <a:t>Simple, but can underestimates variability and distort relationships.</a:t>
            </a:r>
          </a:p>
          <a:p>
            <a:r>
              <a:rPr lang="en-US" dirty="0"/>
              <a:t>Group-wise imputation</a:t>
            </a:r>
          </a:p>
          <a:p>
            <a:pPr lvl="1"/>
            <a:r>
              <a:rPr lang="en-US" dirty="0"/>
              <a:t>Fill missing values using group-specific statistics.</a:t>
            </a:r>
          </a:p>
          <a:p>
            <a:pPr lvl="1"/>
            <a:r>
              <a:rPr lang="en-US" dirty="0"/>
              <a:t>What are examples of this?</a:t>
            </a:r>
          </a:p>
          <a:p>
            <a:pPr lvl="1"/>
            <a:endParaRPr lang="en-US" dirty="0"/>
          </a:p>
          <a:p>
            <a:pPr lvl="1"/>
            <a:endParaRPr lang="en-US" dirty="0"/>
          </a:p>
          <a:p>
            <a:endParaRPr lang="en-US" dirty="0"/>
          </a:p>
        </p:txBody>
      </p:sp>
      <p:sp>
        <p:nvSpPr>
          <p:cNvPr id="4" name="Footer Placeholder 3">
            <a:extLst>
              <a:ext uri="{FF2B5EF4-FFF2-40B4-BE49-F238E27FC236}">
                <a16:creationId xmlns:a16="http://schemas.microsoft.com/office/drawing/2014/main" id="{38A43FFE-DD5D-3BB1-784D-D971C2594DE2}"/>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0A1DDD1D-E463-8518-7C5F-685074841897}"/>
              </a:ext>
            </a:extLst>
          </p:cNvPr>
          <p:cNvSpPr>
            <a:spLocks noGrp="1"/>
          </p:cNvSpPr>
          <p:nvPr>
            <p:ph type="sldNum" sz="quarter" idx="12"/>
          </p:nvPr>
        </p:nvSpPr>
        <p:spPr/>
        <p:txBody>
          <a:bodyPr/>
          <a:lstStyle/>
          <a:p>
            <a:fld id="{10A4AB6E-1AC4-C44F-A0CC-883A0306AF8B}" type="slidenum">
              <a:rPr lang="en-US" smtClean="0"/>
              <a:t>25</a:t>
            </a:fld>
            <a:endParaRPr lang="en-US"/>
          </a:p>
        </p:txBody>
      </p:sp>
    </p:spTree>
    <p:extLst>
      <p:ext uri="{BB962C8B-B14F-4D97-AF65-F5344CB8AC3E}">
        <p14:creationId xmlns:p14="http://schemas.microsoft.com/office/powerpoint/2010/main" val="40567419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E3B47-C24E-7664-5427-B6A160BBB326}"/>
              </a:ext>
            </a:extLst>
          </p:cNvPr>
          <p:cNvSpPr>
            <a:spLocks noGrp="1"/>
          </p:cNvSpPr>
          <p:nvPr>
            <p:ph type="title"/>
          </p:nvPr>
        </p:nvSpPr>
        <p:spPr/>
        <p:txBody>
          <a:bodyPr>
            <a:normAutofit fontScale="90000"/>
          </a:bodyPr>
          <a:lstStyle/>
          <a:p>
            <a:r>
              <a:rPr lang="en-US" dirty="0"/>
              <a:t>Temporal imputation</a:t>
            </a:r>
          </a:p>
        </p:txBody>
      </p:sp>
      <p:sp>
        <p:nvSpPr>
          <p:cNvPr id="3" name="Content Placeholder 2">
            <a:extLst>
              <a:ext uri="{FF2B5EF4-FFF2-40B4-BE49-F238E27FC236}">
                <a16:creationId xmlns:a16="http://schemas.microsoft.com/office/drawing/2014/main" id="{A5DBC06F-8A07-2C3F-4C65-A60F8C413420}"/>
              </a:ext>
            </a:extLst>
          </p:cNvPr>
          <p:cNvSpPr>
            <a:spLocks noGrp="1"/>
          </p:cNvSpPr>
          <p:nvPr>
            <p:ph idx="1"/>
          </p:nvPr>
        </p:nvSpPr>
        <p:spPr/>
        <p:txBody>
          <a:bodyPr>
            <a:normAutofit/>
          </a:bodyPr>
          <a:lstStyle/>
          <a:p>
            <a:r>
              <a:rPr lang="en-US" dirty="0"/>
              <a:t>Time-series imputation</a:t>
            </a:r>
          </a:p>
          <a:p>
            <a:pPr lvl="1"/>
            <a:r>
              <a:rPr lang="en-US" dirty="0"/>
              <a:t>Forward fill, Backward fill, Linear interpolation, Rolling-window average</a:t>
            </a:r>
          </a:p>
          <a:p>
            <a:pPr lvl="1"/>
            <a:r>
              <a:rPr lang="en-US" dirty="0"/>
              <a:t>Warnings:</a:t>
            </a:r>
          </a:p>
          <a:p>
            <a:pPr lvl="2"/>
            <a:r>
              <a:rPr lang="en-US" dirty="0"/>
              <a:t>Forward fill can be reasonable for slowly varying variables.</a:t>
            </a:r>
          </a:p>
          <a:p>
            <a:pPr lvl="2"/>
            <a:r>
              <a:rPr lang="en-US" dirty="0"/>
              <a:t>Linear interpolation may be inappropriate across abrupt events.</a:t>
            </a:r>
          </a:p>
          <a:p>
            <a:pPr lvl="2"/>
            <a:r>
              <a:rPr lang="en-US" dirty="0"/>
              <a:t>Imputation must not use future values if the task is forecasting.</a:t>
            </a:r>
          </a:p>
          <a:p>
            <a:pPr marL="0" indent="0">
              <a:buNone/>
            </a:pPr>
            <a:endParaRPr lang="en-US" dirty="0"/>
          </a:p>
          <a:p>
            <a:endParaRPr lang="en-US" dirty="0"/>
          </a:p>
          <a:p>
            <a:endParaRPr lang="en-US" dirty="0"/>
          </a:p>
        </p:txBody>
      </p:sp>
      <p:sp>
        <p:nvSpPr>
          <p:cNvPr id="4" name="Footer Placeholder 3">
            <a:extLst>
              <a:ext uri="{FF2B5EF4-FFF2-40B4-BE49-F238E27FC236}">
                <a16:creationId xmlns:a16="http://schemas.microsoft.com/office/drawing/2014/main" id="{6C39B536-3D8E-9558-7143-988D3EC26A1F}"/>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DBC886B8-2097-2C67-6141-DDECD503366E}"/>
              </a:ext>
            </a:extLst>
          </p:cNvPr>
          <p:cNvSpPr>
            <a:spLocks noGrp="1"/>
          </p:cNvSpPr>
          <p:nvPr>
            <p:ph type="sldNum" sz="quarter" idx="12"/>
          </p:nvPr>
        </p:nvSpPr>
        <p:spPr/>
        <p:txBody>
          <a:bodyPr/>
          <a:lstStyle/>
          <a:p>
            <a:fld id="{10A4AB6E-1AC4-C44F-A0CC-883A0306AF8B}" type="slidenum">
              <a:rPr lang="en-US" smtClean="0"/>
              <a:t>26</a:t>
            </a:fld>
            <a:endParaRPr lang="en-US"/>
          </a:p>
        </p:txBody>
      </p:sp>
      <p:pic>
        <p:nvPicPr>
          <p:cNvPr id="8" name="Picture 7" descr="Two tables display fruit price data with missing values in the first table and filled values in the second. Orange arrows and labels indicate forward fill method used to replace NaN prices with previous valid entries for apple and mango across dates.&#10;">
            <a:extLst>
              <a:ext uri="{FF2B5EF4-FFF2-40B4-BE49-F238E27FC236}">
                <a16:creationId xmlns:a16="http://schemas.microsoft.com/office/drawing/2014/main" id="{9C92F293-E4B6-ECBF-07CD-460A3A492AD7}"/>
              </a:ext>
            </a:extLst>
          </p:cNvPr>
          <p:cNvPicPr>
            <a:picLocks noChangeAspect="1"/>
          </p:cNvPicPr>
          <p:nvPr/>
        </p:nvPicPr>
        <p:blipFill>
          <a:blip r:embed="rId2"/>
          <a:stretch>
            <a:fillRect/>
          </a:stretch>
        </p:blipFill>
        <p:spPr>
          <a:xfrm>
            <a:off x="3064741" y="3429000"/>
            <a:ext cx="6062518" cy="2907112"/>
          </a:xfrm>
          <a:prstGeom prst="rect">
            <a:avLst/>
          </a:prstGeom>
        </p:spPr>
      </p:pic>
    </p:spTree>
    <p:extLst>
      <p:ext uri="{BB962C8B-B14F-4D97-AF65-F5344CB8AC3E}">
        <p14:creationId xmlns:p14="http://schemas.microsoft.com/office/powerpoint/2010/main" val="40110620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6FDFD-A70A-6FC8-A2F1-141F30688F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A4CB19-6041-02BB-0601-20D40882D44F}"/>
              </a:ext>
            </a:extLst>
          </p:cNvPr>
          <p:cNvSpPr>
            <a:spLocks noGrp="1"/>
          </p:cNvSpPr>
          <p:nvPr>
            <p:ph type="title"/>
          </p:nvPr>
        </p:nvSpPr>
        <p:spPr/>
        <p:txBody>
          <a:bodyPr>
            <a:normAutofit fontScale="90000"/>
          </a:bodyPr>
          <a:lstStyle/>
          <a:p>
            <a:r>
              <a:rPr lang="en-US" dirty="0"/>
              <a:t>Spatial imputation</a:t>
            </a:r>
          </a:p>
        </p:txBody>
      </p:sp>
      <p:sp>
        <p:nvSpPr>
          <p:cNvPr id="3" name="Content Placeholder 2">
            <a:extLst>
              <a:ext uri="{FF2B5EF4-FFF2-40B4-BE49-F238E27FC236}">
                <a16:creationId xmlns:a16="http://schemas.microsoft.com/office/drawing/2014/main" id="{8D651731-3A40-C909-5845-565BDCEC562C}"/>
              </a:ext>
            </a:extLst>
          </p:cNvPr>
          <p:cNvSpPr>
            <a:spLocks noGrp="1"/>
          </p:cNvSpPr>
          <p:nvPr>
            <p:ph idx="1"/>
          </p:nvPr>
        </p:nvSpPr>
        <p:spPr/>
        <p:txBody>
          <a:bodyPr>
            <a:normAutofit/>
          </a:bodyPr>
          <a:lstStyle/>
          <a:p>
            <a:r>
              <a:rPr lang="en-US" dirty="0"/>
              <a:t>Spatial imputation</a:t>
            </a:r>
          </a:p>
          <a:p>
            <a:pPr lvl="1"/>
            <a:r>
              <a:rPr lang="en-US" dirty="0"/>
              <a:t>Nearest neighbor, Inverse distance weighting, Kriging, Spatial smoothing, Regional mean.</a:t>
            </a:r>
          </a:p>
          <a:p>
            <a:pPr lvl="1"/>
            <a:r>
              <a:rPr lang="en-US" dirty="0"/>
              <a:t>Warnings:</a:t>
            </a:r>
          </a:p>
          <a:p>
            <a:pPr lvl="2"/>
            <a:r>
              <a:rPr lang="en-US" dirty="0"/>
              <a:t>Spatial imputation can create leakage if done before train/test splitting.</a:t>
            </a:r>
          </a:p>
          <a:p>
            <a:pPr lvl="2"/>
            <a:r>
              <a:rPr lang="en-US" dirty="0"/>
              <a:t>Imputation should be fit using training data only when used in ML evaluation.</a:t>
            </a:r>
          </a:p>
          <a:p>
            <a:endParaRPr lang="en-US" dirty="0"/>
          </a:p>
          <a:p>
            <a:endParaRPr lang="en-US" dirty="0"/>
          </a:p>
        </p:txBody>
      </p:sp>
      <p:sp>
        <p:nvSpPr>
          <p:cNvPr id="4" name="Footer Placeholder 3">
            <a:extLst>
              <a:ext uri="{FF2B5EF4-FFF2-40B4-BE49-F238E27FC236}">
                <a16:creationId xmlns:a16="http://schemas.microsoft.com/office/drawing/2014/main" id="{575623CE-EA90-B7E6-07C4-8113BF2145B9}"/>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CBC501B0-154C-2643-08B3-E659A0976C3A}"/>
              </a:ext>
            </a:extLst>
          </p:cNvPr>
          <p:cNvSpPr>
            <a:spLocks noGrp="1"/>
          </p:cNvSpPr>
          <p:nvPr>
            <p:ph type="sldNum" sz="quarter" idx="12"/>
          </p:nvPr>
        </p:nvSpPr>
        <p:spPr/>
        <p:txBody>
          <a:bodyPr/>
          <a:lstStyle/>
          <a:p>
            <a:fld id="{10A4AB6E-1AC4-C44F-A0CC-883A0306AF8B}" type="slidenum">
              <a:rPr lang="en-US" smtClean="0"/>
              <a:t>27</a:t>
            </a:fld>
            <a:endParaRPr lang="en-US"/>
          </a:p>
        </p:txBody>
      </p:sp>
      <p:pic>
        <p:nvPicPr>
          <p:cNvPr id="7" name="Picture 6" descr="3D surface plot illustrating a gradient from green to red, representing values ranging from 9 to 12. Key data points are marked with colored pins and labeled values, highlighting a peak value of 12 in red and a notable intermediate value of 11.1 in purple.&#10;">
            <a:extLst>
              <a:ext uri="{FF2B5EF4-FFF2-40B4-BE49-F238E27FC236}">
                <a16:creationId xmlns:a16="http://schemas.microsoft.com/office/drawing/2014/main" id="{6E1BA5A2-2DEB-8B27-1D1A-C40F26CCE1DE}"/>
              </a:ext>
            </a:extLst>
          </p:cNvPr>
          <p:cNvPicPr>
            <a:picLocks noChangeAspect="1"/>
          </p:cNvPicPr>
          <p:nvPr/>
        </p:nvPicPr>
        <p:blipFill>
          <a:blip r:embed="rId2"/>
          <a:stretch>
            <a:fillRect/>
          </a:stretch>
        </p:blipFill>
        <p:spPr>
          <a:xfrm>
            <a:off x="2098964" y="3640808"/>
            <a:ext cx="7772400" cy="2475159"/>
          </a:xfrm>
          <a:prstGeom prst="rect">
            <a:avLst/>
          </a:prstGeom>
        </p:spPr>
      </p:pic>
    </p:spTree>
    <p:extLst>
      <p:ext uri="{BB962C8B-B14F-4D97-AF65-F5344CB8AC3E}">
        <p14:creationId xmlns:p14="http://schemas.microsoft.com/office/powerpoint/2010/main" val="11509552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BEB5F-22FA-D3A3-1E87-2FA39318E5A0}"/>
              </a:ext>
            </a:extLst>
          </p:cNvPr>
          <p:cNvSpPr>
            <a:spLocks noGrp="1"/>
          </p:cNvSpPr>
          <p:nvPr>
            <p:ph type="title"/>
          </p:nvPr>
        </p:nvSpPr>
        <p:spPr/>
        <p:txBody>
          <a:bodyPr>
            <a:normAutofit fontScale="90000"/>
          </a:bodyPr>
          <a:lstStyle/>
          <a:p>
            <a:r>
              <a:rPr lang="en-US" dirty="0"/>
              <a:t>Group problem</a:t>
            </a:r>
          </a:p>
        </p:txBody>
      </p:sp>
      <p:sp>
        <p:nvSpPr>
          <p:cNvPr id="3" name="Content Placeholder 2">
            <a:extLst>
              <a:ext uri="{FF2B5EF4-FFF2-40B4-BE49-F238E27FC236}">
                <a16:creationId xmlns:a16="http://schemas.microsoft.com/office/drawing/2014/main" id="{9BB14C7E-4F30-E0EB-6BB0-8DFA21CB04C4}"/>
              </a:ext>
            </a:extLst>
          </p:cNvPr>
          <p:cNvSpPr>
            <a:spLocks noGrp="1"/>
          </p:cNvSpPr>
          <p:nvPr>
            <p:ph idx="1"/>
          </p:nvPr>
        </p:nvSpPr>
        <p:spPr/>
        <p:txBody>
          <a:bodyPr/>
          <a:lstStyle/>
          <a:p>
            <a:pPr marL="0" indent="0">
              <a:buNone/>
            </a:pPr>
            <a:r>
              <a:rPr lang="en-US" dirty="0"/>
              <a:t>In the class repo, download General/Lectue2…</a:t>
            </a:r>
          </a:p>
          <a:p>
            <a:pPr marL="0" indent="0">
              <a:buNone/>
            </a:pPr>
            <a:endParaRPr lang="en-US" dirty="0"/>
          </a:p>
          <a:p>
            <a:pPr marL="0" indent="0">
              <a:buNone/>
            </a:pPr>
            <a:r>
              <a:rPr lang="en-US" dirty="0"/>
              <a:t>Work as a group to discuss the code and complete the problem at the end.</a:t>
            </a:r>
          </a:p>
        </p:txBody>
      </p:sp>
      <p:sp>
        <p:nvSpPr>
          <p:cNvPr id="4" name="Footer Placeholder 3">
            <a:extLst>
              <a:ext uri="{FF2B5EF4-FFF2-40B4-BE49-F238E27FC236}">
                <a16:creationId xmlns:a16="http://schemas.microsoft.com/office/drawing/2014/main" id="{5C055B95-DCBF-D517-140B-58D1F211BD4D}"/>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25837679-69DB-34A6-03F4-BD050C0F63AE}"/>
              </a:ext>
            </a:extLst>
          </p:cNvPr>
          <p:cNvSpPr>
            <a:spLocks noGrp="1"/>
          </p:cNvSpPr>
          <p:nvPr>
            <p:ph type="sldNum" sz="quarter" idx="12"/>
          </p:nvPr>
        </p:nvSpPr>
        <p:spPr/>
        <p:txBody>
          <a:bodyPr/>
          <a:lstStyle/>
          <a:p>
            <a:fld id="{10A4AB6E-1AC4-C44F-A0CC-883A0306AF8B}" type="slidenum">
              <a:rPr lang="en-US" smtClean="0"/>
              <a:t>28</a:t>
            </a:fld>
            <a:endParaRPr lang="en-US"/>
          </a:p>
        </p:txBody>
      </p:sp>
    </p:spTree>
    <p:extLst>
      <p:ext uri="{BB962C8B-B14F-4D97-AF65-F5344CB8AC3E}">
        <p14:creationId xmlns:p14="http://schemas.microsoft.com/office/powerpoint/2010/main" val="38107155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9293</TotalTime>
  <Words>1488</Words>
  <Application>Microsoft Macintosh PowerPoint</Application>
  <PresentationFormat>Widescreen</PresentationFormat>
  <Paragraphs>278</Paragraphs>
  <Slides>28</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Aptos</vt:lpstr>
      <vt:lpstr>Aptos Display</vt:lpstr>
      <vt:lpstr>Arial</vt:lpstr>
      <vt:lpstr>Office Theme</vt:lpstr>
      <vt:lpstr>GEOL 599 Applied Machine Learning for Geoscience Data</vt:lpstr>
      <vt:lpstr>Class logistics</vt:lpstr>
      <vt:lpstr>Discussion Question</vt:lpstr>
      <vt:lpstr>How to fit a curve</vt:lpstr>
      <vt:lpstr>Defining the problem</vt:lpstr>
      <vt:lpstr>Understand your data!</vt:lpstr>
      <vt:lpstr>Fun data relations</vt:lpstr>
      <vt:lpstr>Fit these data</vt:lpstr>
      <vt:lpstr>Linear Regression</vt:lpstr>
      <vt:lpstr>Ordinary least squares </vt:lpstr>
      <vt:lpstr>Multiple regression</vt:lpstr>
      <vt:lpstr>k-nearest neighbor (KNN)</vt:lpstr>
      <vt:lpstr>A note on different “distance” metrics for KNN</vt:lpstr>
      <vt:lpstr>KNN Example</vt:lpstr>
      <vt:lpstr>KNN Advantages</vt:lpstr>
      <vt:lpstr>KNN Disadvantages</vt:lpstr>
      <vt:lpstr>Test/train split</vt:lpstr>
      <vt:lpstr>Random split</vt:lpstr>
      <vt:lpstr>Leakage risk with missing data</vt:lpstr>
      <vt:lpstr>Stratified split</vt:lpstr>
      <vt:lpstr>Temporal Split</vt:lpstr>
      <vt:lpstr>Spatial Split</vt:lpstr>
      <vt:lpstr>Missing Data</vt:lpstr>
      <vt:lpstr>Types of missingness</vt:lpstr>
      <vt:lpstr>Strategies for missing data</vt:lpstr>
      <vt:lpstr>Temporal imputation</vt:lpstr>
      <vt:lpstr>Spatial imputation</vt:lpstr>
      <vt:lpstr>Group problem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Blaskey, Dylan</dc:creator>
  <cp:lastModifiedBy>Blaskey, Dylan</cp:lastModifiedBy>
  <cp:revision>22</cp:revision>
  <dcterms:created xsi:type="dcterms:W3CDTF">2026-04-30T17:26:45Z</dcterms:created>
  <dcterms:modified xsi:type="dcterms:W3CDTF">2026-08-24T15:07:06Z</dcterms:modified>
</cp:coreProperties>
</file>